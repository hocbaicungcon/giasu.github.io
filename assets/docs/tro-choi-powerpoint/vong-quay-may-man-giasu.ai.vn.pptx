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6.xml"/><Relationship Id="rId5" Type="http://schemas.openxmlformats.org/officeDocument/2006/relationships/slide" Target="slide9.xml"/><Relationship Id="rId6" Type="http://schemas.openxmlformats.org/officeDocument/2006/relationships/slide" Target="slide9.xml"/><Relationship Id="rId7" Type="http://schemas.openxmlformats.org/officeDocument/2006/relationships/slide" Target="slide12.xml"/><Relationship Id="rId8" Type="http://schemas.openxmlformats.org/officeDocument/2006/relationships/slide" Target="slide12.xml"/><Relationship Id="rId9" Type="http://schemas.openxmlformats.org/officeDocument/2006/relationships/slide" Target="slide15.xml"/><Relationship Id="rId10" Type="http://schemas.openxmlformats.org/officeDocument/2006/relationships/slide" Target="slide15.xml"/><Relationship Id="rId11" Type="http://schemas.openxmlformats.org/officeDocument/2006/relationships/slide" Target="slide18.xml"/><Relationship Id="rId12" Type="http://schemas.openxmlformats.org/officeDocument/2006/relationships/slide" Target="slide18.xml"/><Relationship Id="rId13" Type="http://schemas.openxmlformats.org/officeDocument/2006/relationships/slide" Target="slide21.xml"/><Relationship Id="rId14" Type="http://schemas.openxmlformats.org/officeDocument/2006/relationships/slide" Target="slide21.xml"/><Relationship Id="rId15" Type="http://schemas.openxmlformats.org/officeDocument/2006/relationships/slide" Target="slide24.xml"/><Relationship Id="rId16" Type="http://schemas.openxmlformats.org/officeDocument/2006/relationships/slide" Target="slide24.xml"/><Relationship Id="rId17" Type="http://schemas.openxmlformats.org/officeDocument/2006/relationships/slideLayout" Target="../slideLayouts/slideLayout1.xml"/><Relationship Id="rId1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5.xml"/><Relationship Id="rId3" Type="http://schemas.openxmlformats.org/officeDocument/2006/relationships/slide" Target="slide5.xml"/><Relationship Id="rId4" Type="http://schemas.openxmlformats.org/officeDocument/2006/relationships/slide" Target="slide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 Target="slide8.xml"/><Relationship Id="rId3" Type="http://schemas.openxmlformats.org/officeDocument/2006/relationships/slide" Target="slide8.xml"/><Relationship Id="rId4" Type="http://schemas.openxmlformats.org/officeDocument/2006/relationships/slide" Target="slide8.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0.xml"/><Relationship Id="rId3" Type="http://schemas.openxmlformats.org/officeDocument/2006/relationships/slide" Target="slide11.xml"/><Relationship Id="rId4" Type="http://schemas.openxmlformats.org/officeDocument/2006/relationships/slide" Target="slide11.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7.xml"/><Relationship Id="rId3" Type="http://schemas.openxmlformats.org/officeDocument/2006/relationships/slide" Target="slide17.xml"/><Relationship Id="rId4" Type="http://schemas.openxmlformats.org/officeDocument/2006/relationships/slide" Target="slide16.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 Target="slide20.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22.xml"/><Relationship Id="rId3" Type="http://schemas.openxmlformats.org/officeDocument/2006/relationships/slide" Target="slide23.xml"/><Relationship Id="rId4" Type="http://schemas.openxmlformats.org/officeDocument/2006/relationships/slide" Target="slide23.xm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 Target="slide26.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VÒNG QUAY MAY MẮN</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Bấm vào một ô trên vòng quay (nhắm mắt chọn hoặc dừng vòng quay), trả lời đúng để nhận điểm của ô đó.</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VÒNG QUAY MAY MẮN</a:t>
            </a:r>
            <a:endParaRPr lang="en-US" sz="3200" dirty="0"/>
          </a:p>
        </p:txBody>
      </p:sp>
      <p:sp>
        <p:nvSpPr>
          <p:cNvPr id="3" name="Shape 1">
            <a:hlinkClick r:id="rId1" tooltip="Ô 10 điểm" action="ppaction://hlinksldjump"/>
          </p:cNvPr>
          <p:cNvSpPr/>
          <p:nvPr/>
        </p:nvSpPr>
        <p:spPr>
          <a:xfrm>
            <a:off x="3626968" y="1554480"/>
            <a:ext cx="4937760" cy="4937760"/>
          </a:xfrm>
          <a:prstGeom prst="pie">
            <a:avLst>
              <a:gd name="adj1" fmla="val 14850000"/>
              <a:gd name="adj2" fmla="val 17550000"/>
            </a:avLst>
          </a:prstGeom>
          <a:solidFill>
            <a:srgbClr val="8E24AA"/>
          </a:solidFill>
          <a:ln w="25400">
            <a:solidFill>
              <a:srgbClr val="FFFFFF"/>
            </a:solidFill>
            <a:prstDash val="solid"/>
          </a:ln>
        </p:spPr>
      </p:sp>
      <p:sp>
        <p:nvSpPr>
          <p:cNvPr id="4" name="Text 2">
            <a:hlinkClick r:id="rId2" tooltip="Ô 10 điểm" action="ppaction://hlinksldjump"/>
          </p:cNvPr>
          <p:cNvSpPr txBox="1"/>
          <p:nvPr/>
        </p:nvSpPr>
        <p:spPr>
          <a:xfrm>
            <a:off x="5638648" y="2070202"/>
            <a:ext cx="91440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10</a:t>
            </a:r>
            <a:endParaRPr lang="en-US" sz="2600" dirty="0"/>
          </a:p>
        </p:txBody>
      </p:sp>
      <p:sp>
        <p:nvSpPr>
          <p:cNvPr id="5" name="Shape 3">
            <a:hlinkClick r:id="rId3" tooltip="Ô 20 điểm" action="ppaction://hlinksldjump"/>
          </p:cNvPr>
          <p:cNvSpPr/>
          <p:nvPr/>
        </p:nvSpPr>
        <p:spPr>
          <a:xfrm>
            <a:off x="3626968" y="1554480"/>
            <a:ext cx="4937760" cy="4937760"/>
          </a:xfrm>
          <a:prstGeom prst="pie">
            <a:avLst>
              <a:gd name="adj1" fmla="val 17550000"/>
              <a:gd name="adj2" fmla="val 20250000"/>
            </a:avLst>
          </a:prstGeom>
          <a:solidFill>
            <a:srgbClr val="F9C74F"/>
          </a:solidFill>
          <a:ln w="25400">
            <a:solidFill>
              <a:srgbClr val="FFFFFF"/>
            </a:solidFill>
            <a:prstDash val="solid"/>
          </a:ln>
        </p:spPr>
      </p:sp>
      <p:sp>
        <p:nvSpPr>
          <p:cNvPr id="6" name="Text 4">
            <a:hlinkClick r:id="rId4" tooltip="Ô 20 điểm" action="ppaction://hlinksldjump"/>
          </p:cNvPr>
          <p:cNvSpPr txBox="1"/>
          <p:nvPr/>
        </p:nvSpPr>
        <p:spPr>
          <a:xfrm>
            <a:off x="6825766" y="2561922"/>
            <a:ext cx="914400" cy="548640"/>
          </a:xfrm>
          <a:prstGeom prst="rect">
            <a:avLst/>
          </a:prstGeom>
          <a:noFill/>
          <a:ln/>
        </p:spPr>
        <p:txBody>
          <a:bodyPr wrap="square" lIns="0" tIns="0" rIns="0" bIns="0" rtlCol="0" anchor="ctr"/>
          <a:lstStyle/>
          <a:p>
            <a:pPr algn="ctr" indent="0" marL="0">
              <a:buNone/>
            </a:pPr>
            <a:r>
              <a:rPr lang="en-US" sz="2600" b="1" dirty="0">
                <a:solidFill>
                  <a:srgbClr val="1F2937"/>
                </a:solidFill>
                <a:latin typeface="Arial" pitchFamily="34" charset="0"/>
                <a:ea typeface="Arial" pitchFamily="34" charset="-122"/>
                <a:cs typeface="Arial" pitchFamily="34" charset="-120"/>
              </a:rPr>
              <a:t>20</a:t>
            </a:r>
            <a:endParaRPr lang="en-US" sz="2600" dirty="0"/>
          </a:p>
        </p:txBody>
      </p:sp>
      <p:sp>
        <p:nvSpPr>
          <p:cNvPr id="7" name="Shape 5">
            <a:hlinkClick r:id="rId5" tooltip="Ô 30 điểm" action="ppaction://hlinksldjump"/>
          </p:cNvPr>
          <p:cNvSpPr/>
          <p:nvPr/>
        </p:nvSpPr>
        <p:spPr>
          <a:xfrm>
            <a:off x="3626968" y="1554480"/>
            <a:ext cx="4937760" cy="4937760"/>
          </a:xfrm>
          <a:prstGeom prst="pie">
            <a:avLst>
              <a:gd name="adj1" fmla="val 20250000"/>
              <a:gd name="adj2" fmla="val 1350000"/>
            </a:avLst>
          </a:prstGeom>
          <a:solidFill>
            <a:srgbClr val="EF476F"/>
          </a:solidFill>
          <a:ln w="25400">
            <a:solidFill>
              <a:srgbClr val="FFFFFF"/>
            </a:solidFill>
            <a:prstDash val="solid"/>
          </a:ln>
        </p:spPr>
      </p:sp>
      <p:sp>
        <p:nvSpPr>
          <p:cNvPr id="8" name="Text 6">
            <a:hlinkClick r:id="rId6" tooltip="Ô 30 điểm" action="ppaction://hlinksldjump"/>
          </p:cNvPr>
          <p:cNvSpPr txBox="1"/>
          <p:nvPr/>
        </p:nvSpPr>
        <p:spPr>
          <a:xfrm>
            <a:off x="7317486" y="3749040"/>
            <a:ext cx="91440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30</a:t>
            </a:r>
            <a:endParaRPr lang="en-US" sz="2600" dirty="0"/>
          </a:p>
        </p:txBody>
      </p:sp>
      <p:sp>
        <p:nvSpPr>
          <p:cNvPr id="9" name="Shape 7">
            <a:hlinkClick r:id="rId7" tooltip="Ô 10 điểm" action="ppaction://hlinksldjump"/>
          </p:cNvPr>
          <p:cNvSpPr/>
          <p:nvPr/>
        </p:nvSpPr>
        <p:spPr>
          <a:xfrm>
            <a:off x="3626968" y="1554480"/>
            <a:ext cx="4937760" cy="4937760"/>
          </a:xfrm>
          <a:prstGeom prst="pie">
            <a:avLst>
              <a:gd name="adj1" fmla="val 1350000"/>
              <a:gd name="adj2" fmla="val 4050000"/>
            </a:avLst>
          </a:prstGeom>
          <a:solidFill>
            <a:srgbClr val="06D6A0"/>
          </a:solidFill>
          <a:ln w="25400">
            <a:solidFill>
              <a:srgbClr val="FFFFFF"/>
            </a:solidFill>
            <a:prstDash val="solid"/>
          </a:ln>
        </p:spPr>
      </p:sp>
      <p:sp>
        <p:nvSpPr>
          <p:cNvPr id="10" name="Text 8">
            <a:hlinkClick r:id="rId8" tooltip="Ô 10 điểm" action="ppaction://hlinksldjump"/>
          </p:cNvPr>
          <p:cNvSpPr txBox="1"/>
          <p:nvPr/>
        </p:nvSpPr>
        <p:spPr>
          <a:xfrm>
            <a:off x="6825766" y="4936158"/>
            <a:ext cx="91440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10</a:t>
            </a:r>
            <a:endParaRPr lang="en-US" sz="2600" dirty="0"/>
          </a:p>
        </p:txBody>
      </p:sp>
      <p:sp>
        <p:nvSpPr>
          <p:cNvPr id="11" name="Shape 9">
            <a:hlinkClick r:id="rId9" tooltip="Ô 50 điểm" action="ppaction://hlinksldjump"/>
          </p:cNvPr>
          <p:cNvSpPr/>
          <p:nvPr/>
        </p:nvSpPr>
        <p:spPr>
          <a:xfrm>
            <a:off x="3626968" y="1554480"/>
            <a:ext cx="4937760" cy="4937760"/>
          </a:xfrm>
          <a:prstGeom prst="pie">
            <a:avLst>
              <a:gd name="adj1" fmla="val 4050000"/>
              <a:gd name="adj2" fmla="val 6750000"/>
            </a:avLst>
          </a:prstGeom>
          <a:solidFill>
            <a:srgbClr val="118AB2"/>
          </a:solidFill>
          <a:ln w="25400">
            <a:solidFill>
              <a:srgbClr val="FFFFFF"/>
            </a:solidFill>
            <a:prstDash val="solid"/>
          </a:ln>
        </p:spPr>
      </p:sp>
      <p:sp>
        <p:nvSpPr>
          <p:cNvPr id="12" name="Text 10">
            <a:hlinkClick r:id="rId10" tooltip="Ô 50 điểm" action="ppaction://hlinksldjump"/>
          </p:cNvPr>
          <p:cNvSpPr txBox="1"/>
          <p:nvPr/>
        </p:nvSpPr>
        <p:spPr>
          <a:xfrm>
            <a:off x="5638648" y="5427878"/>
            <a:ext cx="91440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50</a:t>
            </a:r>
            <a:endParaRPr lang="en-US" sz="2600" dirty="0"/>
          </a:p>
        </p:txBody>
      </p:sp>
      <p:sp>
        <p:nvSpPr>
          <p:cNvPr id="13" name="Shape 11">
            <a:hlinkClick r:id="rId11" tooltip="Ô 20 điểm" action="ppaction://hlinksldjump"/>
          </p:cNvPr>
          <p:cNvSpPr/>
          <p:nvPr/>
        </p:nvSpPr>
        <p:spPr>
          <a:xfrm>
            <a:off x="3626968" y="1554480"/>
            <a:ext cx="4937760" cy="4937760"/>
          </a:xfrm>
          <a:prstGeom prst="pie">
            <a:avLst>
              <a:gd name="adj1" fmla="val 6750000"/>
              <a:gd name="adj2" fmla="val 9450000"/>
            </a:avLst>
          </a:prstGeom>
          <a:solidFill>
            <a:srgbClr val="FF9F1C"/>
          </a:solidFill>
          <a:ln w="25400">
            <a:solidFill>
              <a:srgbClr val="FFFFFF"/>
            </a:solidFill>
            <a:prstDash val="solid"/>
          </a:ln>
        </p:spPr>
      </p:sp>
      <p:sp>
        <p:nvSpPr>
          <p:cNvPr id="14" name="Text 12">
            <a:hlinkClick r:id="rId12" tooltip="Ô 20 điểm" action="ppaction://hlinksldjump"/>
          </p:cNvPr>
          <p:cNvSpPr txBox="1"/>
          <p:nvPr/>
        </p:nvSpPr>
        <p:spPr>
          <a:xfrm>
            <a:off x="4451530" y="4936158"/>
            <a:ext cx="91440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20</a:t>
            </a:r>
            <a:endParaRPr lang="en-US" sz="2600" dirty="0"/>
          </a:p>
        </p:txBody>
      </p:sp>
      <p:sp>
        <p:nvSpPr>
          <p:cNvPr id="15" name="Shape 13">
            <a:hlinkClick r:id="rId13" tooltip="Ô 40 điểm" action="ppaction://hlinksldjump"/>
          </p:cNvPr>
          <p:cNvSpPr/>
          <p:nvPr/>
        </p:nvSpPr>
        <p:spPr>
          <a:xfrm>
            <a:off x="3626968" y="1554480"/>
            <a:ext cx="4937760" cy="4937760"/>
          </a:xfrm>
          <a:prstGeom prst="pie">
            <a:avLst>
              <a:gd name="adj1" fmla="val 9450000"/>
              <a:gd name="adj2" fmla="val 12150000"/>
            </a:avLst>
          </a:prstGeom>
          <a:solidFill>
            <a:srgbClr val="9B5DE5"/>
          </a:solidFill>
          <a:ln w="25400">
            <a:solidFill>
              <a:srgbClr val="FFFFFF"/>
            </a:solidFill>
            <a:prstDash val="solid"/>
          </a:ln>
        </p:spPr>
      </p:sp>
      <p:sp>
        <p:nvSpPr>
          <p:cNvPr id="16" name="Text 14">
            <a:hlinkClick r:id="rId14" tooltip="Ô 40 điểm" action="ppaction://hlinksldjump"/>
          </p:cNvPr>
          <p:cNvSpPr txBox="1"/>
          <p:nvPr/>
        </p:nvSpPr>
        <p:spPr>
          <a:xfrm>
            <a:off x="3959809" y="3749040"/>
            <a:ext cx="91440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40</a:t>
            </a:r>
            <a:endParaRPr lang="en-US" sz="2600" dirty="0"/>
          </a:p>
        </p:txBody>
      </p:sp>
      <p:sp>
        <p:nvSpPr>
          <p:cNvPr id="17" name="Shape 15">
            <a:hlinkClick r:id="rId15" tooltip="Ô 10 điểm" action="ppaction://hlinksldjump"/>
          </p:cNvPr>
          <p:cNvSpPr/>
          <p:nvPr/>
        </p:nvSpPr>
        <p:spPr>
          <a:xfrm>
            <a:off x="3626968" y="1554480"/>
            <a:ext cx="4937760" cy="4937760"/>
          </a:xfrm>
          <a:prstGeom prst="pie">
            <a:avLst>
              <a:gd name="adj1" fmla="val 12150000"/>
              <a:gd name="adj2" fmla="val 14850000"/>
            </a:avLst>
          </a:prstGeom>
          <a:solidFill>
            <a:srgbClr val="43AA8B"/>
          </a:solidFill>
          <a:ln w="25400">
            <a:solidFill>
              <a:srgbClr val="FFFFFF"/>
            </a:solidFill>
            <a:prstDash val="solid"/>
          </a:ln>
        </p:spPr>
      </p:sp>
      <p:sp>
        <p:nvSpPr>
          <p:cNvPr id="18" name="Text 16">
            <a:hlinkClick r:id="rId16" tooltip="Ô 10 điểm" action="ppaction://hlinksldjump"/>
          </p:cNvPr>
          <p:cNvSpPr txBox="1"/>
          <p:nvPr/>
        </p:nvSpPr>
        <p:spPr>
          <a:xfrm>
            <a:off x="4451530" y="2561922"/>
            <a:ext cx="91440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10</a:t>
            </a:r>
            <a:endParaRPr lang="en-US" sz="2600" dirty="0"/>
          </a:p>
        </p:txBody>
      </p:sp>
      <p:sp>
        <p:nvSpPr>
          <p:cNvPr id="19" name="Shape 17"/>
          <p:cNvSpPr/>
          <p:nvPr/>
        </p:nvSpPr>
        <p:spPr>
          <a:xfrm>
            <a:off x="5592928" y="3520440"/>
            <a:ext cx="1005840" cy="1005840"/>
          </a:xfrm>
          <a:prstGeom prst="ellipse">
            <a:avLst/>
          </a:prstGeom>
          <a:solidFill>
            <a:srgbClr val="FFFFFF"/>
          </a:solidFill>
          <a:ln w="50800">
            <a:solidFill>
              <a:srgbClr val="FFEB3B"/>
            </a:solidFill>
            <a:prstDash val="solid"/>
          </a:ln>
        </p:spPr>
      </p:sp>
      <p:sp>
        <p:nvSpPr>
          <p:cNvPr id="20" name="Text 18"/>
          <p:cNvSpPr txBox="1"/>
          <p:nvPr/>
        </p:nvSpPr>
        <p:spPr>
          <a:xfrm>
            <a:off x="5638648" y="896112"/>
            <a:ext cx="914400" cy="640080"/>
          </a:xfrm>
          <a:prstGeom prst="rect">
            <a:avLst/>
          </a:prstGeom>
          <a:noFill/>
          <a:ln/>
        </p:spPr>
        <p:txBody>
          <a:bodyPr wrap="square" rtlCol="0" anchor="ctr"/>
          <a:lstStyle/>
          <a:p>
            <a:pPr algn="ctr" indent="0" marL="0">
              <a:buNone/>
            </a:pPr>
            <a:r>
              <a:rPr lang="en-US" sz="3600" dirty="0">
                <a:solidFill>
                  <a:srgbClr val="FFEB3B"/>
                </a:solidFill>
                <a:latin typeface="Arial" pitchFamily="34" charset="0"/>
                <a:ea typeface="Arial" pitchFamily="34" charset="-122"/>
                <a:cs typeface="Arial" pitchFamily="34" charset="-120"/>
              </a:rPr>
              <a:t>▼</a:t>
            </a:r>
            <a:endParaRPr lang="en-US" sz="3600" dirty="0"/>
          </a:p>
        </p:txBody>
      </p:sp>
      <p:sp>
        <p:nvSpPr>
          <p:cNvPr id="21" name="Text 19"/>
          <p:cNvSpPr txBox="1"/>
          <p:nvPr/>
        </p:nvSpPr>
        <p:spPr>
          <a:xfrm>
            <a:off x="365760" y="1371600"/>
            <a:ext cx="3108960" cy="1097280"/>
          </a:xfrm>
          <a:prstGeom prst="rect">
            <a:avLst/>
          </a:prstGeom>
          <a:noFill/>
          <a:ln/>
        </p:spPr>
        <p:txBody>
          <a:bodyPr wrap="square" rtlCol="0" anchor="t"/>
          <a:lstStyle/>
          <a:p>
            <a:pPr indent="0" marL="0">
              <a:buNone/>
            </a:pPr>
            <a:r>
              <a:rPr lang="en-US" sz="1800" dirty="0">
                <a:solidFill>
                  <a:srgbClr val="E5E7EB"/>
                </a:solidFill>
                <a:latin typeface="Arial" pitchFamily="34" charset="0"/>
                <a:ea typeface="Arial" pitchFamily="34" charset="-122"/>
                <a:cs typeface="Arial" pitchFamily="34" charset="-120"/>
              </a:rPr>
              <a:t>Bấm vào một ô trên vòng quay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25 + 38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53</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62</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73</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63</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63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Quả nào có màu da cam và chứa nhiều vitamin C?</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Cam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Chuối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Nho</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Dưa hấu</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Cam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Một tuần có mấy ngày?</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7</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6</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8</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7</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Vịnh Hạ Long thuộc tỉnh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Thanh Hóa</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Nghệ An</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Quảng Ninh</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Khánh Hòa</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Quảng Ninh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50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Loài vật nào sống dưới nước?</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Mèo</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Gà</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Bò</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Cá</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+50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Cá</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100 − 37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63</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73</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67</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57</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63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40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nào là danh từ?</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Chạy</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Cái bàn</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Đẹp</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Nhanh</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+40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Cái bàn</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Chủ tịch Hồ Chí Minh sinh năm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1911</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1945</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1890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1900</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1890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Vòng quay may mắn</dc:title>
  <dc:subject>Trò chơi PowerPoint học tập</dc:subject>
  <dc:creator>giasu.ai.vn</dc:creator>
  <cp:lastModifiedBy>giasu.ai.vn</cp:lastModifiedBy>
  <cp:revision>1</cp:revision>
  <dcterms:created xsi:type="dcterms:W3CDTF">2026-10-19T03:29:12Z</dcterms:created>
  <dcterms:modified xsi:type="dcterms:W3CDTF">2026-10-19T03:29:12Z</dcterms:modified>
</cp:coreProperties>
</file>