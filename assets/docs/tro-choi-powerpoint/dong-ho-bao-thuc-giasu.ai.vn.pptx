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notesMasterIdLst>
    <p:notesMasterId r:id="rId6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notesMaster" Target="notesMasters/notesMaster1.xml"/><Relationship Id="rId65" Type="http://schemas.openxmlformats.org/officeDocument/2006/relationships/presProps" Target="presProps.xml"/><Relationship Id="rId66" Type="http://schemas.openxmlformats.org/officeDocument/2006/relationships/viewProps" Target="viewProps.xml"/><Relationship Id="rId67" Type="http://schemas.openxmlformats.org/officeDocument/2006/relationships/theme" Target="theme/theme1.xml"/><Relationship Id="rId6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chiếu ở chế độ Slide Show (F5). Các nút bấm hoạt động bằng liên kết nhảy slide. Thầy cô sửa nội dung câu hỏi và đáp án trực tiếp trên từng slide câu hỏi; muốn đổi đáp án đúng thì đổi lại liên kết của nút (Chèn &gt; Liên kết &gt; Đặt trong tài liệu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 Target="slide14.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 Target="slide15.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 Target="slide26.xm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 Target="slide27.xm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 Target="slide38.xml"/><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 Target="slide39.xml"/><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 Target="slide50.xml"/><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 Target="slide51.xml"/><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 Target="slide62.xml"/><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1000" dirty="0">
                <a:solidFill>
                  <a:srgbClr val="000000"/>
                </a:solidFill>
                <a:latin typeface="Arial" pitchFamily="34" charset="0"/>
                <a:ea typeface="Arial" pitchFamily="34" charset="-122"/>
                <a:cs typeface="Arial" pitchFamily="34" charset="-120"/>
              </a:rPr>
              <a:t>⏰</a:t>
            </a:r>
            <a:endParaRPr lang="en-US" sz="11000" dirty="0"/>
          </a:p>
        </p:txBody>
      </p:sp>
      <p:sp>
        <p:nvSpPr>
          <p:cNvPr id="3" name="Text 1"/>
          <p:cNvSpPr txBox="1"/>
          <p:nvPr/>
        </p:nvSpPr>
        <p:spPr>
          <a:xfrm>
            <a:off x="548640" y="2286000"/>
            <a:ext cx="11094415" cy="1005840"/>
          </a:xfrm>
          <a:prstGeom prst="rect">
            <a:avLst/>
          </a:prstGeom>
          <a:noFill/>
          <a:ln/>
        </p:spPr>
        <p:txBody>
          <a:bodyPr wrap="square" rtlCol="0" anchor="ctr"/>
          <a:lstStyle/>
          <a:p>
            <a:pPr algn="ctr" indent="0" marL="0">
              <a:buNone/>
            </a:pPr>
            <a:r>
              <a:rPr lang="en-US" sz="4800" b="1" dirty="0">
                <a:solidFill>
                  <a:srgbClr val="FFFFFF"/>
                </a:solidFill>
                <a:latin typeface="Arial" pitchFamily="34" charset="0"/>
                <a:ea typeface="Arial" pitchFamily="34" charset="-122"/>
                <a:cs typeface="Arial" pitchFamily="34" charset="-120"/>
              </a:rPr>
              <a:t>ĐỒNG HỒ BÁO THỨC</a:t>
            </a:r>
            <a:endParaRPr lang="en-US" sz="4800" dirty="0"/>
          </a:p>
        </p:txBody>
      </p:sp>
      <p:sp>
        <p:nvSpPr>
          <p:cNvPr id="4" name="Text 2"/>
          <p:cNvSpPr txBox="1"/>
          <p:nvPr/>
        </p:nvSpPr>
        <p:spPr>
          <a:xfrm>
            <a:off x="1463040" y="3383280"/>
            <a:ext cx="9265615" cy="1005840"/>
          </a:xfrm>
          <a:prstGeom prst="rect">
            <a:avLst/>
          </a:prstGeom>
          <a:noFill/>
          <a:ln/>
        </p:spPr>
        <p:txBody>
          <a:bodyPr wrap="square" rtlCol="0" anchor="t"/>
          <a:lstStyle/>
          <a:p>
            <a:pPr algn="ctr" indent="0" marL="0">
              <a:buNone/>
            </a:pPr>
            <a:r>
              <a:rPr lang="en-US" sz="1800" dirty="0">
                <a:solidFill>
                  <a:srgbClr val="E5E7EB"/>
                </a:solidFill>
                <a:latin typeface="Arial" pitchFamily="34" charset="0"/>
                <a:ea typeface="Arial" pitchFamily="34" charset="-122"/>
                <a:cs typeface="Arial" pitchFamily="34" charset="-120"/>
              </a:rPr>
              <a:t>Cách chơi: Đọc câu hỏi rồi bấm đếm giờ. Hết 10 giây, đồng hồ báo thức reo và hiện đáp án.</a:t>
            </a:r>
            <a:endParaRPr lang="en-US" sz="1800" dirty="0"/>
          </a:p>
        </p:txBody>
      </p:sp>
      <p:sp>
        <p:nvSpPr>
          <p:cNvPr id="5" name="Text 3">
            <a:hlinkClick r:id="rId1" tooltip="Bắt đầu chơi" action="ppaction://hlinksldjump"/>
          </p:cNvPr>
          <p:cNvSpPr txBox="1"/>
          <p:nvPr/>
        </p:nvSpPr>
        <p:spPr>
          <a:xfrm>
            <a:off x="4449928" y="4754880"/>
            <a:ext cx="3291840" cy="914400"/>
          </a:xfrm>
          <a:prstGeom prst="roundRect">
            <a:avLst>
              <a:gd name="adj" fmla="val 18000"/>
            </a:avLst>
          </a:prstGeom>
          <a:solidFill>
            <a:srgbClr val="FFD54F"/>
          </a:solidFill>
          <a:ln/>
        </p:spPr>
        <p:txBody>
          <a:bodyPr wrap="square" lIns="1270" tIns="1270" rIns="1270" bIns="1270"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  BẮT ĐẦU</a:t>
            </a:r>
            <a:endParaRPr lang="en-US" sz="3000" dirty="0"/>
          </a:p>
        </p:txBody>
      </p:sp>
      <p:sp>
        <p:nvSpPr>
          <p:cNvPr id="6" name="Text 4"/>
          <p:cNvSpPr txBox="1"/>
          <p:nvPr/>
        </p:nvSpPr>
        <p:spPr>
          <a:xfrm>
            <a:off x="548640" y="6126480"/>
            <a:ext cx="1109441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Trình chiếu (F5) để chơi · Sửa câu hỏi trực tiếp trên các slide · giasu.ai.vn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28600"/>
            <a:ext cx="5486400" cy="457200"/>
          </a:xfrm>
          <a:prstGeom prst="rect">
            <a:avLst/>
          </a:prstGeom>
          <a:noFill/>
          <a:ln/>
        </p:spPr>
        <p:txBody>
          <a:bodyPr wrap="square" lIns="0" tIns="0" rIns="0" bIns="0" rtlCol="0" anchor="ctr"/>
          <a:lstStyle/>
          <a:p>
            <a:pPr indent="0" marL="0">
              <a:buNone/>
            </a:pPr>
            <a:r>
              <a:rPr lang="en-US" sz="1800" b="1" dirty="0">
                <a:solidFill>
                  <a:srgbClr val="FFD54F"/>
                </a:solidFill>
                <a:latin typeface="Arial" pitchFamily="34" charset="0"/>
                <a:ea typeface="Arial" pitchFamily="34" charset="-122"/>
                <a:cs typeface="Arial" pitchFamily="34" charset="-120"/>
              </a:rPr>
              <a:t>Câu 1/5</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200" b="1" dirty="0">
                <a:solidFill>
                  <a:srgbClr val="1F2937"/>
                </a:solidFill>
                <a:latin typeface="Arial" pitchFamily="34" charset="0"/>
                <a:ea typeface="Arial" pitchFamily="34" charset="-122"/>
                <a:cs typeface="Arial" pitchFamily="34" charset="-120"/>
              </a:rPr>
              <a:t>Số La Mã X bằng số nào?</a:t>
            </a:r>
            <a:endParaRPr lang="en-US" sz="3200" dirty="0"/>
          </a:p>
        </p:txBody>
      </p:sp>
      <p:sp>
        <p:nvSpPr>
          <p:cNvPr id="4" name="Text 2"/>
          <p:cNvSpPr txBox="1"/>
          <p:nvPr/>
        </p:nvSpPr>
        <p:spPr>
          <a:xfrm>
            <a:off x="640080" y="3154680"/>
            <a:ext cx="5303520" cy="777240"/>
          </a:xfrm>
          <a:prstGeom prst="roundRect">
            <a:avLst>
              <a:gd name="adj" fmla="val 17647"/>
            </a:avLst>
          </a:prstGeom>
          <a:solidFill>
            <a:srgbClr val="C62828"/>
          </a:solidFill>
          <a:ln w="19050">
            <a:solidFill>
              <a:srgbClr val="FFFFFF"/>
            </a:solidFill>
          </a:ln>
        </p:spPr>
        <p:txBody>
          <a:bodyPr wrap="square" lIns="3175" tIns="3175" rIns="3175" bIns="3175"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5</a:t>
            </a:r>
            <a:endParaRPr lang="en-US" sz="2400" dirty="0"/>
          </a:p>
        </p:txBody>
      </p:sp>
      <p:sp>
        <p:nvSpPr>
          <p:cNvPr id="5" name="Text 3"/>
          <p:cNvSpPr txBox="1"/>
          <p:nvPr/>
        </p:nvSpPr>
        <p:spPr>
          <a:xfrm>
            <a:off x="6217920" y="3154680"/>
            <a:ext cx="5303520" cy="777240"/>
          </a:xfrm>
          <a:prstGeom prst="roundRect">
            <a:avLst>
              <a:gd name="adj" fmla="val 17647"/>
            </a:avLst>
          </a:prstGeom>
          <a:solidFill>
            <a:srgbClr val="C62828"/>
          </a:solidFill>
          <a:ln w="19050">
            <a:solidFill>
              <a:srgbClr val="FFFFFF"/>
            </a:solidFill>
          </a:ln>
        </p:spPr>
        <p:txBody>
          <a:bodyPr wrap="square" lIns="3175" tIns="3175" rIns="3175" bIns="3175"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50</a:t>
            </a:r>
            <a:endParaRPr lang="en-US" sz="2400" dirty="0"/>
          </a:p>
        </p:txBody>
      </p:sp>
      <p:sp>
        <p:nvSpPr>
          <p:cNvPr id="6" name="Text 4"/>
          <p:cNvSpPr txBox="1"/>
          <p:nvPr/>
        </p:nvSpPr>
        <p:spPr>
          <a:xfrm>
            <a:off x="640080" y="4069080"/>
            <a:ext cx="5303520" cy="777240"/>
          </a:xfrm>
          <a:prstGeom prst="roundRect">
            <a:avLst>
              <a:gd name="adj" fmla="val 17647"/>
            </a:avLst>
          </a:prstGeom>
          <a:solidFill>
            <a:srgbClr val="C62828"/>
          </a:solidFill>
          <a:ln w="19050">
            <a:solidFill>
              <a:srgbClr val="FFFFFF"/>
            </a:solidFill>
          </a:ln>
        </p:spPr>
        <p:txBody>
          <a:bodyPr wrap="square" lIns="3175" tIns="3175" rIns="3175" bIns="3175"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10</a:t>
            </a:r>
            <a:endParaRPr lang="en-US" sz="2400" dirty="0"/>
          </a:p>
        </p:txBody>
      </p:sp>
      <p:sp>
        <p:nvSpPr>
          <p:cNvPr id="7" name="Text 5"/>
          <p:cNvSpPr txBox="1"/>
          <p:nvPr/>
        </p:nvSpPr>
        <p:spPr>
          <a:xfrm>
            <a:off x="6217920" y="4069080"/>
            <a:ext cx="5303520" cy="777240"/>
          </a:xfrm>
          <a:prstGeom prst="roundRect">
            <a:avLst>
              <a:gd name="adj" fmla="val 17647"/>
            </a:avLst>
          </a:prstGeom>
          <a:solidFill>
            <a:srgbClr val="C62828"/>
          </a:solidFill>
          <a:ln w="19050">
            <a:solidFill>
              <a:srgbClr val="FFFFFF"/>
            </a:solidFill>
          </a:ln>
        </p:spPr>
        <p:txBody>
          <a:bodyPr wrap="square" lIns="3175" tIns="3175" rIns="3175" bIns="3175"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100</a:t>
            </a:r>
            <a:endParaRPr lang="en-US" sz="2400" dirty="0"/>
          </a:p>
        </p:txBody>
      </p:sp>
      <p:sp>
        <p:nvSpPr>
          <p:cNvPr id="8" name="Text 6">
            <a:hlinkClick r:id="rId1" tooltip="Bấm để chọn" action="ppaction://hlinksldjump"/>
          </p:cNvPr>
          <p:cNvSpPr txBox="1"/>
          <p:nvPr/>
        </p:nvSpPr>
        <p:spPr>
          <a:xfrm>
            <a:off x="3169768" y="5303520"/>
            <a:ext cx="5852160" cy="914400"/>
          </a:xfrm>
          <a:prstGeom prst="roundRect">
            <a:avLst>
              <a:gd name="adj" fmla="val 18000"/>
            </a:avLst>
          </a:prstGeom>
          <a:solidFill>
            <a:srgbClr val="FFD54F"/>
          </a:solidFill>
          <a:ln/>
        </p:spPr>
        <p:txBody>
          <a:bodyPr wrap="square" lIns="1270" tIns="1270" rIns="1270" bIns="1270" rtlCol="0" anchor="ctr"/>
          <a:lstStyle/>
          <a:p>
            <a:pPr algn="ctr" indent="0" marL="0">
              <a:buNone/>
            </a:pPr>
            <a:r>
              <a:rPr lang="en-US" sz="2600" b="1" dirty="0">
                <a:solidFill>
                  <a:srgbClr val="1F2937"/>
                </a:solidFill>
                <a:latin typeface="Arial" pitchFamily="34" charset="0"/>
                <a:ea typeface="Arial" pitchFamily="34" charset="-122"/>
                <a:cs typeface="Arial" pitchFamily="34" charset="-120"/>
              </a:rPr>
              <a:t>⏰  Bắt đầu đếm giờ (10 giây)</a:t>
            </a:r>
            <a:endParaRPr lang="en-US"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Số La Mã X bằng số nào?</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54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10</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Số La Mã X bằng số nào?</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54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9</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Số La Mã X bằng số nào?</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54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8</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Số La Mã X bằng số nào?</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54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7</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Số La Mã X bằng số nào?</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54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6</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Số La Mã X bằng số nào?</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54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5</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Số La Mã X bằng số nào?</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54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4</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Số La Mã X bằng số nào?</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54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3</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Số La Mã X bằng số nào?</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54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2</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Số La Mã X bằng số nào?</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54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1</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54F"/>
                </a:solidFill>
                <a:latin typeface="Arial" pitchFamily="34" charset="0"/>
                <a:ea typeface="Arial" pitchFamily="34" charset="-122"/>
                <a:cs typeface="Arial" pitchFamily="34" charset="-120"/>
              </a:rPr>
              <a:t>Hết giờ!</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5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28600"/>
            <a:ext cx="5486400" cy="457200"/>
          </a:xfrm>
          <a:prstGeom prst="rect">
            <a:avLst/>
          </a:prstGeom>
          <a:noFill/>
          <a:ln/>
        </p:spPr>
        <p:txBody>
          <a:bodyPr wrap="square" lIns="0" tIns="0" rIns="0" bIns="0" rtlCol="0" anchor="ctr"/>
          <a:lstStyle/>
          <a:p>
            <a:pPr indent="0" marL="0">
              <a:buNone/>
            </a:pPr>
            <a:r>
              <a:rPr lang="en-US" sz="1800" b="1" dirty="0">
                <a:solidFill>
                  <a:srgbClr val="FFD54F"/>
                </a:solidFill>
                <a:latin typeface="Arial" pitchFamily="34" charset="0"/>
                <a:ea typeface="Arial" pitchFamily="34" charset="-122"/>
                <a:cs typeface="Arial" pitchFamily="34" charset="-120"/>
              </a:rPr>
              <a:t>Câu 2/5</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200" b="1" dirty="0">
                <a:solidFill>
                  <a:srgbClr val="1F2937"/>
                </a:solidFill>
                <a:latin typeface="Arial" pitchFamily="34" charset="0"/>
                <a:ea typeface="Arial" pitchFamily="34" charset="-122"/>
                <a:cs typeface="Arial" pitchFamily="34" charset="-120"/>
              </a:rPr>
              <a:t>Mùa nào hoa mai, hoa đào nở rộ ở nước ta?</a:t>
            </a:r>
            <a:endParaRPr lang="en-US" sz="3200" dirty="0"/>
          </a:p>
        </p:txBody>
      </p:sp>
      <p:sp>
        <p:nvSpPr>
          <p:cNvPr id="4" name="Text 2"/>
          <p:cNvSpPr txBox="1"/>
          <p:nvPr/>
        </p:nvSpPr>
        <p:spPr>
          <a:xfrm>
            <a:off x="640080" y="3154680"/>
            <a:ext cx="5303520" cy="777240"/>
          </a:xfrm>
          <a:prstGeom prst="roundRect">
            <a:avLst>
              <a:gd name="adj" fmla="val 17647"/>
            </a:avLst>
          </a:prstGeom>
          <a:solidFill>
            <a:srgbClr val="C62828"/>
          </a:solidFill>
          <a:ln w="19050">
            <a:solidFill>
              <a:srgbClr val="FFFFFF"/>
            </a:solidFill>
          </a:ln>
        </p:spPr>
        <p:txBody>
          <a:bodyPr wrap="square" lIns="3175" tIns="3175" rIns="3175" bIns="3175"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Mùa hè</a:t>
            </a:r>
            <a:endParaRPr lang="en-US" sz="2400" dirty="0"/>
          </a:p>
        </p:txBody>
      </p:sp>
      <p:sp>
        <p:nvSpPr>
          <p:cNvPr id="5" name="Text 3"/>
          <p:cNvSpPr txBox="1"/>
          <p:nvPr/>
        </p:nvSpPr>
        <p:spPr>
          <a:xfrm>
            <a:off x="6217920" y="3154680"/>
            <a:ext cx="5303520" cy="777240"/>
          </a:xfrm>
          <a:prstGeom prst="roundRect">
            <a:avLst>
              <a:gd name="adj" fmla="val 17647"/>
            </a:avLst>
          </a:prstGeom>
          <a:solidFill>
            <a:srgbClr val="C62828"/>
          </a:solidFill>
          <a:ln w="19050">
            <a:solidFill>
              <a:srgbClr val="FFFFFF"/>
            </a:solidFill>
          </a:ln>
        </p:spPr>
        <p:txBody>
          <a:bodyPr wrap="square" lIns="3175" tIns="3175" rIns="3175" bIns="3175"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Mùa thu</a:t>
            </a:r>
            <a:endParaRPr lang="en-US" sz="2400" dirty="0"/>
          </a:p>
        </p:txBody>
      </p:sp>
      <p:sp>
        <p:nvSpPr>
          <p:cNvPr id="6" name="Text 4"/>
          <p:cNvSpPr txBox="1"/>
          <p:nvPr/>
        </p:nvSpPr>
        <p:spPr>
          <a:xfrm>
            <a:off x="640080" y="4069080"/>
            <a:ext cx="5303520" cy="777240"/>
          </a:xfrm>
          <a:prstGeom prst="roundRect">
            <a:avLst>
              <a:gd name="adj" fmla="val 17647"/>
            </a:avLst>
          </a:prstGeom>
          <a:solidFill>
            <a:srgbClr val="C62828"/>
          </a:solidFill>
          <a:ln w="19050">
            <a:solidFill>
              <a:srgbClr val="FFFFFF"/>
            </a:solidFill>
          </a:ln>
        </p:spPr>
        <p:txBody>
          <a:bodyPr wrap="square" lIns="3175" tIns="3175" rIns="3175" bIns="3175"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Mùa đông</a:t>
            </a:r>
            <a:endParaRPr lang="en-US" sz="2400" dirty="0"/>
          </a:p>
        </p:txBody>
      </p:sp>
      <p:sp>
        <p:nvSpPr>
          <p:cNvPr id="7" name="Text 5"/>
          <p:cNvSpPr txBox="1"/>
          <p:nvPr/>
        </p:nvSpPr>
        <p:spPr>
          <a:xfrm>
            <a:off x="6217920" y="4069080"/>
            <a:ext cx="5303520" cy="777240"/>
          </a:xfrm>
          <a:prstGeom prst="roundRect">
            <a:avLst>
              <a:gd name="adj" fmla="val 17647"/>
            </a:avLst>
          </a:prstGeom>
          <a:solidFill>
            <a:srgbClr val="C62828"/>
          </a:solidFill>
          <a:ln w="19050">
            <a:solidFill>
              <a:srgbClr val="FFFFFF"/>
            </a:solidFill>
          </a:ln>
        </p:spPr>
        <p:txBody>
          <a:bodyPr wrap="square" lIns="3175" tIns="3175" rIns="3175" bIns="3175"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Mùa xuân</a:t>
            </a:r>
            <a:endParaRPr lang="en-US" sz="2400" dirty="0"/>
          </a:p>
        </p:txBody>
      </p:sp>
      <p:sp>
        <p:nvSpPr>
          <p:cNvPr id="8" name="Text 6">
            <a:hlinkClick r:id="rId1" tooltip="Bấm để chọn" action="ppaction://hlinksldjump"/>
          </p:cNvPr>
          <p:cNvSpPr txBox="1"/>
          <p:nvPr/>
        </p:nvSpPr>
        <p:spPr>
          <a:xfrm>
            <a:off x="3169768" y="5303520"/>
            <a:ext cx="5852160" cy="914400"/>
          </a:xfrm>
          <a:prstGeom prst="roundRect">
            <a:avLst>
              <a:gd name="adj" fmla="val 18000"/>
            </a:avLst>
          </a:prstGeom>
          <a:solidFill>
            <a:srgbClr val="FFD54F"/>
          </a:solidFill>
          <a:ln/>
        </p:spPr>
        <p:txBody>
          <a:bodyPr wrap="square" lIns="1270" tIns="1270" rIns="1270" bIns="1270" rtlCol="0" anchor="ctr"/>
          <a:lstStyle/>
          <a:p>
            <a:pPr algn="ctr" indent="0" marL="0">
              <a:buNone/>
            </a:pPr>
            <a:r>
              <a:rPr lang="en-US" sz="2600" b="1" dirty="0">
                <a:solidFill>
                  <a:srgbClr val="1F2937"/>
                </a:solidFill>
                <a:latin typeface="Arial" pitchFamily="34" charset="0"/>
                <a:ea typeface="Arial" pitchFamily="34" charset="-122"/>
                <a:cs typeface="Arial" pitchFamily="34" charset="-120"/>
              </a:rPr>
              <a:t>⏰  Bắt đầu đếm giờ (10 giây)</a:t>
            </a:r>
            <a:endParaRPr lang="en-US" sz="2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Mùa nào hoa mai, hoa đào nở rộ ở nước ta?</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54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10</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Mùa nào hoa mai, hoa đào nở rộ ở nước ta?</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54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9</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Mùa nào hoa mai, hoa đào nở rộ ở nước ta?</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54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8</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Mùa nào hoa mai, hoa đào nở rộ ở nước ta?</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54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7</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Mùa nào hoa mai, hoa đào nở rộ ở nước ta?</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54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6</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Mùa nào hoa mai, hoa đào nở rộ ở nước ta?</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54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5</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Mùa nào hoa mai, hoa đào nở rộ ở nước ta?</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54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4</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Mùa nào hoa mai, hoa đào nở rộ ở nước ta?</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54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3</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Mùa nào hoa mai, hoa đào nở rộ ở nước ta?</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54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2</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Mùa nào hoa mai, hoa đào nở rộ ở nước ta?</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54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1</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54F"/>
                </a:solidFill>
                <a:latin typeface="Arial" pitchFamily="34" charset="0"/>
                <a:ea typeface="Arial" pitchFamily="34" charset="-122"/>
                <a:cs typeface="Arial" pitchFamily="34" charset="-120"/>
              </a:rPr>
              <a:t>Hết giờ!</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Mùa xuân</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5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28600"/>
            <a:ext cx="5486400" cy="457200"/>
          </a:xfrm>
          <a:prstGeom prst="rect">
            <a:avLst/>
          </a:prstGeom>
          <a:noFill/>
          <a:ln/>
        </p:spPr>
        <p:txBody>
          <a:bodyPr wrap="square" lIns="0" tIns="0" rIns="0" bIns="0" rtlCol="0" anchor="ctr"/>
          <a:lstStyle/>
          <a:p>
            <a:pPr indent="0" marL="0">
              <a:buNone/>
            </a:pPr>
            <a:r>
              <a:rPr lang="en-US" sz="1800" b="1" dirty="0">
                <a:solidFill>
                  <a:srgbClr val="FFD54F"/>
                </a:solidFill>
                <a:latin typeface="Arial" pitchFamily="34" charset="0"/>
                <a:ea typeface="Arial" pitchFamily="34" charset="-122"/>
                <a:cs typeface="Arial" pitchFamily="34" charset="-120"/>
              </a:rPr>
              <a:t>Câu 3/5</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200" b="1" dirty="0">
                <a:solidFill>
                  <a:srgbClr val="1F2937"/>
                </a:solidFill>
                <a:latin typeface="Arial" pitchFamily="34" charset="0"/>
                <a:ea typeface="Arial" pitchFamily="34" charset="-122"/>
                <a:cs typeface="Arial" pitchFamily="34" charset="-120"/>
              </a:rPr>
              <a:t>Có 45 quyển vở chia đều cho 5 bạn. Mỗi bạn được mấy quyển?</a:t>
            </a:r>
            <a:endParaRPr lang="en-US" sz="3200" dirty="0"/>
          </a:p>
        </p:txBody>
      </p:sp>
      <p:sp>
        <p:nvSpPr>
          <p:cNvPr id="4" name="Text 2"/>
          <p:cNvSpPr txBox="1"/>
          <p:nvPr/>
        </p:nvSpPr>
        <p:spPr>
          <a:xfrm>
            <a:off x="640080" y="3154680"/>
            <a:ext cx="5303520" cy="777240"/>
          </a:xfrm>
          <a:prstGeom prst="roundRect">
            <a:avLst>
              <a:gd name="adj" fmla="val 17647"/>
            </a:avLst>
          </a:prstGeom>
          <a:solidFill>
            <a:srgbClr val="C62828"/>
          </a:solidFill>
          <a:ln w="19050">
            <a:solidFill>
              <a:srgbClr val="FFFFFF"/>
            </a:solidFill>
          </a:ln>
        </p:spPr>
        <p:txBody>
          <a:bodyPr wrap="square" lIns="3175" tIns="3175" rIns="3175" bIns="3175"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9</a:t>
            </a:r>
            <a:endParaRPr lang="en-US" sz="2400" dirty="0"/>
          </a:p>
        </p:txBody>
      </p:sp>
      <p:sp>
        <p:nvSpPr>
          <p:cNvPr id="5" name="Text 3"/>
          <p:cNvSpPr txBox="1"/>
          <p:nvPr/>
        </p:nvSpPr>
        <p:spPr>
          <a:xfrm>
            <a:off x="6217920" y="3154680"/>
            <a:ext cx="5303520" cy="777240"/>
          </a:xfrm>
          <a:prstGeom prst="roundRect">
            <a:avLst>
              <a:gd name="adj" fmla="val 17647"/>
            </a:avLst>
          </a:prstGeom>
          <a:solidFill>
            <a:srgbClr val="C62828"/>
          </a:solidFill>
          <a:ln w="19050">
            <a:solidFill>
              <a:srgbClr val="FFFFFF"/>
            </a:solidFill>
          </a:ln>
        </p:spPr>
        <p:txBody>
          <a:bodyPr wrap="square" lIns="3175" tIns="3175" rIns="3175" bIns="3175"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8</a:t>
            </a:r>
            <a:endParaRPr lang="en-US" sz="2400" dirty="0"/>
          </a:p>
        </p:txBody>
      </p:sp>
      <p:sp>
        <p:nvSpPr>
          <p:cNvPr id="6" name="Text 4"/>
          <p:cNvSpPr txBox="1"/>
          <p:nvPr/>
        </p:nvSpPr>
        <p:spPr>
          <a:xfrm>
            <a:off x="640080" y="4069080"/>
            <a:ext cx="5303520" cy="777240"/>
          </a:xfrm>
          <a:prstGeom prst="roundRect">
            <a:avLst>
              <a:gd name="adj" fmla="val 17647"/>
            </a:avLst>
          </a:prstGeom>
          <a:solidFill>
            <a:srgbClr val="C62828"/>
          </a:solidFill>
          <a:ln w="19050">
            <a:solidFill>
              <a:srgbClr val="FFFFFF"/>
            </a:solidFill>
          </a:ln>
        </p:spPr>
        <p:txBody>
          <a:bodyPr wrap="square" lIns="3175" tIns="3175" rIns="3175" bIns="3175"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10</a:t>
            </a:r>
            <a:endParaRPr lang="en-US" sz="2400" dirty="0"/>
          </a:p>
        </p:txBody>
      </p:sp>
      <p:sp>
        <p:nvSpPr>
          <p:cNvPr id="7" name="Text 5"/>
          <p:cNvSpPr txBox="1"/>
          <p:nvPr/>
        </p:nvSpPr>
        <p:spPr>
          <a:xfrm>
            <a:off x="6217920" y="4069080"/>
            <a:ext cx="5303520" cy="777240"/>
          </a:xfrm>
          <a:prstGeom prst="roundRect">
            <a:avLst>
              <a:gd name="adj" fmla="val 17647"/>
            </a:avLst>
          </a:prstGeom>
          <a:solidFill>
            <a:srgbClr val="C62828"/>
          </a:solidFill>
          <a:ln w="19050">
            <a:solidFill>
              <a:srgbClr val="FFFFFF"/>
            </a:solidFill>
          </a:ln>
        </p:spPr>
        <p:txBody>
          <a:bodyPr wrap="square" lIns="3175" tIns="3175" rIns="3175" bIns="3175"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7</a:t>
            </a:r>
            <a:endParaRPr lang="en-US" sz="2400" dirty="0"/>
          </a:p>
        </p:txBody>
      </p:sp>
      <p:sp>
        <p:nvSpPr>
          <p:cNvPr id="8" name="Text 6">
            <a:hlinkClick r:id="rId1" tooltip="Bấm để chọn" action="ppaction://hlinksldjump"/>
          </p:cNvPr>
          <p:cNvSpPr txBox="1"/>
          <p:nvPr/>
        </p:nvSpPr>
        <p:spPr>
          <a:xfrm>
            <a:off x="3169768" y="5303520"/>
            <a:ext cx="5852160" cy="914400"/>
          </a:xfrm>
          <a:prstGeom prst="roundRect">
            <a:avLst>
              <a:gd name="adj" fmla="val 18000"/>
            </a:avLst>
          </a:prstGeom>
          <a:solidFill>
            <a:srgbClr val="FFD54F"/>
          </a:solidFill>
          <a:ln/>
        </p:spPr>
        <p:txBody>
          <a:bodyPr wrap="square" lIns="1270" tIns="1270" rIns="1270" bIns="1270" rtlCol="0" anchor="ctr"/>
          <a:lstStyle/>
          <a:p>
            <a:pPr algn="ctr" indent="0" marL="0">
              <a:buNone/>
            </a:pPr>
            <a:r>
              <a:rPr lang="en-US" sz="2600" b="1" dirty="0">
                <a:solidFill>
                  <a:srgbClr val="1F2937"/>
                </a:solidFill>
                <a:latin typeface="Arial" pitchFamily="34" charset="0"/>
                <a:ea typeface="Arial" pitchFamily="34" charset="-122"/>
                <a:cs typeface="Arial" pitchFamily="34" charset="-120"/>
              </a:rPr>
              <a:t>⏰  Bắt đầu đếm giờ (10 giây)</a:t>
            </a:r>
            <a:endParaRPr lang="en-US" sz="2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Có 45 quyển vở chia đều cho 5 bạn. Mỗi bạn được mấy quyển?</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54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10</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Có 45 quyển vở chia đều cho 5 bạn. Mỗi bạn được mấy quyển?</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54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9</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Có 45 quyển vở chia đều cho 5 bạn. Mỗi bạn được mấy quyển?</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54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8</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Có 45 quyển vở chia đều cho 5 bạn. Mỗi bạn được mấy quyển?</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54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7</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Có 45 quyển vở chia đều cho 5 bạn. Mỗi bạn được mấy quyển?</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54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6</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Có 45 quyển vở chia đều cho 5 bạn. Mỗi bạn được mấy quyển?</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54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5</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Có 45 quyển vở chia đều cho 5 bạn. Mỗi bạn được mấy quyển?</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54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4</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Có 45 quyển vở chia đều cho 5 bạn. Mỗi bạn được mấy quyển?</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54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3</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Có 45 quyển vở chia đều cho 5 bạn. Mỗi bạn được mấy quyển?</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54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2</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Có 45 quyển vở chia đều cho 5 bạn. Mỗi bạn được mấy quyển?</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54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1</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54F"/>
                </a:solidFill>
                <a:latin typeface="Arial" pitchFamily="34" charset="0"/>
                <a:ea typeface="Arial" pitchFamily="34" charset="-122"/>
                <a:cs typeface="Arial" pitchFamily="34" charset="-120"/>
              </a:rPr>
              <a:t>Hết giờ!</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9</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5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28600"/>
            <a:ext cx="5486400" cy="457200"/>
          </a:xfrm>
          <a:prstGeom prst="rect">
            <a:avLst/>
          </a:prstGeom>
          <a:noFill/>
          <a:ln/>
        </p:spPr>
        <p:txBody>
          <a:bodyPr wrap="square" lIns="0" tIns="0" rIns="0" bIns="0" rtlCol="0" anchor="ctr"/>
          <a:lstStyle/>
          <a:p>
            <a:pPr indent="0" marL="0">
              <a:buNone/>
            </a:pPr>
            <a:r>
              <a:rPr lang="en-US" sz="1800" b="1" dirty="0">
                <a:solidFill>
                  <a:srgbClr val="FFD54F"/>
                </a:solidFill>
                <a:latin typeface="Arial" pitchFamily="34" charset="0"/>
                <a:ea typeface="Arial" pitchFamily="34" charset="-122"/>
                <a:cs typeface="Arial" pitchFamily="34" charset="-120"/>
              </a:rPr>
              <a:t>Câu 4/5</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200" b="1" dirty="0">
                <a:solidFill>
                  <a:srgbClr val="1F2937"/>
                </a:solidFill>
                <a:latin typeface="Arial" pitchFamily="34" charset="0"/>
                <a:ea typeface="Arial" pitchFamily="34" charset="-122"/>
                <a:cs typeface="Arial" pitchFamily="34" charset="-120"/>
              </a:rPr>
              <a:t>Thủ đô của Việt Nam là gì?</a:t>
            </a:r>
            <a:endParaRPr lang="en-US" sz="3200" dirty="0"/>
          </a:p>
        </p:txBody>
      </p:sp>
      <p:sp>
        <p:nvSpPr>
          <p:cNvPr id="4" name="Text 2"/>
          <p:cNvSpPr txBox="1"/>
          <p:nvPr/>
        </p:nvSpPr>
        <p:spPr>
          <a:xfrm>
            <a:off x="640080" y="3154680"/>
            <a:ext cx="5303520" cy="777240"/>
          </a:xfrm>
          <a:prstGeom prst="roundRect">
            <a:avLst>
              <a:gd name="adj" fmla="val 17647"/>
            </a:avLst>
          </a:prstGeom>
          <a:solidFill>
            <a:srgbClr val="C62828"/>
          </a:solidFill>
          <a:ln w="19050">
            <a:solidFill>
              <a:srgbClr val="FFFFFF"/>
            </a:solidFill>
          </a:ln>
        </p:spPr>
        <p:txBody>
          <a:bodyPr wrap="square" lIns="3175" tIns="3175" rIns="3175" bIns="3175"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Huế</a:t>
            </a:r>
            <a:endParaRPr lang="en-US" sz="2400" dirty="0"/>
          </a:p>
        </p:txBody>
      </p:sp>
      <p:sp>
        <p:nvSpPr>
          <p:cNvPr id="5" name="Text 3"/>
          <p:cNvSpPr txBox="1"/>
          <p:nvPr/>
        </p:nvSpPr>
        <p:spPr>
          <a:xfrm>
            <a:off x="6217920" y="3154680"/>
            <a:ext cx="5303520" cy="777240"/>
          </a:xfrm>
          <a:prstGeom prst="roundRect">
            <a:avLst>
              <a:gd name="adj" fmla="val 17647"/>
            </a:avLst>
          </a:prstGeom>
          <a:solidFill>
            <a:srgbClr val="C62828"/>
          </a:solidFill>
          <a:ln w="19050">
            <a:solidFill>
              <a:srgbClr val="FFFFFF"/>
            </a:solidFill>
          </a:ln>
        </p:spPr>
        <p:txBody>
          <a:bodyPr wrap="square" lIns="3175" tIns="3175" rIns="3175" bIns="3175"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Hà Nội</a:t>
            </a:r>
            <a:endParaRPr lang="en-US" sz="2400" dirty="0"/>
          </a:p>
        </p:txBody>
      </p:sp>
      <p:sp>
        <p:nvSpPr>
          <p:cNvPr id="6" name="Text 4"/>
          <p:cNvSpPr txBox="1"/>
          <p:nvPr/>
        </p:nvSpPr>
        <p:spPr>
          <a:xfrm>
            <a:off x="640080" y="4069080"/>
            <a:ext cx="5303520" cy="777240"/>
          </a:xfrm>
          <a:prstGeom prst="roundRect">
            <a:avLst>
              <a:gd name="adj" fmla="val 17647"/>
            </a:avLst>
          </a:prstGeom>
          <a:solidFill>
            <a:srgbClr val="C62828"/>
          </a:solidFill>
          <a:ln w="19050">
            <a:solidFill>
              <a:srgbClr val="FFFFFF"/>
            </a:solidFill>
          </a:ln>
        </p:spPr>
        <p:txBody>
          <a:bodyPr wrap="square" lIns="3175" tIns="3175" rIns="3175" bIns="3175"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Đà Nẵng</a:t>
            </a:r>
            <a:endParaRPr lang="en-US" sz="2400" dirty="0"/>
          </a:p>
        </p:txBody>
      </p:sp>
      <p:sp>
        <p:nvSpPr>
          <p:cNvPr id="7" name="Text 5"/>
          <p:cNvSpPr txBox="1"/>
          <p:nvPr/>
        </p:nvSpPr>
        <p:spPr>
          <a:xfrm>
            <a:off x="6217920" y="4069080"/>
            <a:ext cx="5303520" cy="777240"/>
          </a:xfrm>
          <a:prstGeom prst="roundRect">
            <a:avLst>
              <a:gd name="adj" fmla="val 17647"/>
            </a:avLst>
          </a:prstGeom>
          <a:solidFill>
            <a:srgbClr val="C62828"/>
          </a:solidFill>
          <a:ln w="19050">
            <a:solidFill>
              <a:srgbClr val="FFFFFF"/>
            </a:solidFill>
          </a:ln>
        </p:spPr>
        <p:txBody>
          <a:bodyPr wrap="square" lIns="3175" tIns="3175" rIns="3175" bIns="3175"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TP. Hồ Chí Minh</a:t>
            </a:r>
            <a:endParaRPr lang="en-US" sz="2400" dirty="0"/>
          </a:p>
        </p:txBody>
      </p:sp>
      <p:sp>
        <p:nvSpPr>
          <p:cNvPr id="8" name="Text 6">
            <a:hlinkClick r:id="rId1" tooltip="Bấm để chọn" action="ppaction://hlinksldjump"/>
          </p:cNvPr>
          <p:cNvSpPr txBox="1"/>
          <p:nvPr/>
        </p:nvSpPr>
        <p:spPr>
          <a:xfrm>
            <a:off x="3169768" y="5303520"/>
            <a:ext cx="5852160" cy="914400"/>
          </a:xfrm>
          <a:prstGeom prst="roundRect">
            <a:avLst>
              <a:gd name="adj" fmla="val 18000"/>
            </a:avLst>
          </a:prstGeom>
          <a:solidFill>
            <a:srgbClr val="FFD54F"/>
          </a:solidFill>
          <a:ln/>
        </p:spPr>
        <p:txBody>
          <a:bodyPr wrap="square" lIns="1270" tIns="1270" rIns="1270" bIns="1270" rtlCol="0" anchor="ctr"/>
          <a:lstStyle/>
          <a:p>
            <a:pPr algn="ctr" indent="0" marL="0">
              <a:buNone/>
            </a:pPr>
            <a:r>
              <a:rPr lang="en-US" sz="2600" b="1" dirty="0">
                <a:solidFill>
                  <a:srgbClr val="1F2937"/>
                </a:solidFill>
                <a:latin typeface="Arial" pitchFamily="34" charset="0"/>
                <a:ea typeface="Arial" pitchFamily="34" charset="-122"/>
                <a:cs typeface="Arial" pitchFamily="34" charset="-120"/>
              </a:rPr>
              <a:t>⏰  Bắt đầu đếm giờ (10 giây)</a:t>
            </a:r>
            <a:endParaRPr lang="en-US" sz="2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Thủ đô của Việt Nam là gì?</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54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10</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Thủ đô của Việt Nam là gì?</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54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9</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Thủ đô của Việt Nam là gì?</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54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8</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Thủ đô của Việt Nam là gì?</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54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7</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Thủ đô của Việt Nam là gì?</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54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6</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Thủ đô của Việt Nam là gì?</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54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5</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Thủ đô của Việt Nam là gì?</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54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4</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Thủ đô của Việt Nam là gì?</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54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3</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Thủ đô của Việt Nam là gì?</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54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2</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Thủ đô của Việt Nam là gì?</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54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1</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54F"/>
                </a:solidFill>
                <a:latin typeface="Arial" pitchFamily="34" charset="0"/>
                <a:ea typeface="Arial" pitchFamily="34" charset="-122"/>
                <a:cs typeface="Arial" pitchFamily="34" charset="-120"/>
              </a:rPr>
              <a:t>Hết giờ!</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Hà Nội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5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28600"/>
            <a:ext cx="5486400" cy="457200"/>
          </a:xfrm>
          <a:prstGeom prst="rect">
            <a:avLst/>
          </a:prstGeom>
          <a:noFill/>
          <a:ln/>
        </p:spPr>
        <p:txBody>
          <a:bodyPr wrap="square" lIns="0" tIns="0" rIns="0" bIns="0" rtlCol="0" anchor="ctr"/>
          <a:lstStyle/>
          <a:p>
            <a:pPr indent="0" marL="0">
              <a:buNone/>
            </a:pPr>
            <a:r>
              <a:rPr lang="en-US" sz="1800" b="1" dirty="0">
                <a:solidFill>
                  <a:srgbClr val="FFD54F"/>
                </a:solidFill>
                <a:latin typeface="Arial" pitchFamily="34" charset="0"/>
                <a:ea typeface="Arial" pitchFamily="34" charset="-122"/>
                <a:cs typeface="Arial" pitchFamily="34" charset="-120"/>
              </a:rPr>
              <a:t>Câu 5/5</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200" b="1" dirty="0">
                <a:solidFill>
                  <a:srgbClr val="1F2937"/>
                </a:solidFill>
                <a:latin typeface="Arial" pitchFamily="34" charset="0"/>
                <a:ea typeface="Arial" pitchFamily="34" charset="-122"/>
                <a:cs typeface="Arial" pitchFamily="34" charset="-120"/>
              </a:rPr>
              <a:t>7 × 8 = ?</a:t>
            </a:r>
            <a:endParaRPr lang="en-US" sz="3200" dirty="0"/>
          </a:p>
        </p:txBody>
      </p:sp>
      <p:sp>
        <p:nvSpPr>
          <p:cNvPr id="4" name="Text 2"/>
          <p:cNvSpPr txBox="1"/>
          <p:nvPr/>
        </p:nvSpPr>
        <p:spPr>
          <a:xfrm>
            <a:off x="640080" y="3154680"/>
            <a:ext cx="5303520" cy="777240"/>
          </a:xfrm>
          <a:prstGeom prst="roundRect">
            <a:avLst>
              <a:gd name="adj" fmla="val 17647"/>
            </a:avLst>
          </a:prstGeom>
          <a:solidFill>
            <a:srgbClr val="C62828"/>
          </a:solidFill>
          <a:ln w="19050">
            <a:solidFill>
              <a:srgbClr val="FFFFFF"/>
            </a:solidFill>
          </a:ln>
        </p:spPr>
        <p:txBody>
          <a:bodyPr wrap="square" lIns="3175" tIns="3175" rIns="3175" bIns="3175"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54</a:t>
            </a:r>
            <a:endParaRPr lang="en-US" sz="2400" dirty="0"/>
          </a:p>
        </p:txBody>
      </p:sp>
      <p:sp>
        <p:nvSpPr>
          <p:cNvPr id="5" name="Text 3"/>
          <p:cNvSpPr txBox="1"/>
          <p:nvPr/>
        </p:nvSpPr>
        <p:spPr>
          <a:xfrm>
            <a:off x="6217920" y="3154680"/>
            <a:ext cx="5303520" cy="777240"/>
          </a:xfrm>
          <a:prstGeom prst="roundRect">
            <a:avLst>
              <a:gd name="adj" fmla="val 17647"/>
            </a:avLst>
          </a:prstGeom>
          <a:solidFill>
            <a:srgbClr val="C62828"/>
          </a:solidFill>
          <a:ln w="19050">
            <a:solidFill>
              <a:srgbClr val="FFFFFF"/>
            </a:solidFill>
          </a:ln>
        </p:spPr>
        <p:txBody>
          <a:bodyPr wrap="square" lIns="3175" tIns="3175" rIns="3175" bIns="3175"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48</a:t>
            </a:r>
            <a:endParaRPr lang="en-US" sz="2400" dirty="0"/>
          </a:p>
        </p:txBody>
      </p:sp>
      <p:sp>
        <p:nvSpPr>
          <p:cNvPr id="6" name="Text 4"/>
          <p:cNvSpPr txBox="1"/>
          <p:nvPr/>
        </p:nvSpPr>
        <p:spPr>
          <a:xfrm>
            <a:off x="640080" y="4069080"/>
            <a:ext cx="5303520" cy="777240"/>
          </a:xfrm>
          <a:prstGeom prst="roundRect">
            <a:avLst>
              <a:gd name="adj" fmla="val 17647"/>
            </a:avLst>
          </a:prstGeom>
          <a:solidFill>
            <a:srgbClr val="C62828"/>
          </a:solidFill>
          <a:ln w="19050">
            <a:solidFill>
              <a:srgbClr val="FFFFFF"/>
            </a:solidFill>
          </a:ln>
        </p:spPr>
        <p:txBody>
          <a:bodyPr wrap="square" lIns="3175" tIns="3175" rIns="3175" bIns="3175"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56</a:t>
            </a:r>
            <a:endParaRPr lang="en-US" sz="2400" dirty="0"/>
          </a:p>
        </p:txBody>
      </p:sp>
      <p:sp>
        <p:nvSpPr>
          <p:cNvPr id="7" name="Text 5"/>
          <p:cNvSpPr txBox="1"/>
          <p:nvPr/>
        </p:nvSpPr>
        <p:spPr>
          <a:xfrm>
            <a:off x="6217920" y="4069080"/>
            <a:ext cx="5303520" cy="777240"/>
          </a:xfrm>
          <a:prstGeom prst="roundRect">
            <a:avLst>
              <a:gd name="adj" fmla="val 17647"/>
            </a:avLst>
          </a:prstGeom>
          <a:solidFill>
            <a:srgbClr val="C62828"/>
          </a:solidFill>
          <a:ln w="19050">
            <a:solidFill>
              <a:srgbClr val="FFFFFF"/>
            </a:solidFill>
          </a:ln>
        </p:spPr>
        <p:txBody>
          <a:bodyPr wrap="square" lIns="3175" tIns="3175" rIns="3175" bIns="3175"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64</a:t>
            </a:r>
            <a:endParaRPr lang="en-US" sz="2400" dirty="0"/>
          </a:p>
        </p:txBody>
      </p:sp>
      <p:sp>
        <p:nvSpPr>
          <p:cNvPr id="8" name="Text 6">
            <a:hlinkClick r:id="rId1" tooltip="Bấm để chọn" action="ppaction://hlinksldjump"/>
          </p:cNvPr>
          <p:cNvSpPr txBox="1"/>
          <p:nvPr/>
        </p:nvSpPr>
        <p:spPr>
          <a:xfrm>
            <a:off x="3169768" y="5303520"/>
            <a:ext cx="5852160" cy="914400"/>
          </a:xfrm>
          <a:prstGeom prst="roundRect">
            <a:avLst>
              <a:gd name="adj" fmla="val 18000"/>
            </a:avLst>
          </a:prstGeom>
          <a:solidFill>
            <a:srgbClr val="FFD54F"/>
          </a:solidFill>
          <a:ln/>
        </p:spPr>
        <p:txBody>
          <a:bodyPr wrap="square" lIns="1270" tIns="1270" rIns="1270" bIns="1270" rtlCol="0" anchor="ctr"/>
          <a:lstStyle/>
          <a:p>
            <a:pPr algn="ctr" indent="0" marL="0">
              <a:buNone/>
            </a:pPr>
            <a:r>
              <a:rPr lang="en-US" sz="2600" b="1" dirty="0">
                <a:solidFill>
                  <a:srgbClr val="1F2937"/>
                </a:solidFill>
                <a:latin typeface="Arial" pitchFamily="34" charset="0"/>
                <a:ea typeface="Arial" pitchFamily="34" charset="-122"/>
                <a:cs typeface="Arial" pitchFamily="34" charset="-120"/>
              </a:rPr>
              <a:t>⏰  Bắt đầu đếm giờ (10 giây)</a:t>
            </a:r>
            <a:endParaRPr lang="en-US" sz="26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7 × 8 = ?</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54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10</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7 × 8 = ?</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54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9</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7 × 8 = ?</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54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8</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7 × 8 = ?</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54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7</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7 × 8 = ?</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54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6</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7 × 8 = ?</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54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5</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7 × 8 = ?</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54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4</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7 × 8 = ?</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54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3</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7 × 8 = ?</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54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2</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74320"/>
            <a:ext cx="10911535" cy="1280160"/>
          </a:xfrm>
          <a:prstGeom prst="rect">
            <a:avLst/>
          </a:prstGeom>
          <a:noFill/>
          <a:ln/>
        </p:spPr>
        <p:txBody>
          <a:bodyPr wrap="square" rtlCol="0" anchor="ctr"/>
          <a:lstStyle/>
          <a:p>
            <a:pPr algn="ctr" indent="0" marL="0">
              <a:buNone/>
            </a:pPr>
            <a:r>
              <a:rPr lang="en-US" sz="2200" dirty="0">
                <a:solidFill>
                  <a:srgbClr val="E5E7EB"/>
                </a:solidFill>
                <a:latin typeface="Arial" pitchFamily="34" charset="0"/>
                <a:ea typeface="Arial" pitchFamily="34" charset="-122"/>
                <a:cs typeface="Arial" pitchFamily="34" charset="-120"/>
              </a:rPr>
              <a:t>7 × 8 = ?</a:t>
            </a:r>
            <a:endParaRPr lang="en-US" sz="2200" dirty="0"/>
          </a:p>
        </p:txBody>
      </p:sp>
      <p:sp>
        <p:nvSpPr>
          <p:cNvPr id="3" name="Shape 1"/>
          <p:cNvSpPr/>
          <p:nvPr/>
        </p:nvSpPr>
        <p:spPr>
          <a:xfrm>
            <a:off x="4449928" y="1828800"/>
            <a:ext cx="3291840" cy="3291840"/>
          </a:xfrm>
          <a:prstGeom prst="ellipse">
            <a:avLst/>
          </a:prstGeom>
          <a:solidFill>
            <a:srgbClr val="C62828"/>
          </a:solidFill>
          <a:ln w="76200">
            <a:solidFill>
              <a:srgbClr val="FFD54F"/>
            </a:solidFill>
            <a:prstDash val="solid"/>
          </a:ln>
        </p:spPr>
      </p:sp>
      <p:sp>
        <p:nvSpPr>
          <p:cNvPr id="4" name="Text 2"/>
          <p:cNvSpPr txBox="1"/>
          <p:nvPr/>
        </p:nvSpPr>
        <p:spPr>
          <a:xfrm>
            <a:off x="4449928" y="1828800"/>
            <a:ext cx="3291840" cy="3291840"/>
          </a:xfrm>
          <a:prstGeom prst="rect">
            <a:avLst/>
          </a:prstGeom>
          <a:noFill/>
          <a:ln/>
        </p:spPr>
        <p:txBody>
          <a:bodyPr wrap="square" lIns="0" tIns="0" rIns="0" bIns="0" rtlCol="0" anchor="ctr"/>
          <a:lstStyle/>
          <a:p>
            <a:pPr algn="ctr" indent="0" marL="0">
              <a:buNone/>
            </a:pPr>
            <a:r>
              <a:rPr lang="en-US" sz="13000" b="1" dirty="0">
                <a:solidFill>
                  <a:srgbClr val="FFFFFF"/>
                </a:solidFill>
                <a:latin typeface="Arial" pitchFamily="34" charset="0"/>
                <a:ea typeface="Arial" pitchFamily="34" charset="-122"/>
                <a:cs typeface="Arial" pitchFamily="34" charset="-120"/>
              </a:rPr>
              <a:t>1</a:t>
            </a:r>
            <a:endParaRPr lang="en-US" sz="13000" dirty="0"/>
          </a:p>
        </p:txBody>
      </p:sp>
      <p:sp>
        <p:nvSpPr>
          <p:cNvPr id="5" name="Text 3"/>
          <p:cNvSpPr txBox="1"/>
          <p:nvPr/>
        </p:nvSpPr>
        <p:spPr>
          <a:xfrm>
            <a:off x="1097280" y="2926080"/>
            <a:ext cx="1645920" cy="1280160"/>
          </a:xfrm>
          <a:prstGeom prst="rect">
            <a:avLst/>
          </a:prstGeom>
          <a:noFill/>
          <a:ln/>
        </p:spPr>
        <p:txBody>
          <a:bodyPr wrap="square" rtlCol="0" anchor="ctr"/>
          <a:lstStyle/>
          <a:p>
            <a:pPr algn="ctr" indent="0" marL="0">
              <a:buNone/>
            </a:pPr>
            <a:r>
              <a:rPr lang="en-US" sz="7000" dirty="0">
                <a:solidFill>
                  <a:srgbClr val="000000"/>
                </a:solidFill>
                <a:latin typeface="Arial" pitchFamily="34" charset="0"/>
                <a:ea typeface="Arial" pitchFamily="34" charset="-122"/>
                <a:cs typeface="Arial" pitchFamily="34" charset="-120"/>
              </a:rPr>
              <a:t>⏰</a:t>
            </a:r>
            <a:endParaRPr lang="en-US" sz="7000" dirty="0"/>
          </a:p>
        </p:txBody>
      </p:sp>
      <p:sp>
        <p:nvSpPr>
          <p:cNvPr id="6" name="Text 4"/>
          <p:cNvSpPr txBox="1"/>
          <p:nvPr/>
        </p:nvSpPr>
        <p:spPr>
          <a:xfrm>
            <a:off x="640080" y="6035040"/>
            <a:ext cx="1091153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Slide tự chuyển sau 1 giây khi đang trình chiếu</a:t>
            </a:r>
            <a:endParaRPr lang="en-US" sz="1200" dirty="0"/>
          </a:p>
        </p:txBody>
      </p:sp>
    </p:spTree>
  </p:cSld>
  <p:clrMapOvr>
    <a:masterClrMapping/>
  </p:clrMapOvr>
  <p:transition spd="fast" advClick="0" advTm="1000"/>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54F"/>
                </a:solidFill>
                <a:latin typeface="Arial" pitchFamily="34" charset="0"/>
                <a:ea typeface="Arial" pitchFamily="34" charset="-122"/>
                <a:cs typeface="Arial" pitchFamily="34" charset="-120"/>
              </a:rPr>
              <a:t>Hết giờ!</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56</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5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Kết thúc</a:t>
            </a:r>
            <a:endParaRPr lang="en-US" sz="24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54F"/>
                </a:solidFill>
                <a:latin typeface="Arial" pitchFamily="34" charset="0"/>
                <a:ea typeface="Arial" pitchFamily="34" charset="-122"/>
                <a:cs typeface="Arial" pitchFamily="34" charset="-120"/>
              </a:rPr>
              <a:t>Hoàn thành tất cả các câu hỏi!</a:t>
            </a:r>
            <a:endParaRPr lang="en-US" sz="4400" dirty="0"/>
          </a:p>
        </p:txBody>
      </p:sp>
      <p:sp>
        <p:nvSpPr>
          <p:cNvPr id="4" name="Text 2">
            <a:hlinkClick r:id="rId1" tooltip="Bấm để chọn" action="ppaction://hlinksldjump"/>
          </p:cNvPr>
          <p:cNvSpPr txBox="1"/>
          <p:nvPr/>
        </p:nvSpPr>
        <p:spPr>
          <a:xfrm>
            <a:off x="4358488" y="4846320"/>
            <a:ext cx="3474720" cy="914400"/>
          </a:xfrm>
          <a:prstGeom prst="roundRect">
            <a:avLst>
              <a:gd name="adj" fmla="val 18000"/>
            </a:avLst>
          </a:prstGeom>
          <a:solidFill>
            <a:srgbClr val="FFD5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Chơi lại</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62</Slides>
  <Notes>62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62</vt:i4>
      </vt:variant>
    </vt:vector>
  </HeadingPairs>
  <TitlesOfParts>
    <vt:vector size="6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Đồng hồ báo thức</dc:title>
  <dc:subject>Trò chơi PowerPoint học tập</dc:subject>
  <dc:creator>giasu.ai.vn</dc:creator>
  <cp:lastModifiedBy>giasu.ai.vn</cp:lastModifiedBy>
  <cp:revision>1</cp:revision>
  <dcterms:created xsi:type="dcterms:W3CDTF">2026-10-19T03:29:13Z</dcterms:created>
  <dcterms:modified xsi:type="dcterms:W3CDTF">2026-10-19T03:29:13Z</dcterms:modified>
</cp:coreProperties>
</file>