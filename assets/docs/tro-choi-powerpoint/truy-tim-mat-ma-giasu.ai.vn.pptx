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5.xml"/><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2.xm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TRUY TÌM MẬT MÃ</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Giải từng gợi ý để tìm ra các từ khóa của mật mã. Bấm số để xem gợi ý.</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TRUY TÌM MẬT MÃ</a:t>
            </a:r>
            <a:endParaRPr lang="en-US" sz="3200" dirty="0"/>
          </a:p>
        </p:txBody>
      </p:sp>
      <p:sp>
        <p:nvSpPr>
          <p:cNvPr id="3" name="Text 1">
            <a:hlinkClick r:id="rId1" tooltip="Xem gợi ý hàng 1" action="ppaction://hlinksldjump"/>
          </p:cNvPr>
          <p:cNvSpPr txBox="1"/>
          <p:nvPr/>
        </p:nvSpPr>
        <p:spPr>
          <a:xfrm>
            <a:off x="2651760" y="1188720"/>
            <a:ext cx="585216" cy="585216"/>
          </a:xfrm>
          <a:prstGeom prst="roundRect">
            <a:avLst>
              <a:gd name="adj" fmla="val 50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1</a:t>
            </a:r>
            <a:endParaRPr lang="en-US" sz="2400" dirty="0"/>
          </a:p>
        </p:txBody>
      </p:sp>
      <p:sp>
        <p:nvSpPr>
          <p:cNvPr id="4" name="Text 2"/>
          <p:cNvSpPr txBox="1"/>
          <p:nvPr/>
        </p:nvSpPr>
        <p:spPr>
          <a:xfrm>
            <a:off x="3438144" y="1188720"/>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5" name="Text 3"/>
          <p:cNvSpPr txBox="1"/>
          <p:nvPr/>
        </p:nvSpPr>
        <p:spPr>
          <a:xfrm>
            <a:off x="4078224" y="1188720"/>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6" name="Text 4"/>
          <p:cNvSpPr txBox="1"/>
          <p:nvPr/>
        </p:nvSpPr>
        <p:spPr>
          <a:xfrm>
            <a:off x="4718304" y="1188720"/>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7" name="Text 5"/>
          <p:cNvSpPr txBox="1"/>
          <p:nvPr/>
        </p:nvSpPr>
        <p:spPr>
          <a:xfrm>
            <a:off x="5358384" y="1188720"/>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8" name="Text 6"/>
          <p:cNvSpPr txBox="1"/>
          <p:nvPr/>
        </p:nvSpPr>
        <p:spPr>
          <a:xfrm>
            <a:off x="8558784" y="1188720"/>
            <a:ext cx="1828800" cy="585216"/>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4 chữ cái</a:t>
            </a:r>
            <a:endParaRPr lang="en-US" sz="1400" dirty="0"/>
          </a:p>
        </p:txBody>
      </p:sp>
      <p:sp>
        <p:nvSpPr>
          <p:cNvPr id="9" name="Text 7">
            <a:hlinkClick r:id="rId2" tooltip="Xem gợi ý hàng 2" action="ppaction://hlinksldjump"/>
          </p:cNvPr>
          <p:cNvSpPr txBox="1"/>
          <p:nvPr/>
        </p:nvSpPr>
        <p:spPr>
          <a:xfrm>
            <a:off x="2651760" y="1865376"/>
            <a:ext cx="585216" cy="585216"/>
          </a:xfrm>
          <a:prstGeom prst="roundRect">
            <a:avLst>
              <a:gd name="adj" fmla="val 50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2</a:t>
            </a:r>
            <a:endParaRPr lang="en-US" sz="2400" dirty="0"/>
          </a:p>
        </p:txBody>
      </p:sp>
      <p:sp>
        <p:nvSpPr>
          <p:cNvPr id="10" name="Text 8"/>
          <p:cNvSpPr txBox="1"/>
          <p:nvPr/>
        </p:nvSpPr>
        <p:spPr>
          <a:xfrm>
            <a:off x="3438144" y="1865376"/>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11" name="Text 9"/>
          <p:cNvSpPr txBox="1"/>
          <p:nvPr/>
        </p:nvSpPr>
        <p:spPr>
          <a:xfrm>
            <a:off x="4078224" y="1865376"/>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12" name="Text 10"/>
          <p:cNvSpPr txBox="1"/>
          <p:nvPr/>
        </p:nvSpPr>
        <p:spPr>
          <a:xfrm>
            <a:off x="4718304" y="1865376"/>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13" name="Text 11"/>
          <p:cNvSpPr txBox="1"/>
          <p:nvPr/>
        </p:nvSpPr>
        <p:spPr>
          <a:xfrm>
            <a:off x="5358384" y="1865376"/>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14" name="Text 12"/>
          <p:cNvSpPr txBox="1"/>
          <p:nvPr/>
        </p:nvSpPr>
        <p:spPr>
          <a:xfrm>
            <a:off x="5998464" y="1865376"/>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15" name="Text 13"/>
          <p:cNvSpPr txBox="1"/>
          <p:nvPr/>
        </p:nvSpPr>
        <p:spPr>
          <a:xfrm>
            <a:off x="6638544" y="1865376"/>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16" name="Text 14"/>
          <p:cNvSpPr txBox="1"/>
          <p:nvPr/>
        </p:nvSpPr>
        <p:spPr>
          <a:xfrm>
            <a:off x="8558784" y="1865376"/>
            <a:ext cx="1828800" cy="585216"/>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6 chữ cái</a:t>
            </a:r>
            <a:endParaRPr lang="en-US" sz="1400" dirty="0"/>
          </a:p>
        </p:txBody>
      </p:sp>
      <p:sp>
        <p:nvSpPr>
          <p:cNvPr id="17" name="Text 15">
            <a:hlinkClick r:id="rId3" tooltip="Xem gợi ý hàng 3" action="ppaction://hlinksldjump"/>
          </p:cNvPr>
          <p:cNvSpPr txBox="1"/>
          <p:nvPr/>
        </p:nvSpPr>
        <p:spPr>
          <a:xfrm>
            <a:off x="2651760" y="2542032"/>
            <a:ext cx="585216" cy="585216"/>
          </a:xfrm>
          <a:prstGeom prst="roundRect">
            <a:avLst>
              <a:gd name="adj" fmla="val 50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3</a:t>
            </a:r>
            <a:endParaRPr lang="en-US" sz="2400" dirty="0"/>
          </a:p>
        </p:txBody>
      </p:sp>
      <p:sp>
        <p:nvSpPr>
          <p:cNvPr id="18" name="Text 16"/>
          <p:cNvSpPr txBox="1"/>
          <p:nvPr/>
        </p:nvSpPr>
        <p:spPr>
          <a:xfrm>
            <a:off x="3438144" y="2542032"/>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19" name="Text 17"/>
          <p:cNvSpPr txBox="1"/>
          <p:nvPr/>
        </p:nvSpPr>
        <p:spPr>
          <a:xfrm>
            <a:off x="4078224" y="2542032"/>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20" name="Text 18"/>
          <p:cNvSpPr txBox="1"/>
          <p:nvPr/>
        </p:nvSpPr>
        <p:spPr>
          <a:xfrm>
            <a:off x="4718304" y="2542032"/>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21" name="Text 19"/>
          <p:cNvSpPr txBox="1"/>
          <p:nvPr/>
        </p:nvSpPr>
        <p:spPr>
          <a:xfrm>
            <a:off x="5358384" y="2542032"/>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22" name="Text 20"/>
          <p:cNvSpPr txBox="1"/>
          <p:nvPr/>
        </p:nvSpPr>
        <p:spPr>
          <a:xfrm>
            <a:off x="8558784" y="2542032"/>
            <a:ext cx="1828800" cy="585216"/>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4 chữ cái</a:t>
            </a:r>
            <a:endParaRPr lang="en-US" sz="1400" dirty="0"/>
          </a:p>
        </p:txBody>
      </p:sp>
      <p:sp>
        <p:nvSpPr>
          <p:cNvPr id="23" name="Text 21">
            <a:hlinkClick r:id="rId4" tooltip="Xem gợi ý hàng 4" action="ppaction://hlinksldjump"/>
          </p:cNvPr>
          <p:cNvSpPr txBox="1"/>
          <p:nvPr/>
        </p:nvSpPr>
        <p:spPr>
          <a:xfrm>
            <a:off x="2651760" y="3218688"/>
            <a:ext cx="585216" cy="585216"/>
          </a:xfrm>
          <a:prstGeom prst="roundRect">
            <a:avLst>
              <a:gd name="adj" fmla="val 50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4</a:t>
            </a:r>
            <a:endParaRPr lang="en-US" sz="2400" dirty="0"/>
          </a:p>
        </p:txBody>
      </p:sp>
      <p:sp>
        <p:nvSpPr>
          <p:cNvPr id="24" name="Text 22"/>
          <p:cNvSpPr txBox="1"/>
          <p:nvPr/>
        </p:nvSpPr>
        <p:spPr>
          <a:xfrm>
            <a:off x="3438144" y="3218688"/>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25" name="Text 23"/>
          <p:cNvSpPr txBox="1"/>
          <p:nvPr/>
        </p:nvSpPr>
        <p:spPr>
          <a:xfrm>
            <a:off x="4078224" y="3218688"/>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26" name="Text 24"/>
          <p:cNvSpPr txBox="1"/>
          <p:nvPr/>
        </p:nvSpPr>
        <p:spPr>
          <a:xfrm>
            <a:off x="4718304" y="3218688"/>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27" name="Text 25"/>
          <p:cNvSpPr txBox="1"/>
          <p:nvPr/>
        </p:nvSpPr>
        <p:spPr>
          <a:xfrm>
            <a:off x="5358384" y="3218688"/>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28" name="Text 26"/>
          <p:cNvSpPr txBox="1"/>
          <p:nvPr/>
        </p:nvSpPr>
        <p:spPr>
          <a:xfrm>
            <a:off x="5998464" y="3218688"/>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29" name="Text 27"/>
          <p:cNvSpPr txBox="1"/>
          <p:nvPr/>
        </p:nvSpPr>
        <p:spPr>
          <a:xfrm>
            <a:off x="6638544" y="3218688"/>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30" name="Text 28"/>
          <p:cNvSpPr txBox="1"/>
          <p:nvPr/>
        </p:nvSpPr>
        <p:spPr>
          <a:xfrm>
            <a:off x="7278624" y="3218688"/>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31" name="Text 29"/>
          <p:cNvSpPr txBox="1"/>
          <p:nvPr/>
        </p:nvSpPr>
        <p:spPr>
          <a:xfrm>
            <a:off x="8558784" y="3218688"/>
            <a:ext cx="1828800" cy="585216"/>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7 chữ cái</a:t>
            </a:r>
            <a:endParaRPr lang="en-US" sz="1400" dirty="0"/>
          </a:p>
        </p:txBody>
      </p:sp>
      <p:sp>
        <p:nvSpPr>
          <p:cNvPr id="32" name="Text 30">
            <a:hlinkClick r:id="rId5" tooltip="Xem gợi ý hàng 5" action="ppaction://hlinksldjump"/>
          </p:cNvPr>
          <p:cNvSpPr txBox="1"/>
          <p:nvPr/>
        </p:nvSpPr>
        <p:spPr>
          <a:xfrm>
            <a:off x="2651760" y="3895344"/>
            <a:ext cx="585216" cy="585216"/>
          </a:xfrm>
          <a:prstGeom prst="roundRect">
            <a:avLst>
              <a:gd name="adj" fmla="val 50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5</a:t>
            </a:r>
            <a:endParaRPr lang="en-US" sz="2400" dirty="0"/>
          </a:p>
        </p:txBody>
      </p:sp>
      <p:sp>
        <p:nvSpPr>
          <p:cNvPr id="33" name="Text 31"/>
          <p:cNvSpPr txBox="1"/>
          <p:nvPr/>
        </p:nvSpPr>
        <p:spPr>
          <a:xfrm>
            <a:off x="3438144" y="3895344"/>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34" name="Text 32"/>
          <p:cNvSpPr txBox="1"/>
          <p:nvPr/>
        </p:nvSpPr>
        <p:spPr>
          <a:xfrm>
            <a:off x="4078224" y="3895344"/>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35" name="Text 33"/>
          <p:cNvSpPr txBox="1"/>
          <p:nvPr/>
        </p:nvSpPr>
        <p:spPr>
          <a:xfrm>
            <a:off x="4718304" y="3895344"/>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36" name="Text 34"/>
          <p:cNvSpPr txBox="1"/>
          <p:nvPr/>
        </p:nvSpPr>
        <p:spPr>
          <a:xfrm>
            <a:off x="5358384" y="3895344"/>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37" name="Text 35"/>
          <p:cNvSpPr txBox="1"/>
          <p:nvPr/>
        </p:nvSpPr>
        <p:spPr>
          <a:xfrm>
            <a:off x="5998464" y="3895344"/>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38" name="Text 36"/>
          <p:cNvSpPr txBox="1"/>
          <p:nvPr/>
        </p:nvSpPr>
        <p:spPr>
          <a:xfrm>
            <a:off x="8558784" y="3895344"/>
            <a:ext cx="1828800" cy="585216"/>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5 chữ cái</a:t>
            </a:r>
            <a:endParaRPr lang="en-US" sz="1400" dirty="0"/>
          </a:p>
        </p:txBody>
      </p:sp>
      <p:sp>
        <p:nvSpPr>
          <p:cNvPr id="39" name="Text 37">
            <a:hlinkClick r:id="rId6" tooltip="Xem gợi ý hàng 6" action="ppaction://hlinksldjump"/>
          </p:cNvPr>
          <p:cNvSpPr txBox="1"/>
          <p:nvPr/>
        </p:nvSpPr>
        <p:spPr>
          <a:xfrm>
            <a:off x="2651760" y="4572000"/>
            <a:ext cx="585216" cy="585216"/>
          </a:xfrm>
          <a:prstGeom prst="roundRect">
            <a:avLst>
              <a:gd name="adj" fmla="val 50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6</a:t>
            </a:r>
            <a:endParaRPr lang="en-US" sz="2400" dirty="0"/>
          </a:p>
        </p:txBody>
      </p:sp>
      <p:sp>
        <p:nvSpPr>
          <p:cNvPr id="40" name="Text 38"/>
          <p:cNvSpPr txBox="1"/>
          <p:nvPr/>
        </p:nvSpPr>
        <p:spPr>
          <a:xfrm>
            <a:off x="3438144" y="4572000"/>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41" name="Text 39"/>
          <p:cNvSpPr txBox="1"/>
          <p:nvPr/>
        </p:nvSpPr>
        <p:spPr>
          <a:xfrm>
            <a:off x="4078224" y="4572000"/>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42" name="Text 40"/>
          <p:cNvSpPr txBox="1"/>
          <p:nvPr/>
        </p:nvSpPr>
        <p:spPr>
          <a:xfrm>
            <a:off x="4718304" y="4572000"/>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43" name="Text 41"/>
          <p:cNvSpPr txBox="1"/>
          <p:nvPr/>
        </p:nvSpPr>
        <p:spPr>
          <a:xfrm>
            <a:off x="8558784" y="4572000"/>
            <a:ext cx="1828800" cy="585216"/>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3 chữ cái</a:t>
            </a:r>
            <a:endParaRPr lang="en-US" sz="1400" dirty="0"/>
          </a:p>
        </p:txBody>
      </p:sp>
      <p:sp>
        <p:nvSpPr>
          <p:cNvPr id="44" name="Text 42">
            <a:hlinkClick r:id="rId7" tooltip="Xem gợi ý hàng 7" action="ppaction://hlinksldjump"/>
          </p:cNvPr>
          <p:cNvSpPr txBox="1"/>
          <p:nvPr/>
        </p:nvSpPr>
        <p:spPr>
          <a:xfrm>
            <a:off x="2651760" y="5248656"/>
            <a:ext cx="585216" cy="585216"/>
          </a:xfrm>
          <a:prstGeom prst="roundRect">
            <a:avLst>
              <a:gd name="adj" fmla="val 50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7</a:t>
            </a:r>
            <a:endParaRPr lang="en-US" sz="2400" dirty="0"/>
          </a:p>
        </p:txBody>
      </p:sp>
      <p:sp>
        <p:nvSpPr>
          <p:cNvPr id="45" name="Text 43"/>
          <p:cNvSpPr txBox="1"/>
          <p:nvPr/>
        </p:nvSpPr>
        <p:spPr>
          <a:xfrm>
            <a:off x="3438144" y="5248656"/>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46" name="Text 44"/>
          <p:cNvSpPr txBox="1"/>
          <p:nvPr/>
        </p:nvSpPr>
        <p:spPr>
          <a:xfrm>
            <a:off x="4078224" y="5248656"/>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47" name="Text 45"/>
          <p:cNvSpPr txBox="1"/>
          <p:nvPr/>
        </p:nvSpPr>
        <p:spPr>
          <a:xfrm>
            <a:off x="4718304" y="5248656"/>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48" name="Text 46"/>
          <p:cNvSpPr txBox="1"/>
          <p:nvPr/>
        </p:nvSpPr>
        <p:spPr>
          <a:xfrm>
            <a:off x="5358384" y="5248656"/>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49" name="Text 47"/>
          <p:cNvSpPr txBox="1"/>
          <p:nvPr/>
        </p:nvSpPr>
        <p:spPr>
          <a:xfrm>
            <a:off x="5998464" y="5248656"/>
            <a:ext cx="585216" cy="585216"/>
          </a:xfrm>
          <a:prstGeom prst="roundRect">
            <a:avLst>
              <a:gd name="adj" fmla="val 9375"/>
            </a:avLst>
          </a:prstGeom>
          <a:solidFill>
            <a:srgbClr val="FFFFFF"/>
          </a:solidFill>
          <a:ln w="25400">
            <a:solidFill>
              <a:srgbClr val="F9C74F"/>
            </a:solidFill>
          </a:ln>
        </p:spPr>
        <p:txBody>
          <a:bodyPr wrap="square" lIns="0" tIns="0" rIns="0" bIns="0" rtlCol="0" anchor="ctr"/>
          <a:lstStyle/>
          <a:p>
            <a:pPr algn="ctr" indent="0" marL="0">
              <a:buNone/>
            </a:pPr>
            <a:endParaRPr lang="en-US" sz="2600" dirty="0"/>
          </a:p>
        </p:txBody>
      </p:sp>
      <p:sp>
        <p:nvSpPr>
          <p:cNvPr id="50" name="Text 48"/>
          <p:cNvSpPr txBox="1"/>
          <p:nvPr/>
        </p:nvSpPr>
        <p:spPr>
          <a:xfrm>
            <a:off x="8558784" y="5248656"/>
            <a:ext cx="1828800" cy="585216"/>
          </a:xfrm>
          <a:prstGeom prst="rect">
            <a:avLst/>
          </a:prstGeom>
          <a:noFill/>
          <a:ln/>
        </p:spPr>
        <p:txBody>
          <a:bodyPr wrap="square" lIns="0" tIns="0" rIns="0" bIns="0" rtlCol="0" anchor="ctr"/>
          <a:lstStyle/>
          <a:p>
            <a:pPr indent="0" marL="0">
              <a:buNone/>
            </a:pPr>
            <a:r>
              <a:rPr lang="en-US" sz="1400" dirty="0">
                <a:solidFill>
                  <a:srgbClr val="CBD5E1"/>
                </a:solidFill>
                <a:latin typeface="Arial" pitchFamily="34" charset="0"/>
                <a:ea typeface="Arial" pitchFamily="34" charset="-122"/>
                <a:cs typeface="Arial" pitchFamily="34" charset="-120"/>
              </a:rPr>
              <a:t>5 chữ cái</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9C74F"/>
                </a:solidFill>
                <a:latin typeface="Arial" pitchFamily="34" charset="0"/>
                <a:ea typeface="Arial" pitchFamily="34" charset="-122"/>
                <a:cs typeface="Arial" pitchFamily="34" charset="-120"/>
              </a:rPr>
              <a:t>Hàng ngang số 1 · 4 chữ cái</a:t>
            </a:r>
            <a:endParaRPr lang="en-US" sz="2200" dirty="0"/>
          </a:p>
        </p:txBody>
      </p:sp>
      <p:sp>
        <p:nvSpPr>
          <p:cNvPr id="3" name="Text 1"/>
          <p:cNvSpPr txBox="1"/>
          <p:nvPr/>
        </p:nvSpPr>
        <p:spPr>
          <a:xfrm>
            <a:off x="640080" y="1097280"/>
            <a:ext cx="10911535" cy="2194560"/>
          </a:xfrm>
          <a:prstGeom prst="roundRect">
            <a:avLst>
              <a:gd name="adj" fmla="val 8333"/>
            </a:avLst>
          </a:prstGeom>
          <a:solidFill>
            <a:srgbClr val="FFFFFF"/>
          </a:solidFill>
          <a:ln/>
        </p:spPr>
        <p:txBody>
          <a:bodyPr wrap="square" lIns="3810" tIns="3810" rIns="3810" bIns="3810"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Chất lỏng trong suốt, con người và cây cối đều cần để sống.</a:t>
            </a:r>
            <a:endParaRPr lang="en-US" sz="3200" dirty="0"/>
          </a:p>
        </p:txBody>
      </p:sp>
      <p:sp>
        <p:nvSpPr>
          <p:cNvPr id="4" name="Text 2"/>
          <p:cNvSpPr txBox="1"/>
          <p:nvPr/>
        </p:nvSpPr>
        <p:spPr>
          <a:xfrm>
            <a:off x="4340200"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5" name="Text 3"/>
          <p:cNvSpPr txBox="1"/>
          <p:nvPr/>
        </p:nvSpPr>
        <p:spPr>
          <a:xfrm>
            <a:off x="5218024"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6" name="Text 4"/>
          <p:cNvSpPr txBox="1"/>
          <p:nvPr/>
        </p:nvSpPr>
        <p:spPr>
          <a:xfrm>
            <a:off x="6095848"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7" name="Text 5"/>
          <p:cNvSpPr txBox="1"/>
          <p:nvPr/>
        </p:nvSpPr>
        <p:spPr>
          <a:xfrm>
            <a:off x="6973672"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8" name="Text 6">
            <a:hlinkClick r:id="rId1" tooltip="Bấm để chọn" action="ppaction://hlinksldjump"/>
          </p:cNvPr>
          <p:cNvSpPr txBox="1"/>
          <p:nvPr/>
        </p:nvSpPr>
        <p:spPr>
          <a:xfrm>
            <a:off x="2103120" y="5212080"/>
            <a:ext cx="3474720" cy="868680"/>
          </a:xfrm>
          <a:prstGeom prst="roundRect">
            <a:avLst>
              <a:gd name="adj" fmla="val 18947"/>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Xem đáp án</a:t>
            </a:r>
            <a:endParaRPr lang="en-US" sz="2400" dirty="0"/>
          </a:p>
        </p:txBody>
      </p:sp>
      <p:sp>
        <p:nvSpPr>
          <p:cNvPr id="9" name="Text 7">
            <a:hlinkClick r:id="rId2" tooltip="Bấm để chọn" action="ppaction://hlinksldjump"/>
          </p:cNvPr>
          <p:cNvSpPr txBox="1"/>
          <p:nvPr/>
        </p:nvSpPr>
        <p:spPr>
          <a:xfrm>
            <a:off x="6583680" y="5212080"/>
            <a:ext cx="3474720" cy="868680"/>
          </a:xfrm>
          <a:prstGeom prst="roundRect">
            <a:avLst>
              <a:gd name="adj" fmla="val 18947"/>
            </a:avLst>
          </a:prstGeom>
          <a:solidFill>
            <a:srgbClr val="3F3D8F"/>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9C74F"/>
                </a:solidFill>
                <a:latin typeface="Arial" pitchFamily="34" charset="0"/>
                <a:ea typeface="Arial" pitchFamily="34" charset="-122"/>
                <a:cs typeface="Arial" pitchFamily="34" charset="-120"/>
              </a:rPr>
              <a:t>Hàng ngang số 1: đáp án</a:t>
            </a:r>
            <a:endParaRPr lang="en-US" sz="2200" dirty="0"/>
          </a:p>
        </p:txBody>
      </p:sp>
      <p:sp>
        <p:nvSpPr>
          <p:cNvPr id="3" name="Text 1"/>
          <p:cNvSpPr txBox="1"/>
          <p:nvPr/>
        </p:nvSpPr>
        <p:spPr>
          <a:xfrm>
            <a:off x="0" y="914400"/>
            <a:ext cx="12191695" cy="1737360"/>
          </a:xfrm>
          <a:prstGeom prst="rect">
            <a:avLst/>
          </a:prstGeom>
          <a:noFill/>
          <a:ln/>
        </p:spPr>
        <p:txBody>
          <a:bodyPr wrap="square" rtlCol="0" anchor="ctr"/>
          <a:lstStyle/>
          <a:p>
            <a:pPr algn="ctr" indent="0" marL="0">
              <a:buNone/>
            </a:pPr>
            <a:r>
              <a:rPr lang="en-US" sz="9000" dirty="0">
                <a:solidFill>
                  <a:srgbClr val="000000"/>
                </a:solidFill>
                <a:latin typeface="Arial" pitchFamily="34" charset="0"/>
                <a:ea typeface="Arial" pitchFamily="34" charset="-122"/>
                <a:cs typeface="Arial" pitchFamily="34" charset="-120"/>
              </a:rPr>
              <a:t>🎉</a:t>
            </a:r>
            <a:endParaRPr lang="en-US" sz="9000" dirty="0"/>
          </a:p>
        </p:txBody>
      </p:sp>
      <p:sp>
        <p:nvSpPr>
          <p:cNvPr id="4" name="Text 2"/>
          <p:cNvSpPr txBox="1"/>
          <p:nvPr/>
        </p:nvSpPr>
        <p:spPr>
          <a:xfrm>
            <a:off x="4340200"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N</a:t>
            </a:r>
            <a:endParaRPr lang="en-US" sz="3600" dirty="0"/>
          </a:p>
        </p:txBody>
      </p:sp>
      <p:sp>
        <p:nvSpPr>
          <p:cNvPr id="5" name="Text 3"/>
          <p:cNvSpPr txBox="1"/>
          <p:nvPr/>
        </p:nvSpPr>
        <p:spPr>
          <a:xfrm>
            <a:off x="5218024"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Ư</a:t>
            </a:r>
            <a:endParaRPr lang="en-US" sz="3600" dirty="0"/>
          </a:p>
        </p:txBody>
      </p:sp>
      <p:sp>
        <p:nvSpPr>
          <p:cNvPr id="6" name="Text 4"/>
          <p:cNvSpPr txBox="1"/>
          <p:nvPr/>
        </p:nvSpPr>
        <p:spPr>
          <a:xfrm>
            <a:off x="6095848"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Ớ</a:t>
            </a:r>
            <a:endParaRPr lang="en-US" sz="3600" dirty="0"/>
          </a:p>
        </p:txBody>
      </p:sp>
      <p:sp>
        <p:nvSpPr>
          <p:cNvPr id="7" name="Text 5"/>
          <p:cNvSpPr txBox="1"/>
          <p:nvPr/>
        </p:nvSpPr>
        <p:spPr>
          <a:xfrm>
            <a:off x="6973672"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C</a:t>
            </a:r>
            <a:endParaRPr lang="en-US" sz="3600" dirty="0"/>
          </a:p>
        </p:txBody>
      </p:sp>
      <p:sp>
        <p:nvSpPr>
          <p:cNvPr id="8" name="Text 6">
            <a:hlinkClick r:id="rId1" tooltip="Bấm để chọn" action="ppaction://hlinksldjump"/>
          </p:cNvPr>
          <p:cNvSpPr txBox="1"/>
          <p:nvPr/>
        </p:nvSpPr>
        <p:spPr>
          <a:xfrm>
            <a:off x="4358488" y="4754880"/>
            <a:ext cx="3474720" cy="868680"/>
          </a:xfrm>
          <a:prstGeom prst="roundRect">
            <a:avLst>
              <a:gd name="adj" fmla="val 18947"/>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9C74F"/>
                </a:solidFill>
                <a:latin typeface="Arial" pitchFamily="34" charset="0"/>
                <a:ea typeface="Arial" pitchFamily="34" charset="-122"/>
                <a:cs typeface="Arial" pitchFamily="34" charset="-120"/>
              </a:rPr>
              <a:t>Hàng ngang số 2 · 6 chữ cái</a:t>
            </a:r>
            <a:endParaRPr lang="en-US" sz="2200" dirty="0"/>
          </a:p>
        </p:txBody>
      </p:sp>
      <p:sp>
        <p:nvSpPr>
          <p:cNvPr id="3" name="Text 1"/>
          <p:cNvSpPr txBox="1"/>
          <p:nvPr/>
        </p:nvSpPr>
        <p:spPr>
          <a:xfrm>
            <a:off x="640080" y="1097280"/>
            <a:ext cx="10911535" cy="2194560"/>
          </a:xfrm>
          <a:prstGeom prst="roundRect">
            <a:avLst>
              <a:gd name="adj" fmla="val 8333"/>
            </a:avLst>
          </a:prstGeom>
          <a:solidFill>
            <a:srgbClr val="FFFFFF"/>
          </a:solidFill>
          <a:ln/>
        </p:spPr>
        <p:txBody>
          <a:bodyPr wrap="square" lIns="3810" tIns="3810" rIns="3810" bIns="3810"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Dụng cụ học sinh dùng để viết, có thể tẩy được bằng cục gôm.</a:t>
            </a:r>
            <a:endParaRPr lang="en-US" sz="3200" dirty="0"/>
          </a:p>
        </p:txBody>
      </p:sp>
      <p:sp>
        <p:nvSpPr>
          <p:cNvPr id="4" name="Text 2"/>
          <p:cNvSpPr txBox="1"/>
          <p:nvPr/>
        </p:nvSpPr>
        <p:spPr>
          <a:xfrm>
            <a:off x="3462376"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5" name="Text 3"/>
          <p:cNvSpPr txBox="1"/>
          <p:nvPr/>
        </p:nvSpPr>
        <p:spPr>
          <a:xfrm>
            <a:off x="4340200"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6" name="Text 4"/>
          <p:cNvSpPr txBox="1"/>
          <p:nvPr/>
        </p:nvSpPr>
        <p:spPr>
          <a:xfrm>
            <a:off x="5218024"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7" name="Text 5"/>
          <p:cNvSpPr txBox="1"/>
          <p:nvPr/>
        </p:nvSpPr>
        <p:spPr>
          <a:xfrm>
            <a:off x="6095848"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8" name="Text 6"/>
          <p:cNvSpPr txBox="1"/>
          <p:nvPr/>
        </p:nvSpPr>
        <p:spPr>
          <a:xfrm>
            <a:off x="6973672"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9" name="Text 7"/>
          <p:cNvSpPr txBox="1"/>
          <p:nvPr/>
        </p:nvSpPr>
        <p:spPr>
          <a:xfrm>
            <a:off x="7851496"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10" name="Text 8">
            <a:hlinkClick r:id="rId1" tooltip="Bấm để chọn" action="ppaction://hlinksldjump"/>
          </p:cNvPr>
          <p:cNvSpPr txBox="1"/>
          <p:nvPr/>
        </p:nvSpPr>
        <p:spPr>
          <a:xfrm>
            <a:off x="2103120" y="5212080"/>
            <a:ext cx="3474720" cy="868680"/>
          </a:xfrm>
          <a:prstGeom prst="roundRect">
            <a:avLst>
              <a:gd name="adj" fmla="val 18947"/>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Xem đáp án</a:t>
            </a:r>
            <a:endParaRPr lang="en-US" sz="2400" dirty="0"/>
          </a:p>
        </p:txBody>
      </p:sp>
      <p:sp>
        <p:nvSpPr>
          <p:cNvPr id="11" name="Text 9">
            <a:hlinkClick r:id="rId2" tooltip="Bấm để chọn" action="ppaction://hlinksldjump"/>
          </p:cNvPr>
          <p:cNvSpPr txBox="1"/>
          <p:nvPr/>
        </p:nvSpPr>
        <p:spPr>
          <a:xfrm>
            <a:off x="6583680" y="5212080"/>
            <a:ext cx="3474720" cy="868680"/>
          </a:xfrm>
          <a:prstGeom prst="roundRect">
            <a:avLst>
              <a:gd name="adj" fmla="val 18947"/>
            </a:avLst>
          </a:prstGeom>
          <a:solidFill>
            <a:srgbClr val="3F3D8F"/>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9C74F"/>
                </a:solidFill>
                <a:latin typeface="Arial" pitchFamily="34" charset="0"/>
                <a:ea typeface="Arial" pitchFamily="34" charset="-122"/>
                <a:cs typeface="Arial" pitchFamily="34" charset="-120"/>
              </a:rPr>
              <a:t>Hàng ngang số 2: đáp án</a:t>
            </a:r>
            <a:endParaRPr lang="en-US" sz="2200" dirty="0"/>
          </a:p>
        </p:txBody>
      </p:sp>
      <p:sp>
        <p:nvSpPr>
          <p:cNvPr id="3" name="Text 1"/>
          <p:cNvSpPr txBox="1"/>
          <p:nvPr/>
        </p:nvSpPr>
        <p:spPr>
          <a:xfrm>
            <a:off x="0" y="914400"/>
            <a:ext cx="12191695" cy="1737360"/>
          </a:xfrm>
          <a:prstGeom prst="rect">
            <a:avLst/>
          </a:prstGeom>
          <a:noFill/>
          <a:ln/>
        </p:spPr>
        <p:txBody>
          <a:bodyPr wrap="square" rtlCol="0" anchor="ctr"/>
          <a:lstStyle/>
          <a:p>
            <a:pPr algn="ctr" indent="0" marL="0">
              <a:buNone/>
            </a:pPr>
            <a:r>
              <a:rPr lang="en-US" sz="9000" dirty="0">
                <a:solidFill>
                  <a:srgbClr val="000000"/>
                </a:solidFill>
                <a:latin typeface="Arial" pitchFamily="34" charset="0"/>
                <a:ea typeface="Arial" pitchFamily="34" charset="-122"/>
                <a:cs typeface="Arial" pitchFamily="34" charset="-120"/>
              </a:rPr>
              <a:t>🎉</a:t>
            </a:r>
            <a:endParaRPr lang="en-US" sz="9000" dirty="0"/>
          </a:p>
        </p:txBody>
      </p:sp>
      <p:sp>
        <p:nvSpPr>
          <p:cNvPr id="4" name="Text 2"/>
          <p:cNvSpPr txBox="1"/>
          <p:nvPr/>
        </p:nvSpPr>
        <p:spPr>
          <a:xfrm>
            <a:off x="3462376"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B</a:t>
            </a:r>
            <a:endParaRPr lang="en-US" sz="3600" dirty="0"/>
          </a:p>
        </p:txBody>
      </p:sp>
      <p:sp>
        <p:nvSpPr>
          <p:cNvPr id="5" name="Text 3"/>
          <p:cNvSpPr txBox="1"/>
          <p:nvPr/>
        </p:nvSpPr>
        <p:spPr>
          <a:xfrm>
            <a:off x="4340200"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Ú</a:t>
            </a:r>
            <a:endParaRPr lang="en-US" sz="3600" dirty="0"/>
          </a:p>
        </p:txBody>
      </p:sp>
      <p:sp>
        <p:nvSpPr>
          <p:cNvPr id="6" name="Text 4"/>
          <p:cNvSpPr txBox="1"/>
          <p:nvPr/>
        </p:nvSpPr>
        <p:spPr>
          <a:xfrm>
            <a:off x="5218024"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T</a:t>
            </a:r>
            <a:endParaRPr lang="en-US" sz="3600" dirty="0"/>
          </a:p>
        </p:txBody>
      </p:sp>
      <p:sp>
        <p:nvSpPr>
          <p:cNvPr id="7" name="Text 5"/>
          <p:cNvSpPr txBox="1"/>
          <p:nvPr/>
        </p:nvSpPr>
        <p:spPr>
          <a:xfrm>
            <a:off x="6095848"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C</a:t>
            </a:r>
            <a:endParaRPr lang="en-US" sz="3600" dirty="0"/>
          </a:p>
        </p:txBody>
      </p:sp>
      <p:sp>
        <p:nvSpPr>
          <p:cNvPr id="8" name="Text 6"/>
          <p:cNvSpPr txBox="1"/>
          <p:nvPr/>
        </p:nvSpPr>
        <p:spPr>
          <a:xfrm>
            <a:off x="6973672"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H</a:t>
            </a:r>
            <a:endParaRPr lang="en-US" sz="3600" dirty="0"/>
          </a:p>
        </p:txBody>
      </p:sp>
      <p:sp>
        <p:nvSpPr>
          <p:cNvPr id="9" name="Text 7"/>
          <p:cNvSpPr txBox="1"/>
          <p:nvPr/>
        </p:nvSpPr>
        <p:spPr>
          <a:xfrm>
            <a:off x="7851496"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Ì</a:t>
            </a:r>
            <a:endParaRPr lang="en-US" sz="3600" dirty="0"/>
          </a:p>
        </p:txBody>
      </p:sp>
      <p:sp>
        <p:nvSpPr>
          <p:cNvPr id="10" name="Text 8">
            <a:hlinkClick r:id="rId1" tooltip="Bấm để chọn" action="ppaction://hlinksldjump"/>
          </p:cNvPr>
          <p:cNvSpPr txBox="1"/>
          <p:nvPr/>
        </p:nvSpPr>
        <p:spPr>
          <a:xfrm>
            <a:off x="4358488" y="4754880"/>
            <a:ext cx="3474720" cy="868680"/>
          </a:xfrm>
          <a:prstGeom prst="roundRect">
            <a:avLst>
              <a:gd name="adj" fmla="val 18947"/>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9C74F"/>
                </a:solidFill>
                <a:latin typeface="Arial" pitchFamily="34" charset="0"/>
                <a:ea typeface="Arial" pitchFamily="34" charset="-122"/>
                <a:cs typeface="Arial" pitchFamily="34" charset="-120"/>
              </a:rPr>
              <a:t>Hàng ngang số 3 · 4 chữ cái</a:t>
            </a:r>
            <a:endParaRPr lang="en-US" sz="2200" dirty="0"/>
          </a:p>
        </p:txBody>
      </p:sp>
      <p:sp>
        <p:nvSpPr>
          <p:cNvPr id="3" name="Text 1"/>
          <p:cNvSpPr txBox="1"/>
          <p:nvPr/>
        </p:nvSpPr>
        <p:spPr>
          <a:xfrm>
            <a:off x="640080" y="1097280"/>
            <a:ext cx="10911535" cy="2194560"/>
          </a:xfrm>
          <a:prstGeom prst="roundRect">
            <a:avLst>
              <a:gd name="adj" fmla="val 8333"/>
            </a:avLst>
          </a:prstGeom>
          <a:solidFill>
            <a:srgbClr val="FFFFFF"/>
          </a:solidFill>
          <a:ln/>
        </p:spPr>
        <p:txBody>
          <a:bodyPr wrap="square" lIns="3810" tIns="3810" rIns="3810" bIns="3810"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Người bạn của học sinh, có nhiều trang chữ và tranh vẽ.</a:t>
            </a:r>
            <a:endParaRPr lang="en-US" sz="3200" dirty="0"/>
          </a:p>
        </p:txBody>
      </p:sp>
      <p:sp>
        <p:nvSpPr>
          <p:cNvPr id="4" name="Text 2"/>
          <p:cNvSpPr txBox="1"/>
          <p:nvPr/>
        </p:nvSpPr>
        <p:spPr>
          <a:xfrm>
            <a:off x="4340200"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5" name="Text 3"/>
          <p:cNvSpPr txBox="1"/>
          <p:nvPr/>
        </p:nvSpPr>
        <p:spPr>
          <a:xfrm>
            <a:off x="5218024"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6" name="Text 4"/>
          <p:cNvSpPr txBox="1"/>
          <p:nvPr/>
        </p:nvSpPr>
        <p:spPr>
          <a:xfrm>
            <a:off x="6095848"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7" name="Text 5"/>
          <p:cNvSpPr txBox="1"/>
          <p:nvPr/>
        </p:nvSpPr>
        <p:spPr>
          <a:xfrm>
            <a:off x="6973672"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8" name="Text 6">
            <a:hlinkClick r:id="rId1" tooltip="Bấm để chọn" action="ppaction://hlinksldjump"/>
          </p:cNvPr>
          <p:cNvSpPr txBox="1"/>
          <p:nvPr/>
        </p:nvSpPr>
        <p:spPr>
          <a:xfrm>
            <a:off x="2103120" y="5212080"/>
            <a:ext cx="3474720" cy="868680"/>
          </a:xfrm>
          <a:prstGeom prst="roundRect">
            <a:avLst>
              <a:gd name="adj" fmla="val 18947"/>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Xem đáp án</a:t>
            </a:r>
            <a:endParaRPr lang="en-US" sz="2400" dirty="0"/>
          </a:p>
        </p:txBody>
      </p:sp>
      <p:sp>
        <p:nvSpPr>
          <p:cNvPr id="9" name="Text 7">
            <a:hlinkClick r:id="rId2" tooltip="Bấm để chọn" action="ppaction://hlinksldjump"/>
          </p:cNvPr>
          <p:cNvSpPr txBox="1"/>
          <p:nvPr/>
        </p:nvSpPr>
        <p:spPr>
          <a:xfrm>
            <a:off x="6583680" y="5212080"/>
            <a:ext cx="3474720" cy="868680"/>
          </a:xfrm>
          <a:prstGeom prst="roundRect">
            <a:avLst>
              <a:gd name="adj" fmla="val 18947"/>
            </a:avLst>
          </a:prstGeom>
          <a:solidFill>
            <a:srgbClr val="3F3D8F"/>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9C74F"/>
                </a:solidFill>
                <a:latin typeface="Arial" pitchFamily="34" charset="0"/>
                <a:ea typeface="Arial" pitchFamily="34" charset="-122"/>
                <a:cs typeface="Arial" pitchFamily="34" charset="-120"/>
              </a:rPr>
              <a:t>Hàng ngang số 3: đáp án</a:t>
            </a:r>
            <a:endParaRPr lang="en-US" sz="2200" dirty="0"/>
          </a:p>
        </p:txBody>
      </p:sp>
      <p:sp>
        <p:nvSpPr>
          <p:cNvPr id="3" name="Text 1"/>
          <p:cNvSpPr txBox="1"/>
          <p:nvPr/>
        </p:nvSpPr>
        <p:spPr>
          <a:xfrm>
            <a:off x="0" y="914400"/>
            <a:ext cx="12191695" cy="1737360"/>
          </a:xfrm>
          <a:prstGeom prst="rect">
            <a:avLst/>
          </a:prstGeom>
          <a:noFill/>
          <a:ln/>
        </p:spPr>
        <p:txBody>
          <a:bodyPr wrap="square" rtlCol="0" anchor="ctr"/>
          <a:lstStyle/>
          <a:p>
            <a:pPr algn="ctr" indent="0" marL="0">
              <a:buNone/>
            </a:pPr>
            <a:r>
              <a:rPr lang="en-US" sz="9000" dirty="0">
                <a:solidFill>
                  <a:srgbClr val="000000"/>
                </a:solidFill>
                <a:latin typeface="Arial" pitchFamily="34" charset="0"/>
                <a:ea typeface="Arial" pitchFamily="34" charset="-122"/>
                <a:cs typeface="Arial" pitchFamily="34" charset="-120"/>
              </a:rPr>
              <a:t>🎉</a:t>
            </a:r>
            <a:endParaRPr lang="en-US" sz="9000" dirty="0"/>
          </a:p>
        </p:txBody>
      </p:sp>
      <p:sp>
        <p:nvSpPr>
          <p:cNvPr id="4" name="Text 2"/>
          <p:cNvSpPr txBox="1"/>
          <p:nvPr/>
        </p:nvSpPr>
        <p:spPr>
          <a:xfrm>
            <a:off x="4340200"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S</a:t>
            </a:r>
            <a:endParaRPr lang="en-US" sz="3600" dirty="0"/>
          </a:p>
        </p:txBody>
      </p:sp>
      <p:sp>
        <p:nvSpPr>
          <p:cNvPr id="5" name="Text 3"/>
          <p:cNvSpPr txBox="1"/>
          <p:nvPr/>
        </p:nvSpPr>
        <p:spPr>
          <a:xfrm>
            <a:off x="5218024"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Á</a:t>
            </a:r>
            <a:endParaRPr lang="en-US" sz="3600" dirty="0"/>
          </a:p>
        </p:txBody>
      </p:sp>
      <p:sp>
        <p:nvSpPr>
          <p:cNvPr id="6" name="Text 4"/>
          <p:cNvSpPr txBox="1"/>
          <p:nvPr/>
        </p:nvSpPr>
        <p:spPr>
          <a:xfrm>
            <a:off x="6095848"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C</a:t>
            </a:r>
            <a:endParaRPr lang="en-US" sz="3600" dirty="0"/>
          </a:p>
        </p:txBody>
      </p:sp>
      <p:sp>
        <p:nvSpPr>
          <p:cNvPr id="7" name="Text 5"/>
          <p:cNvSpPr txBox="1"/>
          <p:nvPr/>
        </p:nvSpPr>
        <p:spPr>
          <a:xfrm>
            <a:off x="6973672"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H</a:t>
            </a:r>
            <a:endParaRPr lang="en-US" sz="3600" dirty="0"/>
          </a:p>
        </p:txBody>
      </p:sp>
      <p:sp>
        <p:nvSpPr>
          <p:cNvPr id="8" name="Text 6">
            <a:hlinkClick r:id="rId1" tooltip="Bấm để chọn" action="ppaction://hlinksldjump"/>
          </p:cNvPr>
          <p:cNvSpPr txBox="1"/>
          <p:nvPr/>
        </p:nvSpPr>
        <p:spPr>
          <a:xfrm>
            <a:off x="4358488" y="4754880"/>
            <a:ext cx="3474720" cy="868680"/>
          </a:xfrm>
          <a:prstGeom prst="roundRect">
            <a:avLst>
              <a:gd name="adj" fmla="val 18947"/>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9C74F"/>
                </a:solidFill>
                <a:latin typeface="Arial" pitchFamily="34" charset="0"/>
                <a:ea typeface="Arial" pitchFamily="34" charset="-122"/>
                <a:cs typeface="Arial" pitchFamily="34" charset="-120"/>
              </a:rPr>
              <a:t>Hàng ngang số 4 · 7 chữ cái</a:t>
            </a:r>
            <a:endParaRPr lang="en-US" sz="2200" dirty="0"/>
          </a:p>
        </p:txBody>
      </p:sp>
      <p:sp>
        <p:nvSpPr>
          <p:cNvPr id="3" name="Text 1"/>
          <p:cNvSpPr txBox="1"/>
          <p:nvPr/>
        </p:nvSpPr>
        <p:spPr>
          <a:xfrm>
            <a:off x="640080" y="1097280"/>
            <a:ext cx="10911535" cy="2194560"/>
          </a:xfrm>
          <a:prstGeom prst="roundRect">
            <a:avLst>
              <a:gd name="adj" fmla="val 8333"/>
            </a:avLst>
          </a:prstGeom>
          <a:solidFill>
            <a:srgbClr val="FFFFFF"/>
          </a:solidFill>
          <a:ln/>
        </p:spPr>
        <p:txBody>
          <a:bodyPr wrap="square" lIns="3810" tIns="3810" rIns="3810" bIns="3810"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Dải bảy sắc màu xuất hiện trên trời sau cơn mưa.</a:t>
            </a:r>
            <a:endParaRPr lang="en-US" sz="3200" dirty="0"/>
          </a:p>
        </p:txBody>
      </p:sp>
      <p:sp>
        <p:nvSpPr>
          <p:cNvPr id="4" name="Text 2"/>
          <p:cNvSpPr txBox="1"/>
          <p:nvPr/>
        </p:nvSpPr>
        <p:spPr>
          <a:xfrm>
            <a:off x="3023464"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5" name="Text 3"/>
          <p:cNvSpPr txBox="1"/>
          <p:nvPr/>
        </p:nvSpPr>
        <p:spPr>
          <a:xfrm>
            <a:off x="3901288"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6" name="Text 4"/>
          <p:cNvSpPr txBox="1"/>
          <p:nvPr/>
        </p:nvSpPr>
        <p:spPr>
          <a:xfrm>
            <a:off x="4779112"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7" name="Text 5"/>
          <p:cNvSpPr txBox="1"/>
          <p:nvPr/>
        </p:nvSpPr>
        <p:spPr>
          <a:xfrm>
            <a:off x="5656936"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8" name="Text 6"/>
          <p:cNvSpPr txBox="1"/>
          <p:nvPr/>
        </p:nvSpPr>
        <p:spPr>
          <a:xfrm>
            <a:off x="6534760"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9" name="Text 7"/>
          <p:cNvSpPr txBox="1"/>
          <p:nvPr/>
        </p:nvSpPr>
        <p:spPr>
          <a:xfrm>
            <a:off x="7412584"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10" name="Text 8"/>
          <p:cNvSpPr txBox="1"/>
          <p:nvPr/>
        </p:nvSpPr>
        <p:spPr>
          <a:xfrm>
            <a:off x="8290408"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11" name="Text 9">
            <a:hlinkClick r:id="rId1" tooltip="Bấm để chọn" action="ppaction://hlinksldjump"/>
          </p:cNvPr>
          <p:cNvSpPr txBox="1"/>
          <p:nvPr/>
        </p:nvSpPr>
        <p:spPr>
          <a:xfrm>
            <a:off x="2103120" y="5212080"/>
            <a:ext cx="3474720" cy="868680"/>
          </a:xfrm>
          <a:prstGeom prst="roundRect">
            <a:avLst>
              <a:gd name="adj" fmla="val 18947"/>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Xem đáp án</a:t>
            </a:r>
            <a:endParaRPr lang="en-US" sz="2400" dirty="0"/>
          </a:p>
        </p:txBody>
      </p:sp>
      <p:sp>
        <p:nvSpPr>
          <p:cNvPr id="12" name="Text 10">
            <a:hlinkClick r:id="rId2" tooltip="Bấm để chọn" action="ppaction://hlinksldjump"/>
          </p:cNvPr>
          <p:cNvSpPr txBox="1"/>
          <p:nvPr/>
        </p:nvSpPr>
        <p:spPr>
          <a:xfrm>
            <a:off x="6583680" y="5212080"/>
            <a:ext cx="3474720" cy="868680"/>
          </a:xfrm>
          <a:prstGeom prst="roundRect">
            <a:avLst>
              <a:gd name="adj" fmla="val 18947"/>
            </a:avLst>
          </a:prstGeom>
          <a:solidFill>
            <a:srgbClr val="3F3D8F"/>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9C74F"/>
                </a:solidFill>
                <a:latin typeface="Arial" pitchFamily="34" charset="0"/>
                <a:ea typeface="Arial" pitchFamily="34" charset="-122"/>
                <a:cs typeface="Arial" pitchFamily="34" charset="-120"/>
              </a:rPr>
              <a:t>Hàng ngang số 4: đáp án</a:t>
            </a:r>
            <a:endParaRPr lang="en-US" sz="2200" dirty="0"/>
          </a:p>
        </p:txBody>
      </p:sp>
      <p:sp>
        <p:nvSpPr>
          <p:cNvPr id="3" name="Text 1"/>
          <p:cNvSpPr txBox="1"/>
          <p:nvPr/>
        </p:nvSpPr>
        <p:spPr>
          <a:xfrm>
            <a:off x="0" y="914400"/>
            <a:ext cx="12191695" cy="1737360"/>
          </a:xfrm>
          <a:prstGeom prst="rect">
            <a:avLst/>
          </a:prstGeom>
          <a:noFill/>
          <a:ln/>
        </p:spPr>
        <p:txBody>
          <a:bodyPr wrap="square" rtlCol="0" anchor="ctr"/>
          <a:lstStyle/>
          <a:p>
            <a:pPr algn="ctr" indent="0" marL="0">
              <a:buNone/>
            </a:pPr>
            <a:r>
              <a:rPr lang="en-US" sz="9000" dirty="0">
                <a:solidFill>
                  <a:srgbClr val="000000"/>
                </a:solidFill>
                <a:latin typeface="Arial" pitchFamily="34" charset="0"/>
                <a:ea typeface="Arial" pitchFamily="34" charset="-122"/>
                <a:cs typeface="Arial" pitchFamily="34" charset="-120"/>
              </a:rPr>
              <a:t>🎉</a:t>
            </a:r>
            <a:endParaRPr lang="en-US" sz="9000" dirty="0"/>
          </a:p>
        </p:txBody>
      </p:sp>
      <p:sp>
        <p:nvSpPr>
          <p:cNvPr id="4" name="Text 2"/>
          <p:cNvSpPr txBox="1"/>
          <p:nvPr/>
        </p:nvSpPr>
        <p:spPr>
          <a:xfrm>
            <a:off x="3023464"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C</a:t>
            </a:r>
            <a:endParaRPr lang="en-US" sz="3600" dirty="0"/>
          </a:p>
        </p:txBody>
      </p:sp>
      <p:sp>
        <p:nvSpPr>
          <p:cNvPr id="5" name="Text 3"/>
          <p:cNvSpPr txBox="1"/>
          <p:nvPr/>
        </p:nvSpPr>
        <p:spPr>
          <a:xfrm>
            <a:off x="3901288"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Ầ</a:t>
            </a:r>
            <a:endParaRPr lang="en-US" sz="3600" dirty="0"/>
          </a:p>
        </p:txBody>
      </p:sp>
      <p:sp>
        <p:nvSpPr>
          <p:cNvPr id="6" name="Text 4"/>
          <p:cNvSpPr txBox="1"/>
          <p:nvPr/>
        </p:nvSpPr>
        <p:spPr>
          <a:xfrm>
            <a:off x="4779112"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U</a:t>
            </a:r>
            <a:endParaRPr lang="en-US" sz="3600" dirty="0"/>
          </a:p>
        </p:txBody>
      </p:sp>
      <p:sp>
        <p:nvSpPr>
          <p:cNvPr id="7" name="Text 5"/>
          <p:cNvSpPr txBox="1"/>
          <p:nvPr/>
        </p:nvSpPr>
        <p:spPr>
          <a:xfrm>
            <a:off x="5656936"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V</a:t>
            </a:r>
            <a:endParaRPr lang="en-US" sz="3600" dirty="0"/>
          </a:p>
        </p:txBody>
      </p:sp>
      <p:sp>
        <p:nvSpPr>
          <p:cNvPr id="8" name="Text 6"/>
          <p:cNvSpPr txBox="1"/>
          <p:nvPr/>
        </p:nvSpPr>
        <p:spPr>
          <a:xfrm>
            <a:off x="6534760"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Ồ</a:t>
            </a:r>
            <a:endParaRPr lang="en-US" sz="3600" dirty="0"/>
          </a:p>
        </p:txBody>
      </p:sp>
      <p:sp>
        <p:nvSpPr>
          <p:cNvPr id="9" name="Text 7"/>
          <p:cNvSpPr txBox="1"/>
          <p:nvPr/>
        </p:nvSpPr>
        <p:spPr>
          <a:xfrm>
            <a:off x="7412584"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N</a:t>
            </a:r>
            <a:endParaRPr lang="en-US" sz="3600" dirty="0"/>
          </a:p>
        </p:txBody>
      </p:sp>
      <p:sp>
        <p:nvSpPr>
          <p:cNvPr id="10" name="Text 8"/>
          <p:cNvSpPr txBox="1"/>
          <p:nvPr/>
        </p:nvSpPr>
        <p:spPr>
          <a:xfrm>
            <a:off x="8290408"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G</a:t>
            </a:r>
            <a:endParaRPr lang="en-US" sz="3600" dirty="0"/>
          </a:p>
        </p:txBody>
      </p:sp>
      <p:sp>
        <p:nvSpPr>
          <p:cNvPr id="11" name="Text 9">
            <a:hlinkClick r:id="rId1" tooltip="Bấm để chọn" action="ppaction://hlinksldjump"/>
          </p:cNvPr>
          <p:cNvSpPr txBox="1"/>
          <p:nvPr/>
        </p:nvSpPr>
        <p:spPr>
          <a:xfrm>
            <a:off x="4358488" y="4754880"/>
            <a:ext cx="3474720" cy="868680"/>
          </a:xfrm>
          <a:prstGeom prst="roundRect">
            <a:avLst>
              <a:gd name="adj" fmla="val 18947"/>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9C74F"/>
                </a:solidFill>
                <a:latin typeface="Arial" pitchFamily="34" charset="0"/>
                <a:ea typeface="Arial" pitchFamily="34" charset="-122"/>
                <a:cs typeface="Arial" pitchFamily="34" charset="-120"/>
              </a:rPr>
              <a:t>Hàng ngang số 5 · 5 chữ cái</a:t>
            </a:r>
            <a:endParaRPr lang="en-US" sz="2200" dirty="0"/>
          </a:p>
        </p:txBody>
      </p:sp>
      <p:sp>
        <p:nvSpPr>
          <p:cNvPr id="3" name="Text 1"/>
          <p:cNvSpPr txBox="1"/>
          <p:nvPr/>
        </p:nvSpPr>
        <p:spPr>
          <a:xfrm>
            <a:off x="640080" y="1097280"/>
            <a:ext cx="10911535" cy="2194560"/>
          </a:xfrm>
          <a:prstGeom prst="roundRect">
            <a:avLst>
              <a:gd name="adj" fmla="val 8333"/>
            </a:avLst>
          </a:prstGeom>
          <a:solidFill>
            <a:srgbClr val="FFFFFF"/>
          </a:solidFill>
          <a:ln/>
        </p:spPr>
        <p:txBody>
          <a:bodyPr wrap="square" lIns="3810" tIns="3810" rIns="3810" bIns="3810"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Vật sáng tròn trên bầu trời đêm, gắn với Tết Trung thu.</a:t>
            </a:r>
            <a:endParaRPr lang="en-US" sz="3200" dirty="0"/>
          </a:p>
        </p:txBody>
      </p:sp>
      <p:sp>
        <p:nvSpPr>
          <p:cNvPr id="4" name="Text 2"/>
          <p:cNvSpPr txBox="1"/>
          <p:nvPr/>
        </p:nvSpPr>
        <p:spPr>
          <a:xfrm>
            <a:off x="3901288"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5" name="Text 3"/>
          <p:cNvSpPr txBox="1"/>
          <p:nvPr/>
        </p:nvSpPr>
        <p:spPr>
          <a:xfrm>
            <a:off x="4779112"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6" name="Text 4"/>
          <p:cNvSpPr txBox="1"/>
          <p:nvPr/>
        </p:nvSpPr>
        <p:spPr>
          <a:xfrm>
            <a:off x="5656936"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7" name="Text 5"/>
          <p:cNvSpPr txBox="1"/>
          <p:nvPr/>
        </p:nvSpPr>
        <p:spPr>
          <a:xfrm>
            <a:off x="6534760"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8" name="Text 6"/>
          <p:cNvSpPr txBox="1"/>
          <p:nvPr/>
        </p:nvSpPr>
        <p:spPr>
          <a:xfrm>
            <a:off x="7412584"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9" name="Text 7">
            <a:hlinkClick r:id="rId1" tooltip="Bấm để chọn" action="ppaction://hlinksldjump"/>
          </p:cNvPr>
          <p:cNvSpPr txBox="1"/>
          <p:nvPr/>
        </p:nvSpPr>
        <p:spPr>
          <a:xfrm>
            <a:off x="2103120" y="5212080"/>
            <a:ext cx="3474720" cy="868680"/>
          </a:xfrm>
          <a:prstGeom prst="roundRect">
            <a:avLst>
              <a:gd name="adj" fmla="val 18947"/>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Xem đáp án</a:t>
            </a:r>
            <a:endParaRPr lang="en-US" sz="2400" dirty="0"/>
          </a:p>
        </p:txBody>
      </p:sp>
      <p:sp>
        <p:nvSpPr>
          <p:cNvPr id="10" name="Text 8">
            <a:hlinkClick r:id="rId2" tooltip="Bấm để chọn" action="ppaction://hlinksldjump"/>
          </p:cNvPr>
          <p:cNvSpPr txBox="1"/>
          <p:nvPr/>
        </p:nvSpPr>
        <p:spPr>
          <a:xfrm>
            <a:off x="6583680" y="5212080"/>
            <a:ext cx="3474720" cy="868680"/>
          </a:xfrm>
          <a:prstGeom prst="roundRect">
            <a:avLst>
              <a:gd name="adj" fmla="val 18947"/>
            </a:avLst>
          </a:prstGeom>
          <a:solidFill>
            <a:srgbClr val="3F3D8F"/>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9C74F"/>
                </a:solidFill>
                <a:latin typeface="Arial" pitchFamily="34" charset="0"/>
                <a:ea typeface="Arial" pitchFamily="34" charset="-122"/>
                <a:cs typeface="Arial" pitchFamily="34" charset="-120"/>
              </a:rPr>
              <a:t>Hàng ngang số 5: đáp án</a:t>
            </a:r>
            <a:endParaRPr lang="en-US" sz="2200" dirty="0"/>
          </a:p>
        </p:txBody>
      </p:sp>
      <p:sp>
        <p:nvSpPr>
          <p:cNvPr id="3" name="Text 1"/>
          <p:cNvSpPr txBox="1"/>
          <p:nvPr/>
        </p:nvSpPr>
        <p:spPr>
          <a:xfrm>
            <a:off x="0" y="914400"/>
            <a:ext cx="12191695" cy="1737360"/>
          </a:xfrm>
          <a:prstGeom prst="rect">
            <a:avLst/>
          </a:prstGeom>
          <a:noFill/>
          <a:ln/>
        </p:spPr>
        <p:txBody>
          <a:bodyPr wrap="square" rtlCol="0" anchor="ctr"/>
          <a:lstStyle/>
          <a:p>
            <a:pPr algn="ctr" indent="0" marL="0">
              <a:buNone/>
            </a:pPr>
            <a:r>
              <a:rPr lang="en-US" sz="9000" dirty="0">
                <a:solidFill>
                  <a:srgbClr val="000000"/>
                </a:solidFill>
                <a:latin typeface="Arial" pitchFamily="34" charset="0"/>
                <a:ea typeface="Arial" pitchFamily="34" charset="-122"/>
                <a:cs typeface="Arial" pitchFamily="34" charset="-120"/>
              </a:rPr>
              <a:t>🎉</a:t>
            </a:r>
            <a:endParaRPr lang="en-US" sz="9000" dirty="0"/>
          </a:p>
        </p:txBody>
      </p:sp>
      <p:sp>
        <p:nvSpPr>
          <p:cNvPr id="4" name="Text 2"/>
          <p:cNvSpPr txBox="1"/>
          <p:nvPr/>
        </p:nvSpPr>
        <p:spPr>
          <a:xfrm>
            <a:off x="3901288"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T</a:t>
            </a:r>
            <a:endParaRPr lang="en-US" sz="3600" dirty="0"/>
          </a:p>
        </p:txBody>
      </p:sp>
      <p:sp>
        <p:nvSpPr>
          <p:cNvPr id="5" name="Text 3"/>
          <p:cNvSpPr txBox="1"/>
          <p:nvPr/>
        </p:nvSpPr>
        <p:spPr>
          <a:xfrm>
            <a:off x="4779112"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R</a:t>
            </a:r>
            <a:endParaRPr lang="en-US" sz="3600" dirty="0"/>
          </a:p>
        </p:txBody>
      </p:sp>
      <p:sp>
        <p:nvSpPr>
          <p:cNvPr id="6" name="Text 4"/>
          <p:cNvSpPr txBox="1"/>
          <p:nvPr/>
        </p:nvSpPr>
        <p:spPr>
          <a:xfrm>
            <a:off x="5656936"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Ă</a:t>
            </a:r>
            <a:endParaRPr lang="en-US" sz="3600" dirty="0"/>
          </a:p>
        </p:txBody>
      </p:sp>
      <p:sp>
        <p:nvSpPr>
          <p:cNvPr id="7" name="Text 5"/>
          <p:cNvSpPr txBox="1"/>
          <p:nvPr/>
        </p:nvSpPr>
        <p:spPr>
          <a:xfrm>
            <a:off x="6534760"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N</a:t>
            </a:r>
            <a:endParaRPr lang="en-US" sz="3600" dirty="0"/>
          </a:p>
        </p:txBody>
      </p:sp>
      <p:sp>
        <p:nvSpPr>
          <p:cNvPr id="8" name="Text 6"/>
          <p:cNvSpPr txBox="1"/>
          <p:nvPr/>
        </p:nvSpPr>
        <p:spPr>
          <a:xfrm>
            <a:off x="7412584"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G</a:t>
            </a:r>
            <a:endParaRPr lang="en-US" sz="3600" dirty="0"/>
          </a:p>
        </p:txBody>
      </p:sp>
      <p:sp>
        <p:nvSpPr>
          <p:cNvPr id="9" name="Text 7">
            <a:hlinkClick r:id="rId1" tooltip="Bấm để chọn" action="ppaction://hlinksldjump"/>
          </p:cNvPr>
          <p:cNvSpPr txBox="1"/>
          <p:nvPr/>
        </p:nvSpPr>
        <p:spPr>
          <a:xfrm>
            <a:off x="4358488" y="4754880"/>
            <a:ext cx="3474720" cy="868680"/>
          </a:xfrm>
          <a:prstGeom prst="roundRect">
            <a:avLst>
              <a:gd name="adj" fmla="val 18947"/>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9C74F"/>
                </a:solidFill>
                <a:latin typeface="Arial" pitchFamily="34" charset="0"/>
                <a:ea typeface="Arial" pitchFamily="34" charset="-122"/>
                <a:cs typeface="Arial" pitchFamily="34" charset="-120"/>
              </a:rPr>
              <a:t>Hàng ngang số 6 · 3 chữ cái</a:t>
            </a:r>
            <a:endParaRPr lang="en-US" sz="2200" dirty="0"/>
          </a:p>
        </p:txBody>
      </p:sp>
      <p:sp>
        <p:nvSpPr>
          <p:cNvPr id="3" name="Text 1"/>
          <p:cNvSpPr txBox="1"/>
          <p:nvPr/>
        </p:nvSpPr>
        <p:spPr>
          <a:xfrm>
            <a:off x="640080" y="1097280"/>
            <a:ext cx="10911535" cy="2194560"/>
          </a:xfrm>
          <a:prstGeom prst="roundRect">
            <a:avLst>
              <a:gd name="adj" fmla="val 8333"/>
            </a:avLst>
          </a:prstGeom>
          <a:solidFill>
            <a:srgbClr val="FFFFFF"/>
          </a:solidFill>
          <a:ln/>
        </p:spPr>
        <p:txBody>
          <a:bodyPr wrap="square" lIns="3810" tIns="3810" rIns="3810" bIns="3810"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Con vật trên cạn to nhất, có vòi dài và đôi ngà.</a:t>
            </a:r>
            <a:endParaRPr lang="en-US" sz="3200" dirty="0"/>
          </a:p>
        </p:txBody>
      </p:sp>
      <p:sp>
        <p:nvSpPr>
          <p:cNvPr id="4" name="Text 2"/>
          <p:cNvSpPr txBox="1"/>
          <p:nvPr/>
        </p:nvSpPr>
        <p:spPr>
          <a:xfrm>
            <a:off x="4779112"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5" name="Text 3"/>
          <p:cNvSpPr txBox="1"/>
          <p:nvPr/>
        </p:nvSpPr>
        <p:spPr>
          <a:xfrm>
            <a:off x="5656936"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6" name="Text 4"/>
          <p:cNvSpPr txBox="1"/>
          <p:nvPr/>
        </p:nvSpPr>
        <p:spPr>
          <a:xfrm>
            <a:off x="6534760"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7" name="Text 5">
            <a:hlinkClick r:id="rId1" tooltip="Bấm để chọn" action="ppaction://hlinksldjump"/>
          </p:cNvPr>
          <p:cNvSpPr txBox="1"/>
          <p:nvPr/>
        </p:nvSpPr>
        <p:spPr>
          <a:xfrm>
            <a:off x="2103120" y="5212080"/>
            <a:ext cx="3474720" cy="868680"/>
          </a:xfrm>
          <a:prstGeom prst="roundRect">
            <a:avLst>
              <a:gd name="adj" fmla="val 18947"/>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Xem đáp án</a:t>
            </a:r>
            <a:endParaRPr lang="en-US" sz="2400" dirty="0"/>
          </a:p>
        </p:txBody>
      </p:sp>
      <p:sp>
        <p:nvSpPr>
          <p:cNvPr id="8" name="Text 6">
            <a:hlinkClick r:id="rId2" tooltip="Bấm để chọn" action="ppaction://hlinksldjump"/>
          </p:cNvPr>
          <p:cNvSpPr txBox="1"/>
          <p:nvPr/>
        </p:nvSpPr>
        <p:spPr>
          <a:xfrm>
            <a:off x="6583680" y="5212080"/>
            <a:ext cx="3474720" cy="868680"/>
          </a:xfrm>
          <a:prstGeom prst="roundRect">
            <a:avLst>
              <a:gd name="adj" fmla="val 18947"/>
            </a:avLst>
          </a:prstGeom>
          <a:solidFill>
            <a:srgbClr val="3F3D8F"/>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9C74F"/>
                </a:solidFill>
                <a:latin typeface="Arial" pitchFamily="34" charset="0"/>
                <a:ea typeface="Arial" pitchFamily="34" charset="-122"/>
                <a:cs typeface="Arial" pitchFamily="34" charset="-120"/>
              </a:rPr>
              <a:t>Hàng ngang số 6: đáp án</a:t>
            </a:r>
            <a:endParaRPr lang="en-US" sz="2200" dirty="0"/>
          </a:p>
        </p:txBody>
      </p:sp>
      <p:sp>
        <p:nvSpPr>
          <p:cNvPr id="3" name="Text 1"/>
          <p:cNvSpPr txBox="1"/>
          <p:nvPr/>
        </p:nvSpPr>
        <p:spPr>
          <a:xfrm>
            <a:off x="0" y="914400"/>
            <a:ext cx="12191695" cy="1737360"/>
          </a:xfrm>
          <a:prstGeom prst="rect">
            <a:avLst/>
          </a:prstGeom>
          <a:noFill/>
          <a:ln/>
        </p:spPr>
        <p:txBody>
          <a:bodyPr wrap="square" rtlCol="0" anchor="ctr"/>
          <a:lstStyle/>
          <a:p>
            <a:pPr algn="ctr" indent="0" marL="0">
              <a:buNone/>
            </a:pPr>
            <a:r>
              <a:rPr lang="en-US" sz="9000" dirty="0">
                <a:solidFill>
                  <a:srgbClr val="000000"/>
                </a:solidFill>
                <a:latin typeface="Arial" pitchFamily="34" charset="0"/>
                <a:ea typeface="Arial" pitchFamily="34" charset="-122"/>
                <a:cs typeface="Arial" pitchFamily="34" charset="-120"/>
              </a:rPr>
              <a:t>🎉</a:t>
            </a:r>
            <a:endParaRPr lang="en-US" sz="9000" dirty="0"/>
          </a:p>
        </p:txBody>
      </p:sp>
      <p:sp>
        <p:nvSpPr>
          <p:cNvPr id="4" name="Text 2"/>
          <p:cNvSpPr txBox="1"/>
          <p:nvPr/>
        </p:nvSpPr>
        <p:spPr>
          <a:xfrm>
            <a:off x="4779112"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V</a:t>
            </a:r>
            <a:endParaRPr lang="en-US" sz="3600" dirty="0"/>
          </a:p>
        </p:txBody>
      </p:sp>
      <p:sp>
        <p:nvSpPr>
          <p:cNvPr id="5" name="Text 3"/>
          <p:cNvSpPr txBox="1"/>
          <p:nvPr/>
        </p:nvSpPr>
        <p:spPr>
          <a:xfrm>
            <a:off x="5656936"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O</a:t>
            </a:r>
            <a:endParaRPr lang="en-US" sz="3600" dirty="0"/>
          </a:p>
        </p:txBody>
      </p:sp>
      <p:sp>
        <p:nvSpPr>
          <p:cNvPr id="6" name="Text 4"/>
          <p:cNvSpPr txBox="1"/>
          <p:nvPr/>
        </p:nvSpPr>
        <p:spPr>
          <a:xfrm>
            <a:off x="6534760"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I</a:t>
            </a:r>
            <a:endParaRPr lang="en-US" sz="3600" dirty="0"/>
          </a:p>
        </p:txBody>
      </p:sp>
      <p:sp>
        <p:nvSpPr>
          <p:cNvPr id="7" name="Text 5">
            <a:hlinkClick r:id="rId1" tooltip="Bấm để chọn" action="ppaction://hlinksldjump"/>
          </p:cNvPr>
          <p:cNvSpPr txBox="1"/>
          <p:nvPr/>
        </p:nvSpPr>
        <p:spPr>
          <a:xfrm>
            <a:off x="4358488" y="4754880"/>
            <a:ext cx="3474720" cy="868680"/>
          </a:xfrm>
          <a:prstGeom prst="roundRect">
            <a:avLst>
              <a:gd name="adj" fmla="val 18947"/>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9C74F"/>
                </a:solidFill>
                <a:latin typeface="Arial" pitchFamily="34" charset="0"/>
                <a:ea typeface="Arial" pitchFamily="34" charset="-122"/>
                <a:cs typeface="Arial" pitchFamily="34" charset="-120"/>
              </a:rPr>
              <a:t>Hàng ngang số 7 · 5 chữ cái</a:t>
            </a:r>
            <a:endParaRPr lang="en-US" sz="2200" dirty="0"/>
          </a:p>
        </p:txBody>
      </p:sp>
      <p:sp>
        <p:nvSpPr>
          <p:cNvPr id="3" name="Text 1"/>
          <p:cNvSpPr txBox="1"/>
          <p:nvPr/>
        </p:nvSpPr>
        <p:spPr>
          <a:xfrm>
            <a:off x="640080" y="1097280"/>
            <a:ext cx="10911535" cy="2194560"/>
          </a:xfrm>
          <a:prstGeom prst="roundRect">
            <a:avLst>
              <a:gd name="adj" fmla="val 8333"/>
            </a:avLst>
          </a:prstGeom>
          <a:solidFill>
            <a:srgbClr val="FFFFFF"/>
          </a:solidFill>
          <a:ln/>
        </p:spPr>
        <p:txBody>
          <a:bodyPr wrap="square" lIns="3810" tIns="3810" rIns="3810" bIns="3810" rtlCol="0" anchor="ctr"/>
          <a:lstStyle/>
          <a:p>
            <a:pPr algn="ctr" indent="0" marL="0">
              <a:buNone/>
            </a:pPr>
            <a:r>
              <a:rPr lang="en-US" sz="3200" b="1" dirty="0">
                <a:solidFill>
                  <a:srgbClr val="1F2937"/>
                </a:solidFill>
                <a:latin typeface="Arial" pitchFamily="34" charset="0"/>
                <a:ea typeface="Arial" pitchFamily="34" charset="-122"/>
                <a:cs typeface="Arial" pitchFamily="34" charset="-120"/>
              </a:rPr>
              <a:t>Thủ đô của nước Việt Nam.</a:t>
            </a:r>
            <a:endParaRPr lang="en-US" sz="3200" dirty="0"/>
          </a:p>
        </p:txBody>
      </p:sp>
      <p:sp>
        <p:nvSpPr>
          <p:cNvPr id="4" name="Text 2"/>
          <p:cNvSpPr txBox="1"/>
          <p:nvPr/>
        </p:nvSpPr>
        <p:spPr>
          <a:xfrm>
            <a:off x="3901288"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5" name="Text 3"/>
          <p:cNvSpPr txBox="1"/>
          <p:nvPr/>
        </p:nvSpPr>
        <p:spPr>
          <a:xfrm>
            <a:off x="4779112"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6" name="Text 4"/>
          <p:cNvSpPr txBox="1"/>
          <p:nvPr/>
        </p:nvSpPr>
        <p:spPr>
          <a:xfrm>
            <a:off x="5656936"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7" name="Text 5"/>
          <p:cNvSpPr txBox="1"/>
          <p:nvPr/>
        </p:nvSpPr>
        <p:spPr>
          <a:xfrm>
            <a:off x="6534760"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8" name="Text 6"/>
          <p:cNvSpPr txBox="1"/>
          <p:nvPr/>
        </p:nvSpPr>
        <p:spPr>
          <a:xfrm>
            <a:off x="7412584" y="365760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endParaRPr lang="en-US" sz="3600" dirty="0"/>
          </a:p>
        </p:txBody>
      </p:sp>
      <p:sp>
        <p:nvSpPr>
          <p:cNvPr id="9" name="Text 7">
            <a:hlinkClick r:id="rId1" tooltip="Bấm để chọn" action="ppaction://hlinksldjump"/>
          </p:cNvPr>
          <p:cNvSpPr txBox="1"/>
          <p:nvPr/>
        </p:nvSpPr>
        <p:spPr>
          <a:xfrm>
            <a:off x="2103120" y="5212080"/>
            <a:ext cx="3474720" cy="868680"/>
          </a:xfrm>
          <a:prstGeom prst="roundRect">
            <a:avLst>
              <a:gd name="adj" fmla="val 18947"/>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Xem đáp án</a:t>
            </a:r>
            <a:endParaRPr lang="en-US" sz="2400" dirty="0"/>
          </a:p>
        </p:txBody>
      </p:sp>
      <p:sp>
        <p:nvSpPr>
          <p:cNvPr id="10" name="Text 8">
            <a:hlinkClick r:id="rId2" tooltip="Bấm để chọn" action="ppaction://hlinksldjump"/>
          </p:cNvPr>
          <p:cNvSpPr txBox="1"/>
          <p:nvPr/>
        </p:nvSpPr>
        <p:spPr>
          <a:xfrm>
            <a:off x="6583680" y="5212080"/>
            <a:ext cx="3474720" cy="868680"/>
          </a:xfrm>
          <a:prstGeom prst="roundRect">
            <a:avLst>
              <a:gd name="adj" fmla="val 18947"/>
            </a:avLst>
          </a:prstGeom>
          <a:solidFill>
            <a:srgbClr val="3F3D8F"/>
          </a:solidFill>
          <a:ln w="19050">
            <a:solidFill>
              <a:srgbClr val="FFFFFF"/>
            </a:solidFill>
          </a:ln>
        </p:spPr>
        <p:txBody>
          <a:bodyPr wrap="square" lIns="1270" tIns="1270" rIns="1270" bIns="127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640080" y="365760"/>
            <a:ext cx="10911535" cy="548640"/>
          </a:xfrm>
          <a:prstGeom prst="rect">
            <a:avLst/>
          </a:prstGeom>
          <a:noFill/>
          <a:ln/>
        </p:spPr>
        <p:txBody>
          <a:bodyPr wrap="square" lIns="0" tIns="0" rIns="0" bIns="0" rtlCol="0" anchor="ctr"/>
          <a:lstStyle/>
          <a:p>
            <a:pPr indent="0" marL="0">
              <a:buNone/>
            </a:pPr>
            <a:r>
              <a:rPr lang="en-US" sz="2200" b="1" dirty="0">
                <a:solidFill>
                  <a:srgbClr val="F9C74F"/>
                </a:solidFill>
                <a:latin typeface="Arial" pitchFamily="34" charset="0"/>
                <a:ea typeface="Arial" pitchFamily="34" charset="-122"/>
                <a:cs typeface="Arial" pitchFamily="34" charset="-120"/>
              </a:rPr>
              <a:t>Hàng ngang số 7: đáp án</a:t>
            </a:r>
            <a:endParaRPr lang="en-US" sz="2200" dirty="0"/>
          </a:p>
        </p:txBody>
      </p:sp>
      <p:sp>
        <p:nvSpPr>
          <p:cNvPr id="3" name="Text 1"/>
          <p:cNvSpPr txBox="1"/>
          <p:nvPr/>
        </p:nvSpPr>
        <p:spPr>
          <a:xfrm>
            <a:off x="0" y="914400"/>
            <a:ext cx="12191695" cy="1737360"/>
          </a:xfrm>
          <a:prstGeom prst="rect">
            <a:avLst/>
          </a:prstGeom>
          <a:noFill/>
          <a:ln/>
        </p:spPr>
        <p:txBody>
          <a:bodyPr wrap="square" rtlCol="0" anchor="ctr"/>
          <a:lstStyle/>
          <a:p>
            <a:pPr algn="ctr" indent="0" marL="0">
              <a:buNone/>
            </a:pPr>
            <a:r>
              <a:rPr lang="en-US" sz="9000" dirty="0">
                <a:solidFill>
                  <a:srgbClr val="000000"/>
                </a:solidFill>
                <a:latin typeface="Arial" pitchFamily="34" charset="0"/>
                <a:ea typeface="Arial" pitchFamily="34" charset="-122"/>
                <a:cs typeface="Arial" pitchFamily="34" charset="-120"/>
              </a:rPr>
              <a:t>🎉</a:t>
            </a:r>
            <a:endParaRPr lang="en-US" sz="9000" dirty="0"/>
          </a:p>
        </p:txBody>
      </p:sp>
      <p:sp>
        <p:nvSpPr>
          <p:cNvPr id="4" name="Text 2"/>
          <p:cNvSpPr txBox="1"/>
          <p:nvPr/>
        </p:nvSpPr>
        <p:spPr>
          <a:xfrm>
            <a:off x="3901288"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H</a:t>
            </a:r>
            <a:endParaRPr lang="en-US" sz="3600" dirty="0"/>
          </a:p>
        </p:txBody>
      </p:sp>
      <p:sp>
        <p:nvSpPr>
          <p:cNvPr id="5" name="Text 3"/>
          <p:cNvSpPr txBox="1"/>
          <p:nvPr/>
        </p:nvSpPr>
        <p:spPr>
          <a:xfrm>
            <a:off x="4779112"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À</a:t>
            </a:r>
            <a:endParaRPr lang="en-US" sz="3600" dirty="0"/>
          </a:p>
        </p:txBody>
      </p:sp>
      <p:sp>
        <p:nvSpPr>
          <p:cNvPr id="6" name="Text 4"/>
          <p:cNvSpPr txBox="1"/>
          <p:nvPr/>
        </p:nvSpPr>
        <p:spPr>
          <a:xfrm>
            <a:off x="5656936"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N</a:t>
            </a:r>
            <a:endParaRPr lang="en-US" sz="3600" dirty="0"/>
          </a:p>
        </p:txBody>
      </p:sp>
      <p:sp>
        <p:nvSpPr>
          <p:cNvPr id="7" name="Text 5"/>
          <p:cNvSpPr txBox="1"/>
          <p:nvPr/>
        </p:nvSpPr>
        <p:spPr>
          <a:xfrm>
            <a:off x="6534760"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Ộ</a:t>
            </a:r>
            <a:endParaRPr lang="en-US" sz="3600" dirty="0"/>
          </a:p>
        </p:txBody>
      </p:sp>
      <p:sp>
        <p:nvSpPr>
          <p:cNvPr id="8" name="Text 6"/>
          <p:cNvSpPr txBox="1"/>
          <p:nvPr/>
        </p:nvSpPr>
        <p:spPr>
          <a:xfrm>
            <a:off x="7412584" y="2926080"/>
            <a:ext cx="822960" cy="822960"/>
          </a:xfrm>
          <a:prstGeom prst="roundRect">
            <a:avLst>
              <a:gd name="adj" fmla="val 6667"/>
            </a:avLst>
          </a:prstGeom>
          <a:solidFill>
            <a:srgbClr val="FFFFFF"/>
          </a:solidFill>
          <a:ln w="25400">
            <a:solidFill>
              <a:srgbClr val="F9C74F"/>
            </a:solidFill>
          </a:ln>
        </p:spPr>
        <p:txBody>
          <a:bodyPr wrap="square" lIns="0" tIns="0" rIns="0" bIns="0" rtlCol="0" anchor="ctr"/>
          <a:lstStyle/>
          <a:p>
            <a:pPr algn="ctr" indent="0" marL="0">
              <a:buNone/>
            </a:pPr>
            <a:r>
              <a:rPr lang="en-US" sz="3600" b="1" dirty="0">
                <a:solidFill>
                  <a:srgbClr val="1F2937"/>
                </a:solidFill>
                <a:latin typeface="Arial" pitchFamily="34" charset="0"/>
                <a:ea typeface="Arial" pitchFamily="34" charset="-122"/>
                <a:cs typeface="Arial" pitchFamily="34" charset="-120"/>
              </a:rPr>
              <a:t>I</a:t>
            </a:r>
            <a:endParaRPr lang="en-US" sz="3600" dirty="0"/>
          </a:p>
        </p:txBody>
      </p:sp>
      <p:sp>
        <p:nvSpPr>
          <p:cNvPr id="9" name="Text 7">
            <a:hlinkClick r:id="rId1" tooltip="Bấm để chọn" action="ppaction://hlinksldjump"/>
          </p:cNvPr>
          <p:cNvSpPr txBox="1"/>
          <p:nvPr/>
        </p:nvSpPr>
        <p:spPr>
          <a:xfrm>
            <a:off x="4358488" y="4754880"/>
            <a:ext cx="3474720" cy="868680"/>
          </a:xfrm>
          <a:prstGeom prst="roundRect">
            <a:avLst>
              <a:gd name="adj" fmla="val 18947"/>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ô chữ</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Truy tìm mật mã</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