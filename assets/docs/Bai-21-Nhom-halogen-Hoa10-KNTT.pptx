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7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5" r:id="rId20"/>
  </p:sldIdLst>
  <p:sldSz cx="9144000" cy="6858000" type="screen4x3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8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F5D2B2-7116-40EE-B94A-273599B4C9B5}" type="datetimeFigureOut">
              <a:rPr lang="vi-VN" smtClean="0"/>
              <a:t>28/08/2022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526353-6B80-41FB-8244-D4ADC2B1DF7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47630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26353-6B80-41FB-8244-D4ADC2B1DF7C}" type="slidenum">
              <a:rPr lang="vi-VN" smtClean="0"/>
              <a:t>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69390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5F6F2-4799-4A26-A6BC-462D221E5E2B}" type="datetimeFigureOut">
              <a:rPr lang="vi-VN" smtClean="0"/>
              <a:t>28/08/2022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51380-69FD-4B5F-8B42-D2C3B1084F4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54020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5F6F2-4799-4A26-A6BC-462D221E5E2B}" type="datetimeFigureOut">
              <a:rPr lang="vi-VN" smtClean="0"/>
              <a:t>28/08/2022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51380-69FD-4B5F-8B42-D2C3B1084F4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47811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5F6F2-4799-4A26-A6BC-462D221E5E2B}" type="datetimeFigureOut">
              <a:rPr lang="vi-VN" smtClean="0"/>
              <a:t>28/08/2022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51380-69FD-4B5F-8B42-D2C3B1084F4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47389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5F6F2-4799-4A26-A6BC-462D221E5E2B}" type="datetimeFigureOut">
              <a:rPr lang="vi-VN" smtClean="0"/>
              <a:t>28/08/2022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51380-69FD-4B5F-8B42-D2C3B1084F4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36043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5F6F2-4799-4A26-A6BC-462D221E5E2B}" type="datetimeFigureOut">
              <a:rPr lang="vi-VN" smtClean="0"/>
              <a:t>28/08/2022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51380-69FD-4B5F-8B42-D2C3B1084F4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30871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5F6F2-4799-4A26-A6BC-462D221E5E2B}" type="datetimeFigureOut">
              <a:rPr lang="vi-VN" smtClean="0"/>
              <a:t>28/08/2022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51380-69FD-4B5F-8B42-D2C3B1084F4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8280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5F6F2-4799-4A26-A6BC-462D221E5E2B}" type="datetimeFigureOut">
              <a:rPr lang="vi-VN" smtClean="0"/>
              <a:t>28/08/2022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51380-69FD-4B5F-8B42-D2C3B1084F4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20779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5F6F2-4799-4A26-A6BC-462D221E5E2B}" type="datetimeFigureOut">
              <a:rPr lang="vi-VN" smtClean="0"/>
              <a:t>28/08/2022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51380-69FD-4B5F-8B42-D2C3B1084F4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00603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5F6F2-4799-4A26-A6BC-462D221E5E2B}" type="datetimeFigureOut">
              <a:rPr lang="vi-VN" smtClean="0"/>
              <a:t>28/08/2022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51380-69FD-4B5F-8B42-D2C3B1084F4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27173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5F6F2-4799-4A26-A6BC-462D221E5E2B}" type="datetimeFigureOut">
              <a:rPr lang="vi-VN" smtClean="0"/>
              <a:t>28/08/2022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51380-69FD-4B5F-8B42-D2C3B1084F4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87866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5F6F2-4799-4A26-A6BC-462D221E5E2B}" type="datetimeFigureOut">
              <a:rPr lang="vi-VN" smtClean="0"/>
              <a:t>28/08/2022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51380-69FD-4B5F-8B42-D2C3B1084F4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74076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C5F6F2-4799-4A26-A6BC-462D221E5E2B}" type="datetimeFigureOut">
              <a:rPr lang="vi-VN" smtClean="0"/>
              <a:t>28/08/2022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51380-69FD-4B5F-8B42-D2C3B1084F41}" type="slidenum">
              <a:rPr lang="vi-VN" smtClean="0"/>
              <a:t>‹#›</a:t>
            </a:fld>
            <a:endParaRPr lang="vi-VN"/>
          </a:p>
        </p:txBody>
      </p:sp>
      <p:pic>
        <p:nvPicPr>
          <p:cNvPr id="7" name="Picture 6" descr="A picture containing text, screen&#10;&#10;Description automatically generated">
            <a:extLst>
              <a:ext uri="{FF2B5EF4-FFF2-40B4-BE49-F238E27FC236}">
                <a16:creationId xmlns:a16="http://schemas.microsoft.com/office/drawing/2014/main" id="{B37F7718-9219-ACB0-AF96-8A09DC15925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0527" y="1586"/>
            <a:ext cx="9001000" cy="14669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26076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30" y="4629150"/>
            <a:ext cx="2057400" cy="22288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46230" y="476672"/>
            <a:ext cx="917829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     CHƯƠNG </a:t>
            </a:r>
            <a:r>
              <a:rPr lang="en-US" sz="28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7:  </a:t>
            </a:r>
            <a:r>
              <a:rPr lang="en-US" sz="2800" b="1" dirty="0" err="1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sz="28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TỐ</a:t>
            </a:r>
            <a:r>
              <a:rPr lang="en-US" sz="28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NHÓM</a:t>
            </a:r>
            <a:r>
              <a:rPr lang="en-US" sz="28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 HALOGEN</a:t>
            </a:r>
            <a:endParaRPr lang="vi-VN" sz="2800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1BEC607-8474-408E-A7AC-48A065F31B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H="1">
            <a:off x="683568" y="1268761"/>
            <a:ext cx="7848872" cy="3960440"/>
            <a:chOff x="500743" y="-22763"/>
            <a:chExt cx="7075714" cy="726996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601E3FC-2016-4085-9A4B-A172702EAAE1}"/>
                </a:ext>
              </a:extLst>
            </p:cNvPr>
            <p:cNvSpPr/>
            <p:nvPr userDrawn="1"/>
          </p:nvSpPr>
          <p:spPr>
            <a:xfrm>
              <a:off x="979714" y="1181211"/>
              <a:ext cx="6117771" cy="6065990"/>
            </a:xfrm>
            <a:prstGeom prst="rect">
              <a:avLst/>
            </a:prstGeom>
            <a:gradFill>
              <a:gsLst>
                <a:gs pos="0">
                  <a:srgbClr val="038B30">
                    <a:alpha val="70000"/>
                  </a:srgbClr>
                </a:gs>
                <a:gs pos="100000">
                  <a:srgbClr val="C0F400">
                    <a:alpha val="70000"/>
                  </a:srgbClr>
                </a:gs>
                <a:gs pos="50000">
                  <a:srgbClr val="05EE55">
                    <a:alpha val="70000"/>
                  </a:srgb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r>
                <a:rPr lang="en-US" dirty="0"/>
                <a:t>+</a:t>
              </a:r>
            </a:p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CBF662F-A198-4AD3-8EBC-0EC9A52B2994}"/>
                </a:ext>
              </a:extLst>
            </p:cNvPr>
            <p:cNvSpPr/>
            <p:nvPr userDrawn="1"/>
          </p:nvSpPr>
          <p:spPr>
            <a:xfrm>
              <a:off x="500743" y="-22763"/>
              <a:ext cx="7075714" cy="5878284"/>
            </a:xfrm>
            <a:prstGeom prst="rect">
              <a:avLst/>
            </a:prstGeom>
            <a:noFill/>
            <a:ln w="127000">
              <a:solidFill>
                <a:srgbClr val="2F33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42E86C5-8E5F-4620-A4FB-D1F926179D18}"/>
                </a:ext>
              </a:extLst>
            </p:cNvPr>
            <p:cNvSpPr/>
            <p:nvPr userDrawn="1"/>
          </p:nvSpPr>
          <p:spPr>
            <a:xfrm>
              <a:off x="979716" y="655468"/>
              <a:ext cx="5747657" cy="35587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Title 5">
            <a:extLst>
              <a:ext uri="{FF2B5EF4-FFF2-40B4-BE49-F238E27FC236}">
                <a16:creationId xmlns:a16="http://schemas.microsoft.com/office/drawing/2014/main" id="{7E0E8055-17FA-43CE-9F03-E712F496B7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8440" y="1887260"/>
            <a:ext cx="7102692" cy="1888475"/>
          </a:xfrm>
        </p:spPr>
        <p:txBody>
          <a:bodyPr>
            <a:normAutofit/>
          </a:bodyPr>
          <a:lstStyle/>
          <a:p>
            <a:r>
              <a:rPr lang="en-US" sz="5400" cap="none" dirty="0" err="1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5400" cap="none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21</a:t>
            </a:r>
            <a:br>
              <a:rPr lang="en-US" sz="5400" cap="none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dirty="0" err="1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540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HALOGEN</a:t>
            </a:r>
            <a:endParaRPr lang="en-US" sz="5400" cap="none" dirty="0">
              <a:ln w="12700" cmpd="sng">
                <a:solidFill>
                  <a:schemeClr val="accent4"/>
                </a:solidFill>
                <a:prstDash val="solid"/>
              </a:ln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7488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Alternate Process 4"/>
          <p:cNvSpPr/>
          <p:nvPr/>
        </p:nvSpPr>
        <p:spPr>
          <a:xfrm>
            <a:off x="2339752" y="2204864"/>
            <a:ext cx="2736304" cy="1512168"/>
          </a:xfrm>
          <a:prstGeom prst="flowChartAlternateProcess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tố</a:t>
            </a:r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Bromine</a:t>
            </a:r>
            <a:endParaRPr lang="vi-VN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51520" y="260648"/>
            <a:ext cx="369043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400" b="1" cap="none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KHỞI</a:t>
            </a:r>
            <a:r>
              <a:rPr lang="en-US" sz="5400" b="1" cap="none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 </a:t>
            </a:r>
            <a:r>
              <a:rPr lang="en-US" sz="5400" b="1" cap="none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ĐỘNG</a:t>
            </a:r>
            <a:endParaRPr lang="en-US" sz="5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3" name="Cloud Callout 2"/>
          <p:cNvSpPr/>
          <p:nvPr/>
        </p:nvSpPr>
        <p:spPr>
          <a:xfrm>
            <a:off x="1043608" y="1340768"/>
            <a:ext cx="5040560" cy="3096344"/>
          </a:xfrm>
          <a:prstGeom prst="cloudCallou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Câu 1: Nguyên tố có kí hiệu Br có tên gọi là gì?</a:t>
            </a:r>
            <a:endParaRPr lang="vi-VN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vi-VN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1798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  <p:bldP spid="3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/>
          <p:cNvSpPr/>
          <p:nvPr/>
        </p:nvSpPr>
        <p:spPr>
          <a:xfrm>
            <a:off x="2238433" y="2924944"/>
            <a:ext cx="2736304" cy="1512168"/>
          </a:xfrm>
          <a:prstGeom prst="flowChartAlternateProcess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endParaRPr lang="vi-VN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51520" y="260648"/>
            <a:ext cx="369043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400" b="1" cap="none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KHỞI</a:t>
            </a:r>
            <a:r>
              <a:rPr lang="en-US" sz="5400" b="1" cap="none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 </a:t>
            </a:r>
            <a:r>
              <a:rPr lang="en-US" sz="5400" b="1" cap="none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ĐỘNG</a:t>
            </a:r>
            <a:endParaRPr lang="en-US" sz="5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3" name="Cloud Callout 2"/>
          <p:cNvSpPr/>
          <p:nvPr/>
        </p:nvSpPr>
        <p:spPr>
          <a:xfrm>
            <a:off x="740566" y="1628800"/>
            <a:ext cx="6207698" cy="3816424"/>
          </a:xfrm>
          <a:prstGeom prst="cloudCallou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Câu 2: Kí hiệu hóa học của nguyên tố Fluorine là gì?</a:t>
            </a:r>
            <a:endParaRPr lang="vi-VN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4949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  <p:bldP spid="3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Alternate Process 2"/>
          <p:cNvSpPr/>
          <p:nvPr/>
        </p:nvSpPr>
        <p:spPr>
          <a:xfrm>
            <a:off x="3131840" y="2642946"/>
            <a:ext cx="2736304" cy="1512168"/>
          </a:xfrm>
          <a:prstGeom prst="flowChartAlternateProcess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tố</a:t>
            </a:r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Iodine</a:t>
            </a:r>
            <a:endParaRPr lang="vi-VN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Cloud Callout 1"/>
          <p:cNvSpPr/>
          <p:nvPr/>
        </p:nvSpPr>
        <p:spPr>
          <a:xfrm>
            <a:off x="899592" y="1496852"/>
            <a:ext cx="6696744" cy="3804356"/>
          </a:xfrm>
          <a:prstGeom prst="cloudCallou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Câu 3: Nguyên tố halogen nào có ở tuyến giáp (ở dạng hợp chất hữu cơ)?</a:t>
            </a:r>
            <a:endParaRPr lang="vi-VN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vi-VN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1520" y="260648"/>
            <a:ext cx="369043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400" b="1" cap="none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KHỞI</a:t>
            </a:r>
            <a:r>
              <a:rPr lang="en-US" sz="5400" b="1" cap="none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 </a:t>
            </a:r>
            <a:r>
              <a:rPr lang="en-US" sz="5400" b="1" cap="none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ĐỘNG</a:t>
            </a:r>
            <a:endParaRPr lang="en-US" sz="5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14949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" grpId="0" animBg="1"/>
      <p:bldP spid="2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Alternate Process 2"/>
          <p:cNvSpPr/>
          <p:nvPr/>
        </p:nvSpPr>
        <p:spPr>
          <a:xfrm>
            <a:off x="3131840" y="2492896"/>
            <a:ext cx="2736304" cy="1512168"/>
          </a:xfrm>
          <a:prstGeom prst="flowChartAlternateProcess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tố</a:t>
            </a:r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Chlorine</a:t>
            </a:r>
            <a:endParaRPr lang="vi-VN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Cloud Callout 1"/>
          <p:cNvSpPr/>
          <p:nvPr/>
        </p:nvSpPr>
        <p:spPr>
          <a:xfrm>
            <a:off x="1115616" y="1346802"/>
            <a:ext cx="6192687" cy="3804355"/>
          </a:xfrm>
          <a:prstGeom prst="cloudCallou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Câu 4: Trong cơ thể người, nguyên tố halogen nào có trong máu và dịch vị dạ dày (ở dạng ion Cl-)?</a:t>
            </a:r>
            <a:endParaRPr lang="vi-VN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1520" y="260648"/>
            <a:ext cx="369043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400" b="1" cap="none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KHỞI</a:t>
            </a:r>
            <a:r>
              <a:rPr lang="en-US" sz="5400" b="1" cap="none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 </a:t>
            </a:r>
            <a:r>
              <a:rPr lang="en-US" sz="5400" b="1" cap="none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ĐỘNG</a:t>
            </a:r>
            <a:endParaRPr lang="en-US" sz="5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14949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" grpId="0" animBg="1"/>
      <p:bldP spid="2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520" y="260648"/>
            <a:ext cx="369043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400" b="1" cap="none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KHỞI</a:t>
            </a:r>
            <a:r>
              <a:rPr lang="en-US" sz="5400" b="1" cap="none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 </a:t>
            </a:r>
            <a:r>
              <a:rPr lang="en-US" sz="5400" b="1" cap="none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ĐỘNG</a:t>
            </a:r>
            <a:endParaRPr lang="en-US" sz="5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3" name="Flowchart: Alternate Process 2"/>
          <p:cNvSpPr/>
          <p:nvPr/>
        </p:nvSpPr>
        <p:spPr>
          <a:xfrm>
            <a:off x="3131840" y="1916832"/>
            <a:ext cx="3456384" cy="1878700"/>
          </a:xfrm>
          <a:prstGeom prst="flowChartAlternateProcess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tố</a:t>
            </a:r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astatine (At) </a:t>
            </a:r>
            <a:r>
              <a:rPr lang="en-US" sz="32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tennessine</a:t>
            </a:r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( </a:t>
            </a:r>
            <a:r>
              <a:rPr lang="en-US" sz="32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Ts</a:t>
            </a:r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).</a:t>
            </a:r>
            <a:endParaRPr lang="vi-VN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loud Callout 3"/>
          <p:cNvSpPr/>
          <p:nvPr/>
        </p:nvSpPr>
        <p:spPr>
          <a:xfrm>
            <a:off x="539552" y="1109639"/>
            <a:ext cx="7560840" cy="4608512"/>
          </a:xfrm>
          <a:prstGeom prst="cloudCallou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Câu 5: Nhóm VIIA trong Bảng tuần hoàn có hai nguyên tố là nguyên tố phóng xạ. Em cho biết tên và kí hiệu hóa học của chúng?</a:t>
            </a:r>
            <a:endParaRPr lang="vi-VN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4949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4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5275" y="476672"/>
            <a:ext cx="556684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sz="24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CẤU</a:t>
            </a:r>
            <a:r>
              <a:rPr lang="en-US" sz="2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sz="2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sz="2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sz="2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sz="2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TỬ</a:t>
            </a:r>
            <a:endParaRPr lang="en-US" sz="2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7E0E8055-17FA-43CE-9F03-E712F496B7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576" y="-99392"/>
            <a:ext cx="7102692" cy="576064"/>
          </a:xfrm>
        </p:spPr>
        <p:txBody>
          <a:bodyPr>
            <a:normAutofit fontScale="90000"/>
          </a:bodyPr>
          <a:lstStyle/>
          <a:p>
            <a:r>
              <a:rPr lang="en-US" sz="3200" cap="none" dirty="0" err="1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3200" cap="none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21     </a:t>
            </a:r>
            <a:r>
              <a:rPr lang="en-US" sz="3200" dirty="0" err="1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320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HALOGEN</a:t>
            </a:r>
            <a:endParaRPr lang="en-US" sz="3200" cap="none" dirty="0">
              <a:ln w="12700" cmpd="sng">
                <a:solidFill>
                  <a:schemeClr val="accent4"/>
                </a:solidFill>
                <a:prstDash val="solid"/>
              </a:ln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11560" y="1124744"/>
            <a:ext cx="828092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Phiếu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tập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1:</a:t>
            </a:r>
            <a:endParaRPr lang="vi-VN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Bảng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6.1, </a:t>
            </a: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Bảng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6.2 </a:t>
            </a: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6.2 </a:t>
            </a: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bảng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mô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tả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đặc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điểm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cấu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halogen </a:t>
            </a: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mẫu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vi-VN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1720" y="2705144"/>
            <a:ext cx="6092647" cy="2740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/>
        </p:nvSpPr>
        <p:spPr>
          <a:xfrm>
            <a:off x="712449" y="5416843"/>
            <a:ext cx="840670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thích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tại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sao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halogen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xu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hướng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nhận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1 electron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kim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loại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hoặc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góp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chung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1 electron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phi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kim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liên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  <a:endParaRPr lang="vi-V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83952" y="5429871"/>
            <a:ext cx="82902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Nêu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thích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xu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hướng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biến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đổi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bán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kính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độ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âm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halogen.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đó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dự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đoán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xu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hướng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biến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đổi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tính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oxi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hóa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F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đến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I.</a:t>
            </a:r>
            <a:endParaRPr lang="vi-V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87235" y="5373216"/>
            <a:ext cx="807422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Dựa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cấu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electron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lớp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ngoài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cùng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độ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âm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thích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tại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sao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fluorine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chỉ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oxi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hóa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-1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?</a:t>
            </a:r>
            <a:endParaRPr lang="vi-VN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4949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/>
      <p:bldP spid="10" grpId="1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7283" y="476672"/>
            <a:ext cx="556684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sz="24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CẤU</a:t>
            </a:r>
            <a:r>
              <a:rPr lang="en-US" sz="2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sz="2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sz="2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sz="2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sz="2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TỬ</a:t>
            </a:r>
            <a:endParaRPr lang="en-US" sz="2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0424" y="2420888"/>
            <a:ext cx="787402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Tham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khảo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bài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12 (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Liên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cộng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hóa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hãy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:</a:t>
            </a:r>
            <a:endParaRPr lang="vi-VN"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a)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Mô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tả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liên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halogen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bằng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electron.</a:t>
            </a:r>
            <a:endParaRPr lang="vi-VN"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b)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Liên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halogen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liên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cộng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hóa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cực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hay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cực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?</a:t>
            </a:r>
            <a:endParaRPr lang="vi-VN"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c)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Dựa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bán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kính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6.2),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hãy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dự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đoán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xu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hướng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biến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đổi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độ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dài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liên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dãy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halogen.</a:t>
            </a:r>
            <a:endParaRPr lang="vi-VN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84199" y="1609636"/>
            <a:ext cx="30796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Phiếu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tập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2:</a:t>
            </a:r>
            <a:endParaRPr lang="vi-VN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4949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1299" y="476672"/>
            <a:ext cx="556684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sz="24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CẤU</a:t>
            </a:r>
            <a:r>
              <a:rPr lang="en-US" sz="2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sz="2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sz="2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sz="2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sz="2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TỬ</a:t>
            </a:r>
            <a:endParaRPr lang="en-US" sz="2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59227" y="2204864"/>
            <a:ext cx="777686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>
              <a:buAutoNum type="arabicPeriod"/>
            </a:pP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Xác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oxi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hóa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chlorine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: Cl</a:t>
            </a:r>
            <a:r>
              <a:rPr lang="en-US" sz="28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HCl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HClO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HClO</a:t>
            </a:r>
            <a:r>
              <a:rPr lang="en-US" sz="28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HClO</a:t>
            </a:r>
            <a:r>
              <a:rPr lang="en-US" sz="28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HClO</a:t>
            </a:r>
            <a:r>
              <a:rPr lang="en-US" sz="2800" baseline="-25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vi-VN"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oxi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hóa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chlorine,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hãy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thích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tại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sao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Cl</a:t>
            </a:r>
            <a:r>
              <a:rPr lang="en-US" sz="28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vừa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tính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oxi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hóa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vừa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tính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khử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?</a:t>
            </a:r>
            <a:endParaRPr lang="vi-VN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43608" y="1340768"/>
            <a:ext cx="30825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800" b="1" dirty="0" err="1">
                <a:solidFill>
                  <a:prstClr val="black"/>
                </a:solidFill>
              </a:rPr>
              <a:t>Phiếu</a:t>
            </a:r>
            <a:r>
              <a:rPr lang="en-US" sz="2800" b="1" dirty="0">
                <a:solidFill>
                  <a:prstClr val="black"/>
                </a:solidFill>
              </a:rPr>
              <a:t> </a:t>
            </a:r>
            <a:r>
              <a:rPr lang="en-US" sz="2800" b="1" dirty="0" err="1">
                <a:solidFill>
                  <a:prstClr val="black"/>
                </a:solidFill>
              </a:rPr>
              <a:t>học</a:t>
            </a:r>
            <a:r>
              <a:rPr lang="en-US" sz="2800" b="1" dirty="0">
                <a:solidFill>
                  <a:prstClr val="black"/>
                </a:solidFill>
              </a:rPr>
              <a:t> </a:t>
            </a:r>
            <a:r>
              <a:rPr lang="en-US" sz="2800" b="1" dirty="0" err="1">
                <a:solidFill>
                  <a:prstClr val="black"/>
                </a:solidFill>
              </a:rPr>
              <a:t>tập</a:t>
            </a:r>
            <a:r>
              <a:rPr lang="en-US" sz="2800" b="1" dirty="0">
                <a:solidFill>
                  <a:prstClr val="black"/>
                </a:solidFill>
              </a:rPr>
              <a:t> </a:t>
            </a:r>
            <a:r>
              <a:rPr lang="en-US" sz="2800" b="1" dirty="0" err="1">
                <a:solidFill>
                  <a:prstClr val="black"/>
                </a:solidFill>
              </a:rPr>
              <a:t>số</a:t>
            </a:r>
            <a:r>
              <a:rPr lang="en-US" sz="2800" b="1" dirty="0">
                <a:solidFill>
                  <a:prstClr val="black"/>
                </a:solidFill>
              </a:rPr>
              <a:t> 3: </a:t>
            </a:r>
            <a:endParaRPr lang="vi-VN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4949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1560" y="1997839"/>
            <a:ext cx="792088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>
              <a:buAutoNum type="arabicPeriod"/>
            </a:pP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tự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nhiên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tố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halogen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tồn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tại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ở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dạng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Viết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vài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halogen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thường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dùng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tế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vi-VN"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halogen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nhận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1 electron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kim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loại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hoặc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góp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chung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electron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phi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kim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Hãy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mô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tả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liên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NaCl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HCl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minh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họa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</a:t>
            </a:r>
            <a:endParaRPr lang="vi-VN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15616" y="1340768"/>
            <a:ext cx="30796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800" b="1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Phiếu</a:t>
            </a:r>
            <a:r>
              <a:rPr lang="en-US" sz="28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8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tập</a:t>
            </a:r>
            <a:r>
              <a:rPr lang="en-US" sz="28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8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4:</a:t>
            </a:r>
            <a:endParaRPr lang="vi-VN" sz="28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7283" y="476672"/>
            <a:ext cx="556684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sz="24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CẤU</a:t>
            </a:r>
            <a:r>
              <a:rPr lang="en-US" sz="2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sz="2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sz="2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sz="2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sz="2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TỬ</a:t>
            </a:r>
            <a:endParaRPr lang="en-US" sz="2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4949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79512" y="476672"/>
            <a:ext cx="3888432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en-US" sz="24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TÍNH</a:t>
            </a:r>
            <a:r>
              <a:rPr lang="en-US" sz="2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sz="2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VẬT</a:t>
            </a:r>
            <a:r>
              <a:rPr lang="en-US" sz="2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LÍ</a:t>
            </a:r>
            <a:endParaRPr lang="en-US" sz="2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97666" y="1412776"/>
            <a:ext cx="802280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bảng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21.2,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mô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tả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trạng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thái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màu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sắc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đơn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halogen ở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thường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?</a:t>
            </a:r>
            <a:endParaRPr lang="vi-VN"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bảng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21.2,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nhận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xét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xu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hướng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biến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đổi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nhiệt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độ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nóng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chảy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nhiệt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độ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sôi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halogen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thích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</a:t>
            </a:r>
            <a:endParaRPr lang="vi-VN"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y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tế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dung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dịch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iodine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loãng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etanol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dùng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làm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gì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?</a:t>
            </a:r>
            <a:endParaRPr lang="vi-VN"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Hít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thở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khí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chứa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halogen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nồng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độ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vượt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ngưỡng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phép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ảnh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hưởng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gì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tới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hô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hấp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</a:t>
            </a:r>
            <a:endParaRPr lang="vi-VN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3568" y="1412776"/>
            <a:ext cx="8049985" cy="440120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- F2 (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khí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lục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nhạt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), Cl2 (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khí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vàng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lục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), Br2 (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lỏng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nâu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đỏ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),</a:t>
            </a:r>
            <a:endParaRPr lang="vi-VN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I2 (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rắn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đen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tím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).</a:t>
            </a:r>
            <a:endParaRPr lang="vi-VN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F2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đến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I2: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nhiệt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độ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nóng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chảy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nhiệt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độ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sôi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tăng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do</a:t>
            </a:r>
            <a:endParaRPr lang="vi-VN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Tương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tác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van der Waals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giữa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tăng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vi-VN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Khối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tăng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vi-VN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y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tế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dung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dịch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iodine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loãng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etanol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dùng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làm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thuốc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sát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trùng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vi-VN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endParaRPr lang="vi-VN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4949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79512" y="476672"/>
            <a:ext cx="3960440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en-US" sz="24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TÍNH</a:t>
            </a:r>
            <a:r>
              <a:rPr lang="en-US" sz="2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sz="2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HÓA</a:t>
            </a:r>
            <a:r>
              <a:rPr lang="en-US" sz="2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HỌC</a:t>
            </a:r>
            <a:endParaRPr lang="en-US" sz="2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99592" y="1124744"/>
            <a:ext cx="29594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Phiếu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tập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5</a:t>
            </a:r>
            <a:endParaRPr lang="vi-VN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844824"/>
            <a:ext cx="7173070" cy="3888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4949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2" y="476672"/>
            <a:ext cx="3960440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en-US" sz="24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TÍNH</a:t>
            </a:r>
            <a:r>
              <a:rPr lang="en-US" sz="2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sz="2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HÓA</a:t>
            </a:r>
            <a:r>
              <a:rPr lang="en-US" sz="2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HỌC</a:t>
            </a:r>
            <a:endParaRPr lang="en-US" sz="2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484784"/>
            <a:ext cx="7901999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4949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2" y="476672"/>
            <a:ext cx="3960440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en-US" sz="24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TÍNH</a:t>
            </a:r>
            <a:r>
              <a:rPr lang="en-US" sz="2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sz="2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HÓA</a:t>
            </a:r>
            <a:r>
              <a:rPr lang="en-US" sz="2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HỌC</a:t>
            </a:r>
            <a:endParaRPr lang="en-US" sz="2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412776"/>
            <a:ext cx="8172725" cy="4589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49499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79512" y="476672"/>
            <a:ext cx="4968552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4. </a:t>
            </a:r>
            <a:r>
              <a:rPr lang="en-US" sz="24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sz="2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CHẾ</a:t>
            </a:r>
            <a:r>
              <a:rPr lang="en-US" sz="2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CHLORINE</a:t>
            </a:r>
            <a:endParaRPr lang="en-US" sz="2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43000" y="1628800"/>
            <a:ext cx="874948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Tx/>
              <a:buChar char="-"/>
            </a:pP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Trình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bày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viết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PTHH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chế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chlorine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PTN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CN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pPr algn="just"/>
            <a:endParaRPr lang="vi-VN" sz="3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Khi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sản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xuất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chlorine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nghiệp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NaOH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H</a:t>
            </a:r>
            <a:r>
              <a:rPr lang="en-US" sz="3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ở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cực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âm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còn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Cl</a:t>
            </a:r>
            <a:r>
              <a:rPr lang="en-US" sz="3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ở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cực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dương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Tại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sao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cần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sử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màng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ngăn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xốp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ngăn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cách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hai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cực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?</a:t>
            </a:r>
            <a:endParaRPr lang="vi-VN" sz="3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4949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3528" y="476672"/>
            <a:ext cx="4680520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4. </a:t>
            </a:r>
            <a:r>
              <a:rPr lang="en-US" sz="24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sz="2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CHẾ</a:t>
            </a:r>
            <a:r>
              <a:rPr lang="en-US" sz="2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CHLORINE</a:t>
            </a:r>
            <a:endParaRPr lang="en-US" sz="2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30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458009"/>
            <a:ext cx="7992888" cy="1898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1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645024"/>
            <a:ext cx="8568952" cy="2623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4949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520" y="476672"/>
            <a:ext cx="3312368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5. </a:t>
            </a:r>
            <a:r>
              <a:rPr lang="en-US" sz="24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LUYỆN</a:t>
            </a:r>
            <a:r>
              <a:rPr lang="en-US" sz="2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TẬP</a:t>
            </a:r>
            <a:endParaRPr lang="en-US" sz="2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67544" y="1556792"/>
            <a:ext cx="8136904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800" dirty="0">
                <a:latin typeface="Times New Roman" pitchFamily="18" charset="0"/>
                <a:cs typeface="Times New Roman" pitchFamily="18" charset="0"/>
              </a:rPr>
              <a:t>1/ Nguyên tố nào theo tiếng Hi Lạp nghĩa là sự hủy diệt, chết chóc?</a:t>
            </a:r>
            <a:endParaRPr lang="vi-VN"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pt-BR" sz="2800" dirty="0">
                <a:latin typeface="Times New Roman" pitchFamily="18" charset="0"/>
                <a:cs typeface="Times New Roman" pitchFamily="18" charset="0"/>
              </a:rPr>
              <a:t>2/ Kể tên các nguyên tố halogen? </a:t>
            </a:r>
            <a:endParaRPr lang="vi-VN"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pt-BR" sz="2800" dirty="0">
                <a:latin typeface="Times New Roman" pitchFamily="18" charset="0"/>
                <a:cs typeface="Times New Roman" pitchFamily="18" charset="0"/>
              </a:rPr>
              <a:t>3/ Tính chất hóa  học đặc trưng của các halogen là gì? Quy luật biến đổi tính chất đó?</a:t>
            </a:r>
            <a:endParaRPr lang="vi-VN"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pt-BR" sz="2800" dirty="0">
                <a:latin typeface="Times New Roman" pitchFamily="18" charset="0"/>
                <a:cs typeface="Times New Roman" pitchFamily="18" charset="0"/>
              </a:rPr>
              <a:t>4/ Quy luật biến đổi tính chất của các halogen về bán kính nguyên tử, độ âm điện, nhiệt độ nóng chảy, nhiệt độ sôi?</a:t>
            </a:r>
            <a:endParaRPr lang="vi-VN"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pt-BR" sz="2800" dirty="0">
                <a:latin typeface="Times New Roman" pitchFamily="18" charset="0"/>
                <a:cs typeface="Times New Roman" pitchFamily="18" charset="0"/>
              </a:rPr>
              <a:t>5/ Khác với Fluorine, trong hợp chất các halogen Cl, Br, I ngoài số oxi hóa -1 còn có những số oxi hóa nào?</a:t>
            </a:r>
            <a:endParaRPr lang="vi-VN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4949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520" y="476672"/>
            <a:ext cx="3312368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6. </a:t>
            </a:r>
            <a:r>
              <a:rPr lang="en-US" sz="24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VẬN</a:t>
            </a:r>
            <a:r>
              <a:rPr lang="en-US" sz="2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DỤNG</a:t>
            </a:r>
            <a:endParaRPr lang="en-US" sz="2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95536" y="1988840"/>
            <a:ext cx="856895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AutoNum type="arabicPeriod"/>
            </a:pP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hiểu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chlorine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xử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lí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nước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hoạt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vi-VN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nhà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máy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nước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sử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5 mg Cl</a:t>
            </a:r>
            <a:r>
              <a:rPr lang="en-US" sz="2800" baseline="-25000" dirty="0"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khử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trùng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1 L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nước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hoạt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Tính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khổi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Cl</a:t>
            </a:r>
            <a:r>
              <a:rPr lang="en-US" sz="2800" baseline="-25000" dirty="0"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nhà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máy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cần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dùng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khử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trùng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80 000 m</a:t>
            </a:r>
            <a:r>
              <a:rPr lang="en-US" sz="2800" baseline="30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nước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hoạt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</a:t>
            </a:r>
            <a:endParaRPr lang="vi-VN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49499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39552" y="332656"/>
            <a:ext cx="758483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400" b="1" cap="none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Bài</a:t>
            </a:r>
            <a:r>
              <a:rPr lang="en-US" sz="5400" b="1" cap="none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 </a:t>
            </a:r>
            <a:r>
              <a:rPr lang="en-US" sz="5400" b="1" cap="none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học</a:t>
            </a:r>
            <a:r>
              <a:rPr lang="en-US" sz="5400" b="1" cap="none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 </a:t>
            </a:r>
            <a:r>
              <a:rPr lang="en-US" sz="5400" b="1" cap="none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đến</a:t>
            </a:r>
            <a:r>
              <a:rPr lang="en-US" sz="5400" b="1" cap="none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 </a:t>
            </a:r>
            <a:r>
              <a:rPr lang="en-US" sz="5400" b="1" cap="none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đây</a:t>
            </a:r>
            <a:r>
              <a:rPr lang="en-US" sz="5400" b="1" cap="none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 </a:t>
            </a:r>
            <a:r>
              <a:rPr lang="en-US" sz="5400" b="1" cap="none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kết</a:t>
            </a:r>
            <a:r>
              <a:rPr lang="en-US" sz="5400" b="1" cap="none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 </a:t>
            </a:r>
            <a:r>
              <a:rPr lang="en-US" sz="5400" b="1" cap="none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thúc</a:t>
            </a:r>
            <a:r>
              <a:rPr lang="en-US" sz="5400" b="1" cap="none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14949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1008</Words>
  <Application>Microsoft Office PowerPoint</Application>
  <PresentationFormat>On-screen Show (4:3)</PresentationFormat>
  <Paragraphs>140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BÀI 21 NHÓM HALOGEN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BÀI 21     NHÓM HALOGEN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TV_STEM</Manager>
  <Company>TV_STEM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TV_STEM</dc:title>
  <dc:subject>TV_STEM</dc:subject>
  <dc:creator>TV_STEM</dc:creator>
  <cp:keywords>TV_STEM</cp:keywords>
  <dc:description>TV_STEM</dc:description>
  <cp:lastModifiedBy>Nghiêm Xuân</cp:lastModifiedBy>
  <cp:revision>17</cp:revision>
  <dcterms:created xsi:type="dcterms:W3CDTF">2022-08-13T08:40:37Z</dcterms:created>
  <dcterms:modified xsi:type="dcterms:W3CDTF">2022-08-28T02:48:53Z</dcterms:modified>
  <cp:category>TV_STEM</cp:category>
</cp:coreProperties>
</file>