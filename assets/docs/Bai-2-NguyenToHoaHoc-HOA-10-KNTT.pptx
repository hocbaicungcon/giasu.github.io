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05" r:id="rId2"/>
    <p:sldId id="256" r:id="rId3"/>
    <p:sldId id="369" r:id="rId4"/>
    <p:sldId id="370" r:id="rId5"/>
    <p:sldId id="401" r:id="rId6"/>
    <p:sldId id="407" r:id="rId7"/>
    <p:sldId id="402" r:id="rId8"/>
    <p:sldId id="403" r:id="rId9"/>
    <p:sldId id="404" r:id="rId10"/>
    <p:sldId id="405" r:id="rId11"/>
    <p:sldId id="406" r:id="rId12"/>
    <p:sldId id="409" r:id="rId13"/>
    <p:sldId id="410" r:id="rId14"/>
    <p:sldId id="395" r:id="rId15"/>
    <p:sldId id="411" r:id="rId16"/>
    <p:sldId id="396" r:id="rId17"/>
    <p:sldId id="397" r:id="rId18"/>
    <p:sldId id="398" r:id="rId19"/>
    <p:sldId id="382" r:id="rId20"/>
    <p:sldId id="384" r:id="rId21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6666FF"/>
    <a:srgbClr val="303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21" autoAdjust="0"/>
    <p:restoredTop sz="95801"/>
  </p:normalViewPr>
  <p:slideViewPr>
    <p:cSldViewPr snapToGrid="0" snapToObjects="1">
      <p:cViewPr varScale="1">
        <p:scale>
          <a:sx n="53" d="100"/>
          <a:sy n="53" d="100"/>
        </p:scale>
        <p:origin x="108" y="4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554C3-15B4-3644-BC7A-4B9275EC1D04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7AB28-62C0-724E-8E2F-766E5E451EC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05897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0994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630A-852A-6A41-BA1F-142AC24DE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C361A-7252-7F40-9661-95A2EB23F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008DC-148F-F747-B03A-7028799B6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551-B90A-5B4E-B6C2-7C6D6217FDFF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2A7FC-7A8E-5241-9262-D5D724951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053D7-02CB-B344-903B-C3932AE4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7642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EC36A-E7C5-F54E-BB60-A6C1745D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C0CE0-52D0-9A45-BCA6-208AF204B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5CBF0-2507-A545-A715-E511AB97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551-B90A-5B4E-B6C2-7C6D6217FDFF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E9EA7-83F6-CE4A-9E83-26C11485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E9BB3-D659-124F-9EC7-BC83A3F6F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8310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1F22-FC89-8445-B971-1FF21BB04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C2EB4-BDD6-2043-ADA0-97615562B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A0C9C-69AD-8E44-B94B-746C69BB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551-B90A-5B4E-B6C2-7C6D6217FDFF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42037-0B32-704C-B826-09ACBA57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76FB-B9D7-D345-B9BB-FF8FB702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0402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D00D-FDCE-B74E-AA42-2CBAF93E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D8CC1-FA65-9D48-A24B-EB455D7DC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9C715-85BE-D047-846E-2B0EDFDBB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68CDA-E405-9C42-8C26-09E74768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551-B90A-5B4E-B6C2-7C6D6217FDFF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036B1-1E2A-994C-82DD-02E50DDE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7E35F-A531-444C-9DBC-7561BB7C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5461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7B06-3DAB-A24D-B4B8-3974D5C2D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6F6E9-9A1C-2546-91B1-6D4476DEE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2DCB5-A4BE-094C-A438-14580409C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BAD674-D6E2-5140-8E39-23CBD7DE2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D2419E-71DA-8F4E-8F70-029911DD4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09429-5204-7A46-B467-417275BD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551-B90A-5B4E-B6C2-7C6D6217FDFF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CE4EF-510E-4B47-BDB9-64DECA318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83E4E8-CD7B-9C43-939C-799A71A1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7040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BC55D-1E2E-8C43-989E-61A59D37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BA187-B846-C744-85F6-7A35A8477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551-B90A-5B4E-B6C2-7C6D6217FDFF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77600-77CC-CC44-9065-283C95290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F093F-BCE3-724D-A678-EAC6194EB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38440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8645D9-290E-524E-8564-871DA022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551-B90A-5B4E-B6C2-7C6D6217FDFF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FC7BEC-BA38-2E49-836B-17881898E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80166-9DE2-704A-8931-0E43D8D18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37365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A1C79-C7A9-624F-9C0A-9EF36146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86630-E8FC-2845-8090-5D9083C34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3E329-6C09-2B45-9C77-B139A2AE8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D15D5-D48D-DF47-A8BB-9A5C77FE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551-B90A-5B4E-B6C2-7C6D6217FDFF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33120-46B4-7F4F-A50B-928D285F9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2434D-FAA0-1842-A8FB-A4E1CC81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7593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9E8F-3CC6-244B-A828-10469482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152C9-86DA-9644-B663-C1331A55C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C4E12-0063-1D42-896E-E313124F2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5D5A2-BA64-AC43-996A-5337BFA3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551-B90A-5B4E-B6C2-7C6D6217FDFF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ACD80-E16D-B049-B0C3-6C6E8887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39E56-32B9-714A-9FFA-0B2E1B3C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866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C100D-B8EA-954B-B358-FF9AE102B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BEB67-2DF4-6746-9408-E23E61584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270F6-3530-9E49-A9E4-E15E3D6C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551-B90A-5B4E-B6C2-7C6D6217FDFF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6EC25-5D2D-874D-A523-91F7FF54E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7171-7AE3-AB46-A824-B234A0C4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70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5A939D-EA95-6A42-9BEC-803FD1F2E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18DCA-8979-8248-850D-E9F777C01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95E7A-2A4E-EF44-BD19-D8BB55CD0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551-B90A-5B4E-B6C2-7C6D6217FDFF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C48C2-A52B-9944-B1BF-867EA23CD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50163-F76F-EF41-AC66-373133B9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1025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125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8880A-7B97-1449-BCA5-2F1961D83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3A7CF-6A32-484A-B247-A0354EE51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ED0A8-C41F-0A47-9063-CC07D184B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20551-B90A-5B4E-B6C2-7C6D6217FDFF}" type="datetimeFigureOut">
              <a:rPr lang="x-none" smtClean="0"/>
              <a:t>28/08/2022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BE1F9-5AE1-1140-AA57-9F5A8FF93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05A52-7BAD-6D48-94B7-65D27D8F8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11313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23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gif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3.gif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3.gif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23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gif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3.gif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gif"/><Relationship Id="rId4" Type="http://schemas.openxmlformats.org/officeDocument/2006/relationships/image" Target="../media/image2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7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pic>
          <p:nvPicPr>
            <p:cNvPr id="20487" name="Picture 6" descr="BAR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88" name="Picture 6" descr="BAR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230"/>
              <a:ext cx="5760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89" name="Picture 92" descr="N3"/>
            <p:cNvPicPr>
              <a:picLocks noChangeAspect="1" noChangeArrowheads="1"/>
            </p:cNvPicPr>
            <p:nvPr/>
          </p:nvPicPr>
          <p:blipFill>
            <a:blip r:embed="rId3">
              <a:lum brigh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3619" y="2034"/>
              <a:ext cx="4176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90" name="Picture 92" descr="N3"/>
            <p:cNvPicPr>
              <a:picLocks noChangeAspect="1" noChangeArrowheads="1"/>
            </p:cNvPicPr>
            <p:nvPr/>
          </p:nvPicPr>
          <p:blipFill>
            <a:blip r:embed="rId3">
              <a:lum brigh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-2034" y="2082"/>
              <a:ext cx="4176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0483" name="Picture 22" descr="bubbl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3962400"/>
            <a:ext cx="23368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352800" y="4845725"/>
            <a:ext cx="7010400" cy="1015663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>
              <a:defRPr/>
            </a:pPr>
            <a:r>
              <a:rPr lang="en-US" sz="2000" b="1" cap="all" dirty="0">
                <a:ln w="0"/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GIÁO VIÊN: PHAN THỊ </a:t>
            </a:r>
            <a:r>
              <a:rPr lang="en-US" sz="2000" b="1" cap="all" dirty="0" err="1">
                <a:ln w="0"/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KiỀU</a:t>
            </a:r>
            <a:r>
              <a:rPr lang="en-US" sz="2000" b="1" cap="all" dirty="0">
                <a:ln w="0"/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 NGUYÊN</a:t>
            </a:r>
          </a:p>
          <a:p>
            <a:pPr>
              <a:defRPr/>
            </a:pPr>
            <a:r>
              <a:rPr lang="en-US" sz="2000" b="1" cap="all" dirty="0">
                <a:ln w="0"/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DẠY LỚP:    </a:t>
            </a:r>
          </a:p>
          <a:p>
            <a:pPr>
              <a:defRPr/>
            </a:pPr>
            <a:r>
              <a:rPr lang="en-US" sz="2000" b="1" cap="all" dirty="0">
                <a:ln w="0"/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NGÀY DẠY: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1787426"/>
            <a:ext cx="10217150" cy="15696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48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NHIỆT LIỆT CHÀO MỪNG QUÝ THẦY </a:t>
            </a:r>
            <a:r>
              <a:rPr lang="en-US" sz="4800" b="1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CÔ</a:t>
            </a:r>
            <a:r>
              <a:rPr lang="en-US" sz="48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</a:p>
          <a:p>
            <a:pPr algn="ctr">
              <a:defRPr/>
            </a:pPr>
            <a:r>
              <a:rPr lang="en-US" sz="4800" b="1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VÀ</a:t>
            </a:r>
            <a:r>
              <a:rPr lang="en-US" sz="48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4800" b="1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CÁC</a:t>
            </a:r>
            <a:r>
              <a:rPr lang="en-US" sz="48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4800" b="1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EM</a:t>
            </a:r>
            <a:endParaRPr lang="en-US" sz="48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1600" y="228600"/>
            <a:ext cx="70104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2000" b="1" cap="all" dirty="0">
                <a:ln w="0"/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TRƯỜNG THPT </a:t>
            </a:r>
            <a:r>
              <a:rPr lang="en-US" sz="2000" b="1" cap="all" dirty="0" err="1">
                <a:ln w="0"/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HuỲNH</a:t>
            </a:r>
            <a:r>
              <a:rPr lang="en-US" sz="2000" b="1" cap="all" dirty="0">
                <a:ln w="0"/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 THÚC KHÁNG </a:t>
            </a:r>
          </a:p>
          <a:p>
            <a:pPr algn="ctr">
              <a:defRPr/>
            </a:pPr>
            <a:r>
              <a:rPr lang="en-US" sz="2000" b="1" cap="all" dirty="0">
                <a:ln w="0"/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TỔ </a:t>
            </a:r>
            <a:r>
              <a:rPr lang="en-US" sz="2000" b="1" cap="all" dirty="0" err="1">
                <a:ln w="0"/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HÓA</a:t>
            </a:r>
            <a:r>
              <a:rPr lang="en-US" sz="2000" b="1" cap="all" dirty="0">
                <a:ln w="0"/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  - TIN</a:t>
            </a:r>
          </a:p>
        </p:txBody>
      </p:sp>
    </p:spTree>
    <p:extLst>
      <p:ext uri="{BB962C8B-B14F-4D97-AF65-F5344CB8AC3E}">
        <p14:creationId xmlns:p14="http://schemas.microsoft.com/office/powerpoint/2010/main" val="2441153198"/>
      </p:ext>
    </p:extLst>
  </p:cSld>
  <p:clrMapOvr>
    <a:masterClrMapping/>
  </p:clrMapOvr>
  <p:transition>
    <p:strip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750AF9-F2DC-C74C-B0E2-6780E752869B}"/>
              </a:ext>
            </a:extLst>
          </p:cNvPr>
          <p:cNvSpPr/>
          <p:nvPr/>
        </p:nvSpPr>
        <p:spPr>
          <a:xfrm>
            <a:off x="454206" y="636579"/>
            <a:ext cx="118987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x-none" sz="240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Điền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chữ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còn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thiếu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dấu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chấm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x-none" sz="2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38F1B9-5867-2646-AE5B-BC897452992D}"/>
              </a:ext>
            </a:extLst>
          </p:cNvPr>
          <p:cNvSpPr/>
          <p:nvPr/>
        </p:nvSpPr>
        <p:spPr>
          <a:xfrm>
            <a:off x="4119020" y="-56789"/>
            <a:ext cx="4238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KHỞI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endParaRPr lang="x-none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B7F7DEE1-F7F0-7348-87C9-41CCC24B96B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1088"/>
            <a:ext cx="1038225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506216"/>
              </p:ext>
            </p:extLst>
          </p:nvPr>
        </p:nvGraphicFramePr>
        <p:xfrm>
          <a:off x="128336" y="1219202"/>
          <a:ext cx="12063664" cy="5716715"/>
        </p:xfrm>
        <a:graphic>
          <a:graphicData uri="http://schemas.openxmlformats.org/drawingml/2006/table">
            <a:tbl>
              <a:tblPr firstRow="1" firstCol="1" bandRow="1"/>
              <a:tblGrid>
                <a:gridCol w="3465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7216">
                <a:tc rowSpan="2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Tác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hại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của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việc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........................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đối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với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cơ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thể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con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người</a:t>
                      </a:r>
                      <a:endParaRPr lang="en-US" sz="240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Vai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trò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của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........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trong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cơ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thể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là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rất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quan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trọng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đối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với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sự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phát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triển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cơ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thể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con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người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. .....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là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vi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chất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quan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trọng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để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tuyến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giáp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tổng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hợp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các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..............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điều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chỉnh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quá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trình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phát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triển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của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hệ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thần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kinh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trung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ương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phát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triển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hệ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sinh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dục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và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các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bộ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phận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trong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cơ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thể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như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tim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mạch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tiêu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hóa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, da -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lông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-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tóc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-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móng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duy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trì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năng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lượng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cho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cơ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thể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hoạt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động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.</a:t>
                      </a:r>
                      <a:endParaRPr lang="en-US" sz="2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Ngoài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ra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, ......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còn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có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vai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trò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trong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việc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chuyển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hóa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beta -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caroten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thành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vitamin A,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tổng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hợp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protein hay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hấp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thụ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đường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trong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ruột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non.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 </a:t>
                      </a:r>
                      <a:endParaRPr lang="en-US" sz="240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2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.............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là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một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nguyên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tố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vi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lượng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cần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thiết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cho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con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người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.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Nhưng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cơ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thể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chúng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ta .............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tự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tổng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hợp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được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chúng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nên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cần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phải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...................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từ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nguồn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thức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ăn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bên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ngoài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.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Trong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tự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nhiên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, .................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thường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có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trong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tảo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biển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rau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chân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vịt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và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một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số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loại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hải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sản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.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Tuy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nhiên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nguồn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cung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cấp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chính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và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chủ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yếu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cho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con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người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là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thông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qua ...........................</a:t>
                      </a:r>
                      <a:endParaRPr lang="en-US" sz="240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21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36" y="3003285"/>
            <a:ext cx="3384885" cy="241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5257621" y="1134157"/>
            <a:ext cx="6799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iot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05686" y="1533433"/>
            <a:ext cx="6960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Iot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8479" y="1946971"/>
            <a:ext cx="13997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hormon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9766" y="3484326"/>
            <a:ext cx="5950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iot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21502" y="4663420"/>
            <a:ext cx="6110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Iot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11688" y="4986648"/>
            <a:ext cx="1024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không</a:t>
            </a:r>
            <a:endParaRPr lang="en-U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91531" y="5411397"/>
            <a:ext cx="17764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bổ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sung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iot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731" y="5722439"/>
            <a:ext cx="5950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iot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8104" y="6461846"/>
            <a:ext cx="1348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muối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iot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5534" y="1882803"/>
            <a:ext cx="1348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thiếu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iot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724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Box 232"/>
          <p:cNvSpPr txBox="1"/>
          <p:nvPr/>
        </p:nvSpPr>
        <p:spPr>
          <a:xfrm>
            <a:off x="2190328" y="7890561"/>
            <a:ext cx="856041" cy="358788"/>
          </a:xfrm>
          <a:prstGeom prst="rect">
            <a:avLst/>
          </a:prstGeom>
          <a:noFill/>
        </p:spPr>
        <p:txBody>
          <a:bodyPr wrap="none" lIns="81060" tIns="40531" rIns="81060" bIns="40531" rtlCol="0">
            <a:spAutoFit/>
          </a:bodyPr>
          <a:lstStyle/>
          <a:p>
            <a:r>
              <a:rPr lang="zh-CN" altLang="en-US"/>
              <a:t>延迟符</a:t>
            </a:r>
            <a:endParaRPr lang="zh-CN" altLang="en-US" dirty="0"/>
          </a:p>
        </p:txBody>
      </p:sp>
      <p:sp>
        <p:nvSpPr>
          <p:cNvPr id="83" name="文本框 24">
            <a:extLst>
              <a:ext uri="{FF2B5EF4-FFF2-40B4-BE49-F238E27FC236}">
                <a16:creationId xmlns:a16="http://schemas.microsoft.com/office/drawing/2014/main" id="{F4552ED9-7248-4289-9B6B-E2EB16889FD8}"/>
              </a:ext>
            </a:extLst>
          </p:cNvPr>
          <p:cNvSpPr txBox="1"/>
          <p:nvPr/>
        </p:nvSpPr>
        <p:spPr>
          <a:xfrm>
            <a:off x="1314875" y="151870"/>
            <a:ext cx="9563837" cy="769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3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CHƯƠNG</a:t>
            </a:r>
            <a:r>
              <a:rPr lang="en-US" altLang="zh-CN" sz="43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I: </a:t>
            </a:r>
            <a:r>
              <a:rPr lang="en-US" altLang="zh-CN" sz="43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CẤU</a:t>
            </a:r>
            <a:r>
              <a:rPr lang="en-US" altLang="zh-CN" sz="43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43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TẠO</a:t>
            </a:r>
            <a:r>
              <a:rPr lang="en-US" altLang="zh-CN" sz="43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43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NGUYÊN</a:t>
            </a:r>
            <a:r>
              <a:rPr lang="en-US" altLang="zh-CN" sz="43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43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TỬ</a:t>
            </a:r>
            <a:endParaRPr lang="zh-CN" altLang="en-US" sz="4399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4" name="文本框 24">
            <a:extLst>
              <a:ext uri="{FF2B5EF4-FFF2-40B4-BE49-F238E27FC236}">
                <a16:creationId xmlns:a16="http://schemas.microsoft.com/office/drawing/2014/main" id="{13D52364-55F9-407B-B52A-1E32B48E653A}"/>
              </a:ext>
            </a:extLst>
          </p:cNvPr>
          <p:cNvSpPr txBox="1"/>
          <p:nvPr/>
        </p:nvSpPr>
        <p:spPr>
          <a:xfrm>
            <a:off x="333260" y="1095987"/>
            <a:ext cx="11525480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999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TIẾT</a:t>
            </a:r>
            <a:r>
              <a:rPr lang="en-US" altLang="zh-CN" sz="399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 - </a:t>
            </a:r>
            <a:r>
              <a:rPr lang="en-US" altLang="zh-CN" sz="3999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Bài</a:t>
            </a:r>
            <a:r>
              <a:rPr lang="en-US" altLang="zh-CN" sz="399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2 : </a:t>
            </a:r>
            <a:r>
              <a:rPr lang="en-US" altLang="zh-CN" sz="3999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NGUYÊN</a:t>
            </a:r>
            <a:r>
              <a:rPr lang="en-US" altLang="zh-CN" sz="399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TỐ</a:t>
            </a:r>
            <a:r>
              <a:rPr lang="en-US" altLang="zh-CN" sz="399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HÓA</a:t>
            </a:r>
            <a:r>
              <a:rPr lang="en-US" altLang="zh-CN" sz="399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HỌC</a:t>
            </a:r>
            <a:endParaRPr lang="zh-CN" altLang="en-US" sz="399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242" name="Picture 2" descr="What are the chemical elements of the human brain? - Quo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328" y="2759242"/>
            <a:ext cx="8171739" cy="409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88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4">
            <a:extLst>
              <a:ext uri="{FF2B5EF4-FFF2-40B4-BE49-F238E27FC236}">
                <a16:creationId xmlns:a16="http://schemas.microsoft.com/office/drawing/2014/main" id="{079BAC54-2D29-1F4A-9CA3-5E39CD3B4152}"/>
              </a:ext>
            </a:extLst>
          </p:cNvPr>
          <p:cNvSpPr txBox="1"/>
          <p:nvPr/>
        </p:nvSpPr>
        <p:spPr>
          <a:xfrm>
            <a:off x="148065" y="-57875"/>
            <a:ext cx="11525480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TIẾT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 -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Bài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2 :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NGUYÊN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TỐ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HOÁ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HỌC</a:t>
            </a:r>
            <a:endParaRPr lang="zh-CN" altLang="en-US" sz="3999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9177C49-C918-434D-86D2-C1EE1461B1BB}"/>
              </a:ext>
            </a:extLst>
          </p:cNvPr>
          <p:cNvSpPr txBox="1">
            <a:spLocks/>
          </p:cNvSpPr>
          <p:nvPr/>
        </p:nvSpPr>
        <p:spPr>
          <a:xfrm>
            <a:off x="-1" y="614718"/>
            <a:ext cx="9630137" cy="571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lnSpc>
                <a:spcPct val="150000"/>
              </a:lnSpc>
              <a:buAutoNum type="romanUcPeriod"/>
            </a:pPr>
            <a:r>
              <a:rPr 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en-US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loud 1"/>
          <p:cNvSpPr/>
          <p:nvPr/>
        </p:nvSpPr>
        <p:spPr>
          <a:xfrm>
            <a:off x="2124868" y="1186218"/>
            <a:ext cx="7356016" cy="470123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Nghiên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cứu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sách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giáo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khoa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trang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17,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thảo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luận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nhóm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và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hoàn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thành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câu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1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trong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phiếu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học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tập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số</a:t>
            </a: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1?</a:t>
            </a:r>
            <a:endParaRPr lang="en-US" sz="4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88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4">
            <a:extLst>
              <a:ext uri="{FF2B5EF4-FFF2-40B4-BE49-F238E27FC236}">
                <a16:creationId xmlns:a16="http://schemas.microsoft.com/office/drawing/2014/main" id="{079BAC54-2D29-1F4A-9CA3-5E39CD3B4152}"/>
              </a:ext>
            </a:extLst>
          </p:cNvPr>
          <p:cNvSpPr txBox="1"/>
          <p:nvPr/>
        </p:nvSpPr>
        <p:spPr>
          <a:xfrm>
            <a:off x="148065" y="-57875"/>
            <a:ext cx="11525480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TIẾT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 -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Bài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2 :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NGUYÊN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TỐ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HOÁ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HỌC</a:t>
            </a:r>
            <a:endParaRPr lang="zh-CN" altLang="en-US" sz="3999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9177C49-C918-434D-86D2-C1EE1461B1BB}"/>
              </a:ext>
            </a:extLst>
          </p:cNvPr>
          <p:cNvSpPr txBox="1">
            <a:spLocks/>
          </p:cNvSpPr>
          <p:nvPr/>
        </p:nvSpPr>
        <p:spPr>
          <a:xfrm>
            <a:off x="-1" y="614718"/>
            <a:ext cx="9630137" cy="571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lnSpc>
                <a:spcPct val="150000"/>
              </a:lnSpc>
              <a:buAutoNum type="romanUcPeriod"/>
            </a:pP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230" y="1073924"/>
            <a:ext cx="119083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000" dirty="0">
                <a:latin typeface="Arial" pitchFamily="34" charset="0"/>
                <a:cs typeface="Arial" pitchFamily="34" charset="0"/>
              </a:rPr>
              <a:t>-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hóa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học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tập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hợp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đơn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vị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điện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tích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hạt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nhân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. 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693" y="2159180"/>
            <a:ext cx="9946106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564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4">
            <a:extLst>
              <a:ext uri="{FF2B5EF4-FFF2-40B4-BE49-F238E27FC236}">
                <a16:creationId xmlns:a16="http://schemas.microsoft.com/office/drawing/2014/main" id="{079BAC54-2D29-1F4A-9CA3-5E39CD3B4152}"/>
              </a:ext>
            </a:extLst>
          </p:cNvPr>
          <p:cNvSpPr txBox="1"/>
          <p:nvPr/>
        </p:nvSpPr>
        <p:spPr>
          <a:xfrm>
            <a:off x="148065" y="-57875"/>
            <a:ext cx="11525480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TIẾT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 -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Bài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2 :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NGUYÊN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TỐ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HOÁ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HỌC</a:t>
            </a:r>
            <a:endParaRPr lang="zh-CN" altLang="en-US" sz="3999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9177C49-C918-434D-86D2-C1EE1461B1BB}"/>
              </a:ext>
            </a:extLst>
          </p:cNvPr>
          <p:cNvSpPr txBox="1">
            <a:spLocks/>
          </p:cNvSpPr>
          <p:nvPr/>
        </p:nvSpPr>
        <p:spPr>
          <a:xfrm>
            <a:off x="-1" y="614718"/>
            <a:ext cx="9630137" cy="571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lnSpc>
                <a:spcPct val="150000"/>
              </a:lnSpc>
              <a:buAutoNum type="romanUcPeriod"/>
            </a:pP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230" y="1191643"/>
            <a:ext cx="119083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000" dirty="0">
                <a:latin typeface="Arial" pitchFamily="34" charset="0"/>
                <a:cs typeface="Arial" pitchFamily="34" charset="0"/>
              </a:rPr>
              <a:t>-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hóa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học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tập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hợp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đơn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vị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điện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tích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hạt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nhân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.  </a:t>
            </a:r>
          </a:p>
        </p:txBody>
      </p:sp>
      <p:sp>
        <p:nvSpPr>
          <p:cNvPr id="7" name="Rectangle 6"/>
          <p:cNvSpPr/>
          <p:nvPr/>
        </p:nvSpPr>
        <p:spPr>
          <a:xfrm>
            <a:off x="-1" y="2209077"/>
            <a:ext cx="121920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1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tố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tính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chất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hoá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học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giống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9177C49-C918-434D-86D2-C1EE1461B1BB}"/>
              </a:ext>
            </a:extLst>
          </p:cNvPr>
          <p:cNvSpPr txBox="1">
            <a:spLocks/>
          </p:cNvSpPr>
          <p:nvPr/>
        </p:nvSpPr>
        <p:spPr>
          <a:xfrm>
            <a:off x="19729" y="2868637"/>
            <a:ext cx="9630137" cy="571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loud 11"/>
          <p:cNvSpPr/>
          <p:nvPr/>
        </p:nvSpPr>
        <p:spPr>
          <a:xfrm>
            <a:off x="3328026" y="2868637"/>
            <a:ext cx="6184942" cy="350007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Nghiên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cứu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sách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giáo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khoa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trang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17,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thảo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luận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nhóm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và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hoàn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thành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câu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2,3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trong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phiếu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học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tập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số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Times New Roman"/>
                <a:cs typeface="Arial" pitchFamily="34" charset="0"/>
              </a:rPr>
              <a:t> 1?</a:t>
            </a:r>
            <a:endParaRPr lang="en-US" sz="3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56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4">
            <a:extLst>
              <a:ext uri="{FF2B5EF4-FFF2-40B4-BE49-F238E27FC236}">
                <a16:creationId xmlns:a16="http://schemas.microsoft.com/office/drawing/2014/main" id="{079BAC54-2D29-1F4A-9CA3-5E39CD3B4152}"/>
              </a:ext>
            </a:extLst>
          </p:cNvPr>
          <p:cNvSpPr txBox="1"/>
          <p:nvPr/>
        </p:nvSpPr>
        <p:spPr>
          <a:xfrm>
            <a:off x="148065" y="-57875"/>
            <a:ext cx="11525480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TIẾT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 -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Bài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2 :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NGUYÊN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TỐ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HOÁ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HỌC</a:t>
            </a:r>
            <a:endParaRPr lang="zh-CN" altLang="en-US" sz="3999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9177C49-C918-434D-86D2-C1EE1461B1BB}"/>
              </a:ext>
            </a:extLst>
          </p:cNvPr>
          <p:cNvSpPr txBox="1">
            <a:spLocks/>
          </p:cNvSpPr>
          <p:nvPr/>
        </p:nvSpPr>
        <p:spPr>
          <a:xfrm>
            <a:off x="-1" y="614718"/>
            <a:ext cx="9630137" cy="571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lnSpc>
                <a:spcPct val="150000"/>
              </a:lnSpc>
              <a:buAutoNum type="romanUcPeriod"/>
            </a:pP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230" y="1191643"/>
            <a:ext cx="119083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000" dirty="0">
                <a:latin typeface="Arial" pitchFamily="34" charset="0"/>
                <a:cs typeface="Arial" pitchFamily="34" charset="0"/>
              </a:rPr>
              <a:t>-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hóa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học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tập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hợp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đơn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vị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điện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tích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hạt</a:t>
            </a:r>
            <a:r>
              <a:rPr lang="en-US" sz="3000" i="1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i="1" u="sng" dirty="0" err="1">
                <a:latin typeface="Arial" pitchFamily="34" charset="0"/>
                <a:cs typeface="Arial" pitchFamily="34" charset="0"/>
              </a:rPr>
              <a:t>nhân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.  </a:t>
            </a:r>
          </a:p>
        </p:txBody>
      </p:sp>
      <p:sp>
        <p:nvSpPr>
          <p:cNvPr id="7" name="Rectangle 6"/>
          <p:cNvSpPr/>
          <p:nvPr/>
        </p:nvSpPr>
        <p:spPr>
          <a:xfrm>
            <a:off x="-1" y="2209077"/>
            <a:ext cx="121920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1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tố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tính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chất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hoá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học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giống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9177C49-C918-434D-86D2-C1EE1461B1BB}"/>
              </a:ext>
            </a:extLst>
          </p:cNvPr>
          <p:cNvSpPr txBox="1">
            <a:spLocks/>
          </p:cNvSpPr>
          <p:nvPr/>
        </p:nvSpPr>
        <p:spPr>
          <a:xfrm>
            <a:off x="19729" y="2932805"/>
            <a:ext cx="9630137" cy="571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29389" y="3677634"/>
            <a:ext cx="9120477" cy="1371600"/>
            <a:chOff x="529389" y="3340752"/>
            <a:chExt cx="9120477" cy="1371600"/>
          </a:xfrm>
        </p:grpSpPr>
        <p:sp>
          <p:nvSpPr>
            <p:cNvPr id="8" name="Rectangle 22"/>
            <p:cNvSpPr>
              <a:spLocks noChangeArrowheads="1"/>
            </p:cNvSpPr>
            <p:nvPr/>
          </p:nvSpPr>
          <p:spPr bwMode="auto">
            <a:xfrm>
              <a:off x="4876800" y="3340752"/>
              <a:ext cx="1371600" cy="137160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4000" b="1">
                  <a:solidFill>
                    <a:srgbClr val="D60093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en-US" sz="4400" b="1">
                  <a:solidFill>
                    <a:srgbClr val="D60093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" name="Line 27"/>
            <p:cNvSpPr>
              <a:spLocks noChangeShapeType="1"/>
            </p:cNvSpPr>
            <p:nvPr/>
          </p:nvSpPr>
          <p:spPr bwMode="auto">
            <a:xfrm>
              <a:off x="4191000" y="3797952"/>
              <a:ext cx="914400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28"/>
            <p:cNvSpPr txBox="1">
              <a:spLocks noChangeArrowheads="1"/>
            </p:cNvSpPr>
            <p:nvPr/>
          </p:nvSpPr>
          <p:spPr bwMode="auto">
            <a:xfrm>
              <a:off x="2438400" y="3440137"/>
              <a:ext cx="2029326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3000" dirty="0" err="1">
                  <a:latin typeface="Arial" pitchFamily="34" charset="0"/>
                  <a:cs typeface="Arial" pitchFamily="34" charset="0"/>
                </a:rPr>
                <a:t>Số</a:t>
              </a:r>
              <a:r>
                <a:rPr lang="en-US" altLang="en-US" sz="3000" dirty="0"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en-US" sz="3000" dirty="0" err="1">
                  <a:latin typeface="Arial" pitchFamily="34" charset="0"/>
                  <a:cs typeface="Arial" pitchFamily="34" charset="0"/>
                </a:rPr>
                <a:t>khối</a:t>
              </a:r>
              <a:endParaRPr lang="en-US" altLang="en-US" sz="30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Line 29"/>
            <p:cNvSpPr>
              <a:spLocks noChangeShapeType="1"/>
            </p:cNvSpPr>
            <p:nvPr/>
          </p:nvSpPr>
          <p:spPr bwMode="auto">
            <a:xfrm>
              <a:off x="4184650" y="4374215"/>
              <a:ext cx="914400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31"/>
            <p:cNvSpPr txBox="1">
              <a:spLocks noChangeArrowheads="1"/>
            </p:cNvSpPr>
            <p:nvPr/>
          </p:nvSpPr>
          <p:spPr bwMode="auto">
            <a:xfrm>
              <a:off x="529389" y="4102752"/>
              <a:ext cx="3585411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3000" dirty="0">
                  <a:latin typeface="Arial" pitchFamily="34" charset="0"/>
                  <a:cs typeface="Arial" pitchFamily="34" charset="0"/>
                </a:rPr>
                <a:t>  </a:t>
              </a:r>
              <a:r>
                <a:rPr lang="en-US" altLang="en-US" sz="3000" dirty="0" err="1">
                  <a:latin typeface="Arial" pitchFamily="34" charset="0"/>
                  <a:cs typeface="Arial" pitchFamily="34" charset="0"/>
                </a:rPr>
                <a:t>Số</a:t>
              </a:r>
              <a:r>
                <a:rPr lang="en-US" altLang="en-US" sz="3000" dirty="0"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en-US" sz="3000" dirty="0" err="1">
                  <a:latin typeface="Arial" pitchFamily="34" charset="0"/>
                  <a:cs typeface="Arial" pitchFamily="34" charset="0"/>
                </a:rPr>
                <a:t>hiệu</a:t>
              </a:r>
              <a:r>
                <a:rPr lang="en-US" altLang="en-US" sz="3000" dirty="0"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en-US" sz="3000" dirty="0" err="1">
                  <a:latin typeface="Arial" pitchFamily="34" charset="0"/>
                  <a:cs typeface="Arial" pitchFamily="34" charset="0"/>
                </a:rPr>
                <a:t>nguyên</a:t>
              </a:r>
              <a:r>
                <a:rPr lang="en-US" altLang="en-US" sz="3000" dirty="0"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en-US" sz="3000" dirty="0" err="1">
                  <a:latin typeface="Arial" pitchFamily="34" charset="0"/>
                  <a:cs typeface="Arial" pitchFamily="34" charset="0"/>
                </a:rPr>
                <a:t>tử</a:t>
              </a:r>
              <a:endParaRPr lang="en-US" altLang="en-US" sz="30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Line 32"/>
            <p:cNvSpPr>
              <a:spLocks noChangeShapeType="1"/>
            </p:cNvSpPr>
            <p:nvPr/>
          </p:nvSpPr>
          <p:spPr bwMode="auto">
            <a:xfrm>
              <a:off x="6089650" y="4026552"/>
              <a:ext cx="762000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33"/>
            <p:cNvSpPr txBox="1">
              <a:spLocks noChangeArrowheads="1"/>
            </p:cNvSpPr>
            <p:nvPr/>
          </p:nvSpPr>
          <p:spPr bwMode="auto">
            <a:xfrm>
              <a:off x="7010400" y="3525238"/>
              <a:ext cx="2639466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3000" dirty="0" err="1">
                  <a:latin typeface="Arial" pitchFamily="34" charset="0"/>
                  <a:cs typeface="Arial" pitchFamily="34" charset="0"/>
                </a:rPr>
                <a:t>Kí</a:t>
              </a:r>
              <a:r>
                <a:rPr lang="en-US" altLang="en-US" sz="3000" dirty="0"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en-US" sz="3000" dirty="0" err="1">
                  <a:latin typeface="Arial" pitchFamily="34" charset="0"/>
                  <a:cs typeface="Arial" pitchFamily="34" charset="0"/>
                </a:rPr>
                <a:t>hiệu</a:t>
              </a:r>
              <a:r>
                <a:rPr lang="en-US" altLang="en-US" sz="3000" dirty="0"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en-US" sz="3000" dirty="0" err="1">
                  <a:latin typeface="Arial" pitchFamily="34" charset="0"/>
                  <a:cs typeface="Arial" pitchFamily="34" charset="0"/>
                </a:rPr>
                <a:t>nguyên</a:t>
              </a:r>
              <a:r>
                <a:rPr lang="en-US" altLang="en-US" sz="3000" dirty="0"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en-US" sz="3000" dirty="0" err="1">
                  <a:latin typeface="Arial" pitchFamily="34" charset="0"/>
                  <a:cs typeface="Arial" pitchFamily="34" charset="0"/>
                </a:rPr>
                <a:t>tố</a:t>
              </a:r>
              <a:endParaRPr lang="en-US" altLang="en-US" sz="30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Text Box 25"/>
            <p:cNvSpPr txBox="1">
              <a:spLocks noChangeArrowheads="1"/>
            </p:cNvSpPr>
            <p:nvPr/>
          </p:nvSpPr>
          <p:spPr bwMode="auto">
            <a:xfrm>
              <a:off x="5153025" y="3541278"/>
              <a:ext cx="5334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1" name="Text Box 26"/>
            <p:cNvSpPr txBox="1">
              <a:spLocks noChangeArrowheads="1"/>
            </p:cNvSpPr>
            <p:nvPr/>
          </p:nvSpPr>
          <p:spPr bwMode="auto">
            <a:xfrm>
              <a:off x="5181600" y="4074678"/>
              <a:ext cx="609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075" y="5557337"/>
            <a:ext cx="1552575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3553865" y="5854824"/>
            <a:ext cx="1219200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3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Vd</a:t>
            </a:r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3450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4">
            <a:extLst>
              <a:ext uri="{FF2B5EF4-FFF2-40B4-BE49-F238E27FC236}">
                <a16:creationId xmlns:a16="http://schemas.microsoft.com/office/drawing/2014/main" id="{079BAC54-2D29-1F4A-9CA3-5E39CD3B4152}"/>
              </a:ext>
            </a:extLst>
          </p:cNvPr>
          <p:cNvSpPr txBox="1"/>
          <p:nvPr/>
        </p:nvSpPr>
        <p:spPr>
          <a:xfrm>
            <a:off x="148065" y="-57875"/>
            <a:ext cx="11525480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TIẾT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 -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Bài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2 :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NGUYÊN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TỐ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HOÁ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HỌC</a:t>
            </a:r>
            <a:endParaRPr lang="zh-CN" altLang="en-US" sz="3999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9177C49-C918-434D-86D2-C1EE1461B1BB}"/>
              </a:ext>
            </a:extLst>
          </p:cNvPr>
          <p:cNvSpPr txBox="1">
            <a:spLocks/>
          </p:cNvSpPr>
          <p:nvPr/>
        </p:nvSpPr>
        <p:spPr>
          <a:xfrm>
            <a:off x="-1" y="614718"/>
            <a:ext cx="9630137" cy="571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331495" y="1344612"/>
            <a:ext cx="7772400" cy="1011238"/>
            <a:chOff x="0" y="2355850"/>
            <a:chExt cx="7772400" cy="1011238"/>
          </a:xfrm>
        </p:grpSpPr>
        <p:sp>
          <p:nvSpPr>
            <p:cNvPr id="22" name="Text Box 6"/>
            <p:cNvSpPr txBox="1">
              <a:spLocks noChangeArrowheads="1"/>
            </p:cNvSpPr>
            <p:nvPr/>
          </p:nvSpPr>
          <p:spPr bwMode="auto">
            <a:xfrm>
              <a:off x="0" y="2514600"/>
              <a:ext cx="7772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dirty="0">
                  <a:latin typeface="Times New Roman" panose="02020603050405020304" pitchFamily="18" charset="0"/>
                </a:rPr>
                <a:t>   </a:t>
              </a:r>
              <a:r>
                <a:rPr lang="en-US" altLang="en-US" sz="2800" dirty="0" err="1">
                  <a:solidFill>
                    <a:srgbClr val="0000CC"/>
                  </a:solidFill>
                  <a:latin typeface="Times New Roman" panose="02020603050405020304" pitchFamily="18" charset="0"/>
                </a:rPr>
                <a:t>Câu</a:t>
              </a:r>
              <a:r>
                <a:rPr lang="en-US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1 :</a:t>
              </a:r>
              <a:r>
                <a:rPr lang="en-US" altLang="en-US" sz="2800" dirty="0">
                  <a:latin typeface="Times New Roman" panose="02020603050405020304" pitchFamily="18" charset="0"/>
                </a:rPr>
                <a:t>      </a:t>
              </a:r>
              <a:r>
                <a:rPr lang="en-US" altLang="en-US" dirty="0">
                  <a:solidFill>
                    <a:srgbClr val="003300"/>
                  </a:solidFill>
                  <a:latin typeface="Times New Roman" panose="02020603050405020304" pitchFamily="18" charset="0"/>
                </a:rPr>
                <a:t>H                   </a:t>
              </a:r>
              <a:r>
                <a:rPr lang="en-US" altLang="en-US" dirty="0" err="1">
                  <a:solidFill>
                    <a:srgbClr val="003300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en-US" dirty="0">
                  <a:solidFill>
                    <a:srgbClr val="003300"/>
                  </a:solidFill>
                  <a:latin typeface="Times New Roman" panose="02020603050405020304" pitchFamily="18" charset="0"/>
                </a:rPr>
                <a:t>                   </a:t>
              </a:r>
              <a:r>
                <a:rPr lang="en-US" altLang="en-US" dirty="0" err="1">
                  <a:solidFill>
                    <a:srgbClr val="003300"/>
                  </a:solidFill>
                  <a:latin typeface="Times New Roman" panose="02020603050405020304" pitchFamily="18" charset="0"/>
                </a:rPr>
                <a:t>H</a:t>
              </a:r>
              <a:endParaRPr lang="en-US" altLang="en-US" dirty="0">
                <a:solidFill>
                  <a:srgbClr val="00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Text Box 7"/>
            <p:cNvSpPr txBox="1">
              <a:spLocks noChangeArrowheads="1"/>
            </p:cNvSpPr>
            <p:nvPr/>
          </p:nvSpPr>
          <p:spPr bwMode="auto">
            <a:xfrm>
              <a:off x="1676400" y="2362200"/>
              <a:ext cx="457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" name="Text Box 8"/>
            <p:cNvSpPr txBox="1">
              <a:spLocks noChangeArrowheads="1"/>
            </p:cNvSpPr>
            <p:nvPr/>
          </p:nvSpPr>
          <p:spPr bwMode="auto">
            <a:xfrm>
              <a:off x="1676400" y="2909888"/>
              <a:ext cx="533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" name="Text Box 9"/>
            <p:cNvSpPr txBox="1">
              <a:spLocks noChangeArrowheads="1"/>
            </p:cNvSpPr>
            <p:nvPr/>
          </p:nvSpPr>
          <p:spPr bwMode="auto">
            <a:xfrm>
              <a:off x="3657600" y="2355850"/>
              <a:ext cx="5334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imes New Roman" panose="02020603050405020304" pitchFamily="18" charset="0"/>
                </a:rPr>
                <a:t>  </a:t>
              </a:r>
              <a:r>
                <a:rPr lang="en-US" altLang="en-US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6" name="Text Box 10"/>
            <p:cNvSpPr txBox="1">
              <a:spLocks noChangeArrowheads="1"/>
            </p:cNvSpPr>
            <p:nvPr/>
          </p:nvSpPr>
          <p:spPr bwMode="auto">
            <a:xfrm>
              <a:off x="3581400" y="2771775"/>
              <a:ext cx="609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imes New Roman" panose="02020603050405020304" pitchFamily="18" charset="0"/>
                </a:rPr>
                <a:t>   </a:t>
              </a: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" name="Text Box 11"/>
            <p:cNvSpPr txBox="1">
              <a:spLocks noChangeArrowheads="1"/>
            </p:cNvSpPr>
            <p:nvPr/>
          </p:nvSpPr>
          <p:spPr bwMode="auto">
            <a:xfrm>
              <a:off x="6073775" y="2382838"/>
              <a:ext cx="457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8" name="Text Box 12"/>
            <p:cNvSpPr txBox="1">
              <a:spLocks noChangeArrowheads="1"/>
            </p:cNvSpPr>
            <p:nvPr/>
          </p:nvSpPr>
          <p:spPr bwMode="auto">
            <a:xfrm>
              <a:off x="6088063" y="2819400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318083" y="2502568"/>
            <a:ext cx="1391654" cy="1504679"/>
            <a:chOff x="2318083" y="2502568"/>
            <a:chExt cx="1391654" cy="1504679"/>
          </a:xfrm>
        </p:grpSpPr>
        <p:sp>
          <p:nvSpPr>
            <p:cNvPr id="3" name="Left Brace 2"/>
            <p:cNvSpPr/>
            <p:nvPr/>
          </p:nvSpPr>
          <p:spPr>
            <a:xfrm>
              <a:off x="2318083" y="2502568"/>
              <a:ext cx="344906" cy="1504679"/>
            </a:xfrm>
            <a:prstGeom prst="leftBrac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490536" y="2529919"/>
              <a:ext cx="1219201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p=</a:t>
              </a:r>
            </a:p>
            <a:p>
              <a:pPr lvl="0" algn="just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e=</a:t>
              </a:r>
            </a:p>
            <a:p>
              <a:pPr lvl="0" algn="just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n=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559968" y="2497834"/>
            <a:ext cx="1391654" cy="1504679"/>
            <a:chOff x="2318083" y="2502568"/>
            <a:chExt cx="1391654" cy="1504679"/>
          </a:xfrm>
        </p:grpSpPr>
        <p:sp>
          <p:nvSpPr>
            <p:cNvPr id="31" name="Left Brace 30"/>
            <p:cNvSpPr/>
            <p:nvPr/>
          </p:nvSpPr>
          <p:spPr>
            <a:xfrm>
              <a:off x="2318083" y="2502568"/>
              <a:ext cx="344906" cy="1504679"/>
            </a:xfrm>
            <a:prstGeom prst="leftBrac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490536" y="2529919"/>
              <a:ext cx="1219201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p=</a:t>
              </a:r>
            </a:p>
            <a:p>
              <a:pPr lvl="0" algn="just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e=</a:t>
              </a:r>
            </a:p>
            <a:p>
              <a:pPr lvl="0" algn="just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n=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104731" y="2525185"/>
            <a:ext cx="1391654" cy="1504679"/>
            <a:chOff x="2318083" y="2502568"/>
            <a:chExt cx="1391654" cy="1504679"/>
          </a:xfrm>
        </p:grpSpPr>
        <p:sp>
          <p:nvSpPr>
            <p:cNvPr id="34" name="Left Brace 33"/>
            <p:cNvSpPr/>
            <p:nvPr/>
          </p:nvSpPr>
          <p:spPr>
            <a:xfrm>
              <a:off x="2318083" y="2502568"/>
              <a:ext cx="344906" cy="1504679"/>
            </a:xfrm>
            <a:prstGeom prst="leftBrac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490536" y="2529919"/>
              <a:ext cx="1219201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p=</a:t>
              </a:r>
            </a:p>
            <a:p>
              <a:pPr lvl="0" algn="just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e=</a:t>
              </a:r>
            </a:p>
            <a:p>
              <a:pPr lvl="0" algn="just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n=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3043990" y="2552536"/>
            <a:ext cx="4973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</a:t>
            </a:r>
          </a:p>
          <a:p>
            <a:pPr lvl="0" algn="just"/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</a:t>
            </a:r>
          </a:p>
          <a:p>
            <a:pPr lvl="0" algn="just"/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21969" y="2497834"/>
            <a:ext cx="4973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</a:t>
            </a:r>
          </a:p>
          <a:p>
            <a:pPr lvl="0" algn="just"/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</a:t>
            </a:r>
          </a:p>
          <a:p>
            <a:pPr lvl="0" algn="just"/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8632" y="2539781"/>
            <a:ext cx="4973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</a:t>
            </a:r>
          </a:p>
          <a:p>
            <a:pPr lvl="0" algn="just"/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</a:t>
            </a:r>
          </a:p>
          <a:p>
            <a:pPr lvl="0" algn="just"/>
            <a:r>
              <a:rPr lang="en-US" sz="3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-2" y="4357119"/>
            <a:ext cx="121920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en-US" sz="3000" dirty="0">
                <a:latin typeface="Arial" pitchFamily="34" charset="0"/>
                <a:cs typeface="Arial" pitchFamily="34" charset="0"/>
              </a:rPr>
              <a:t>        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đồng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vị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một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hóa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học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những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altLang="en-US" sz="3000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altLang="en-US" sz="3000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proton </a:t>
            </a:r>
            <a:r>
              <a:rPr lang="en-US" altLang="en-US" sz="3000" dirty="0" err="1">
                <a:latin typeface="Arial" pitchFamily="34" charset="0"/>
                <a:cs typeface="Arial" pitchFamily="34" charset="0"/>
              </a:rPr>
              <a:t>nhưng</a:t>
            </a:r>
            <a:r>
              <a:rPr lang="en-US" alt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khác</a:t>
            </a:r>
            <a:r>
              <a:rPr lang="en-US" altLang="en-US" sz="3000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3000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altLang="en-US" sz="3000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neutron</a:t>
            </a:r>
          </a:p>
        </p:txBody>
      </p:sp>
    </p:spTree>
    <p:extLst>
      <p:ext uri="{BB962C8B-B14F-4D97-AF65-F5344CB8AC3E}">
        <p14:creationId xmlns:p14="http://schemas.microsoft.com/office/powerpoint/2010/main" val="250348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4">
            <a:extLst>
              <a:ext uri="{FF2B5EF4-FFF2-40B4-BE49-F238E27FC236}">
                <a16:creationId xmlns:a16="http://schemas.microsoft.com/office/drawing/2014/main" id="{079BAC54-2D29-1F4A-9CA3-5E39CD3B4152}"/>
              </a:ext>
            </a:extLst>
          </p:cNvPr>
          <p:cNvSpPr txBox="1"/>
          <p:nvPr/>
        </p:nvSpPr>
        <p:spPr>
          <a:xfrm>
            <a:off x="148065" y="-57875"/>
            <a:ext cx="11525480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TIẾT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 -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Bài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2 :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NGUYÊN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TỐ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HOÁ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HỌC</a:t>
            </a:r>
            <a:endParaRPr lang="zh-CN" altLang="en-US" sz="3999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9177C49-C918-434D-86D2-C1EE1461B1BB}"/>
              </a:ext>
            </a:extLst>
          </p:cNvPr>
          <p:cNvSpPr txBox="1">
            <a:spLocks/>
          </p:cNvSpPr>
          <p:nvPr/>
        </p:nvSpPr>
        <p:spPr>
          <a:xfrm>
            <a:off x="-1" y="614718"/>
            <a:ext cx="9630137" cy="571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8065" y="1142820"/>
            <a:ext cx="823494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000" b="1" dirty="0">
                <a:latin typeface="Arial" pitchFamily="34" charset="0"/>
                <a:cs typeface="Arial" pitchFamily="34" charset="0"/>
              </a:rPr>
              <a:t>Câu 2:</a:t>
            </a:r>
            <a:r>
              <a:rPr lang="pt-BR" sz="3000" dirty="0">
                <a:latin typeface="Arial" pitchFamily="34" charset="0"/>
                <a:cs typeface="Arial" pitchFamily="34" charset="0"/>
              </a:rPr>
              <a:t> điền vào chỗ còn trống trong bảng sau?</a:t>
            </a:r>
            <a:endParaRPr lang="en-US" sz="30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532048"/>
              </p:ext>
            </p:extLst>
          </p:nvPr>
        </p:nvGraphicFramePr>
        <p:xfrm>
          <a:off x="67854" y="1793071"/>
          <a:ext cx="12043936" cy="50689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97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65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65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20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Nguyên</a:t>
                      </a:r>
                      <a:r>
                        <a:rPr lang="en-US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34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tố</a:t>
                      </a:r>
                      <a:r>
                        <a:rPr lang="en-US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   </a:t>
                      </a: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Đồng</a:t>
                      </a:r>
                      <a:r>
                        <a:rPr lang="en-US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34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vị</a:t>
                      </a: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Số p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Số e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Số n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Số khối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18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  Chlorine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18"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US" sz="3400"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>
                          <a:effectLst/>
                          <a:latin typeface="Arial" pitchFamily="34" charset="0"/>
                          <a:cs typeface="Arial" pitchFamily="34" charset="0"/>
                        </a:rPr>
                        <a:t>  Carbon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14</a:t>
                      </a: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269" name="Picture 6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663" y="2873796"/>
            <a:ext cx="934182" cy="72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6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30" y="3782179"/>
            <a:ext cx="990288" cy="722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6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725" y="4504822"/>
            <a:ext cx="871226" cy="735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6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658" y="5221876"/>
            <a:ext cx="818061" cy="81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027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4">
            <a:extLst>
              <a:ext uri="{FF2B5EF4-FFF2-40B4-BE49-F238E27FC236}">
                <a16:creationId xmlns:a16="http://schemas.microsoft.com/office/drawing/2014/main" id="{079BAC54-2D29-1F4A-9CA3-5E39CD3B4152}"/>
              </a:ext>
            </a:extLst>
          </p:cNvPr>
          <p:cNvSpPr txBox="1"/>
          <p:nvPr/>
        </p:nvSpPr>
        <p:spPr>
          <a:xfrm>
            <a:off x="148065" y="-57875"/>
            <a:ext cx="11525480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TIẾT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 -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Bài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2 :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NGUYÊN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TỐ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HOÁ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HỌC</a:t>
            </a:r>
            <a:endParaRPr lang="zh-CN" altLang="en-US" sz="3999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9177C49-C918-434D-86D2-C1EE1461B1BB}"/>
              </a:ext>
            </a:extLst>
          </p:cNvPr>
          <p:cNvSpPr txBox="1">
            <a:spLocks/>
          </p:cNvSpPr>
          <p:nvPr/>
        </p:nvSpPr>
        <p:spPr>
          <a:xfrm>
            <a:off x="-1" y="614718"/>
            <a:ext cx="9630137" cy="571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8065" y="1142820"/>
            <a:ext cx="823494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000" b="1" dirty="0">
                <a:latin typeface="Arial" pitchFamily="34" charset="0"/>
                <a:cs typeface="Arial" pitchFamily="34" charset="0"/>
              </a:rPr>
              <a:t>Câu 2:</a:t>
            </a:r>
            <a:r>
              <a:rPr lang="pt-BR" sz="3000" dirty="0">
                <a:latin typeface="Arial" pitchFamily="34" charset="0"/>
                <a:cs typeface="Arial" pitchFamily="34" charset="0"/>
              </a:rPr>
              <a:t> điền vào chỗ còn trống trong bảng sau?</a:t>
            </a:r>
            <a:endParaRPr lang="en-US" sz="30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935111"/>
              </p:ext>
            </p:extLst>
          </p:nvPr>
        </p:nvGraphicFramePr>
        <p:xfrm>
          <a:off x="67854" y="1793071"/>
          <a:ext cx="12043936" cy="50689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97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65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65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20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Nguyên</a:t>
                      </a:r>
                      <a:r>
                        <a:rPr lang="en-US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34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tố</a:t>
                      </a:r>
                      <a:r>
                        <a:rPr lang="en-US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   </a:t>
                      </a: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Đồng</a:t>
                      </a:r>
                      <a:r>
                        <a:rPr lang="en-US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34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vị</a:t>
                      </a: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Số p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Số e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Số n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Số khối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18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  Chlorine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>
                          <a:effectLst/>
                          <a:latin typeface="Arial" pitchFamily="34" charset="0"/>
                          <a:cs typeface="Arial" pitchFamily="34" charset="0"/>
                        </a:rPr>
                        <a:t>17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>
                          <a:effectLst/>
                          <a:latin typeface="Arial" pitchFamily="34" charset="0"/>
                          <a:cs typeface="Arial" pitchFamily="34" charset="0"/>
                        </a:rPr>
                        <a:t>17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>
                          <a:effectLst/>
                          <a:latin typeface="Arial" pitchFamily="34" charset="0"/>
                          <a:cs typeface="Arial" pitchFamily="34" charset="0"/>
                        </a:rPr>
                        <a:t>18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>
                          <a:effectLst/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     17</a:t>
                      </a: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     17       </a:t>
                      </a: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     20         </a:t>
                      </a: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     37</a:t>
                      </a: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18"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US" sz="3400"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>
                          <a:effectLst/>
                          <a:latin typeface="Arial" pitchFamily="34" charset="0"/>
                          <a:cs typeface="Arial" pitchFamily="34" charset="0"/>
                        </a:rPr>
                        <a:t>  Carbon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      6         </a:t>
                      </a: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      6            </a:t>
                      </a: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3400">
                          <a:effectLst/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13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  <a:endParaRPr lang="en-US" sz="3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4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14</a:t>
                      </a:r>
                      <a:endParaRPr lang="en-US" sz="3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269" name="Picture 6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663" y="2873796"/>
            <a:ext cx="934182" cy="72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6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30" y="3782179"/>
            <a:ext cx="990288" cy="722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6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725" y="4504822"/>
            <a:ext cx="871226" cy="735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6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658" y="5221876"/>
            <a:ext cx="818061" cy="81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5" name="Picture 7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662" y="6039937"/>
            <a:ext cx="818063" cy="81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082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4">
            <a:extLst>
              <a:ext uri="{FF2B5EF4-FFF2-40B4-BE49-F238E27FC236}">
                <a16:creationId xmlns:a16="http://schemas.microsoft.com/office/drawing/2014/main" id="{079BAC54-2D29-1F4A-9CA3-5E39CD3B4152}"/>
              </a:ext>
            </a:extLst>
          </p:cNvPr>
          <p:cNvSpPr txBox="1"/>
          <p:nvPr/>
        </p:nvSpPr>
        <p:spPr>
          <a:xfrm>
            <a:off x="148065" y="-57875"/>
            <a:ext cx="11525480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TIẾT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 -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Bài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2 :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NGUYÊN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TỐ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HOÁ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HỌC</a:t>
            </a:r>
            <a:endParaRPr lang="zh-CN" altLang="en-US" sz="3999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9177C49-C918-434D-86D2-C1EE1461B1BB}"/>
              </a:ext>
            </a:extLst>
          </p:cNvPr>
          <p:cNvSpPr txBox="1">
            <a:spLocks/>
          </p:cNvSpPr>
          <p:nvPr/>
        </p:nvSpPr>
        <p:spPr>
          <a:xfrm>
            <a:off x="35771" y="1346638"/>
            <a:ext cx="9630137" cy="571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IV.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NTK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70424"/>
            <a:ext cx="119083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vi-VN" sz="3000" dirty="0">
                <a:latin typeface="Arial" pitchFamily="34" charset="0"/>
                <a:cs typeface="Arial" pitchFamily="34" charset="0"/>
              </a:rPr>
              <a:t>- NTK là khối lượng tương đối của một nguyên tử, cho biết khối lượng của nguyên tử đó nặng gấp bao nhiêu lần đơn vị khối lượng nguyên tử ( 1amu)</a:t>
            </a:r>
            <a:endParaRPr lang="en-US" sz="3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71" y="3355774"/>
            <a:ext cx="119083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vi-VN" sz="3000" dirty="0">
                <a:latin typeface="Arial" pitchFamily="34" charset="0"/>
                <a:cs typeface="Arial" pitchFamily="34" charset="0"/>
              </a:rPr>
              <a:t>- NTK xấp xỉ bằng số khối của hạt nhân nếu bỏ qua khối lượng electron</a:t>
            </a:r>
            <a:endParaRPr lang="en-US" sz="3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317" y="6112042"/>
            <a:ext cx="1021774" cy="74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212" y="3762622"/>
            <a:ext cx="2360627" cy="2202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148065" y="4371437"/>
            <a:ext cx="119083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000" dirty="0" err="1">
                <a:latin typeface="Arial" pitchFamily="34" charset="0"/>
                <a:cs typeface="Arial" pitchFamily="34" charset="0"/>
              </a:rPr>
              <a:t>Câu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1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PHT</a:t>
            </a:r>
            <a:endParaRPr lang="en-US" sz="30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3:</a:t>
            </a:r>
          </a:p>
        </p:txBody>
      </p:sp>
      <p:sp>
        <p:nvSpPr>
          <p:cNvPr id="9" name="Rectangle 8"/>
          <p:cNvSpPr/>
          <p:nvPr/>
        </p:nvSpPr>
        <p:spPr>
          <a:xfrm>
            <a:off x="5373332" y="4648436"/>
            <a:ext cx="68186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vi-VN" sz="3000" dirty="0">
                <a:latin typeface="Arial" pitchFamily="34" charset="0"/>
                <a:cs typeface="Arial" pitchFamily="34" charset="0"/>
              </a:rPr>
              <a:t>-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Ngtử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ngtố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helium (He)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proton=2,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neutron=2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nên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NTK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US" sz="3000" dirty="0">
                <a:latin typeface="Arial" pitchFamily="34" charset="0"/>
                <a:cs typeface="Arial" pitchFamily="34" charset="0"/>
              </a:rPr>
              <a:t>         A= 2+2=4</a:t>
            </a:r>
          </a:p>
        </p:txBody>
      </p:sp>
    </p:spTree>
    <p:extLst>
      <p:ext uri="{BB962C8B-B14F-4D97-AF65-F5344CB8AC3E}">
        <p14:creationId xmlns:p14="http://schemas.microsoft.com/office/powerpoint/2010/main" val="1891014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4">
            <a:extLst>
              <a:ext uri="{FF2B5EF4-FFF2-40B4-BE49-F238E27FC236}">
                <a16:creationId xmlns:a16="http://schemas.microsoft.com/office/drawing/2014/main" id="{079BAC54-2D29-1F4A-9CA3-5E39CD3B4152}"/>
              </a:ext>
            </a:extLst>
          </p:cNvPr>
          <p:cNvSpPr txBox="1"/>
          <p:nvPr/>
        </p:nvSpPr>
        <p:spPr>
          <a:xfrm>
            <a:off x="148065" y="-57875"/>
            <a:ext cx="11525480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TIẾT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 -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Bài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2 :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NGUYÊN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TỐ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HOÁ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HỌC</a:t>
            </a:r>
            <a:endParaRPr lang="zh-CN" altLang="en-US" sz="3999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9177C49-C918-434D-86D2-C1EE1461B1BB}"/>
              </a:ext>
            </a:extLst>
          </p:cNvPr>
          <p:cNvSpPr txBox="1">
            <a:spLocks/>
          </p:cNvSpPr>
          <p:nvPr/>
        </p:nvSpPr>
        <p:spPr>
          <a:xfrm>
            <a:off x="35771" y="1346638"/>
            <a:ext cx="9630137" cy="571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IV.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bình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337881"/>
              </p:ext>
            </p:extLst>
          </p:nvPr>
        </p:nvGraphicFramePr>
        <p:xfrm>
          <a:off x="1602977" y="1941096"/>
          <a:ext cx="8615656" cy="2165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r:id="rId3" imgW="1752600" imgH="431800" progId="Equation.DSMT4">
                  <p:embed/>
                </p:oleObj>
              </mc:Choice>
              <mc:Fallback>
                <p:oleObj r:id="rId3" imgW="1752600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977" y="1941096"/>
                        <a:ext cx="8615656" cy="21656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35770" y="4132362"/>
            <a:ext cx="1215622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vi-VN" sz="3000" dirty="0">
                <a:latin typeface="Arial" pitchFamily="34" charset="0"/>
                <a:cs typeface="Arial" pitchFamily="34" charset="0"/>
              </a:rPr>
              <a:t>-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đó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A</a:t>
            </a:r>
            <a:r>
              <a:rPr lang="en-US" sz="3200" baseline="-25000" dirty="0">
                <a:latin typeface="Arial" pitchFamily="34" charset="0"/>
                <a:cs typeface="Arial" pitchFamily="34" charset="0"/>
              </a:rPr>
              <a:t>1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A</a:t>
            </a:r>
            <a:r>
              <a:rPr lang="en-US" sz="32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A</a:t>
            </a:r>
            <a:r>
              <a:rPr lang="en-US" sz="3200" baseline="-25000" dirty="0">
                <a:latin typeface="Arial" pitchFamily="34" charset="0"/>
                <a:cs typeface="Arial" pitchFamily="34" charset="0"/>
              </a:rPr>
              <a:t>3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,….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khối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đồng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vị</a:t>
            </a: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3200" dirty="0">
                <a:latin typeface="Arial" pitchFamily="34" charset="0"/>
                <a:cs typeface="Arial" pitchFamily="34" charset="0"/>
              </a:rPr>
              <a:t>               x</a:t>
            </a:r>
            <a:r>
              <a:rPr lang="en-US" sz="3200" baseline="-25000" dirty="0">
                <a:latin typeface="Arial" pitchFamily="34" charset="0"/>
                <a:cs typeface="Arial" pitchFamily="34" charset="0"/>
              </a:rPr>
              <a:t>1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x</a:t>
            </a:r>
            <a:r>
              <a:rPr lang="en-US" sz="32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x</a:t>
            </a:r>
            <a:r>
              <a:rPr lang="en-US" sz="3200" baseline="-25000" dirty="0">
                <a:latin typeface="Arial" pitchFamily="34" charset="0"/>
                <a:cs typeface="Arial" pitchFamily="34" charset="0"/>
              </a:rPr>
              <a:t>3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,…. </a:t>
            </a:r>
            <a:r>
              <a:rPr lang="vi-VN" sz="3200" dirty="0">
                <a:latin typeface="Arial" pitchFamily="34" charset="0"/>
                <a:cs typeface="Arial" pitchFamily="34" charset="0"/>
              </a:rPr>
              <a:t>là thành phần phần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trăm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ngtử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>
                <a:latin typeface="Arial" pitchFamily="34" charset="0"/>
                <a:cs typeface="Arial" pitchFamily="34" charset="0"/>
              </a:rPr>
              <a:t>của các đồng vị.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/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endParaRPr lang="en-US" sz="3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57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4">
            <a:extLst>
              <a:ext uri="{FF2B5EF4-FFF2-40B4-BE49-F238E27FC236}">
                <a16:creationId xmlns:a16="http://schemas.microsoft.com/office/drawing/2014/main" id="{079BAC54-2D29-1F4A-9CA3-5E39CD3B4152}"/>
              </a:ext>
            </a:extLst>
          </p:cNvPr>
          <p:cNvSpPr txBox="1"/>
          <p:nvPr/>
        </p:nvSpPr>
        <p:spPr>
          <a:xfrm>
            <a:off x="148065" y="-57875"/>
            <a:ext cx="11525480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TIẾT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 -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Bài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2 :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NGUYÊN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TỐ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HOÁ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HỌC</a:t>
            </a:r>
            <a:endParaRPr lang="zh-CN" altLang="en-US" sz="3999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9177C49-C918-434D-86D2-C1EE1461B1BB}"/>
              </a:ext>
            </a:extLst>
          </p:cNvPr>
          <p:cNvSpPr txBox="1">
            <a:spLocks/>
          </p:cNvSpPr>
          <p:nvPr/>
        </p:nvSpPr>
        <p:spPr>
          <a:xfrm>
            <a:off x="35771" y="1346638"/>
            <a:ext cx="9630137" cy="571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IV.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bình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35770" y="-1"/>
            <a:ext cx="12156229" cy="6858001"/>
          </a:xfrm>
          <a:prstGeom prst="rect">
            <a:avLst/>
          </a:prstGeom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091280"/>
              </p:ext>
            </p:extLst>
          </p:nvPr>
        </p:nvGraphicFramePr>
        <p:xfrm>
          <a:off x="6095999" y="946484"/>
          <a:ext cx="513347" cy="77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Equation" r:id="rId4" imgW="152280" imgH="203040" progId="Equation.3">
                  <p:embed/>
                </p:oleObj>
              </mc:Choice>
              <mc:Fallback>
                <p:oleObj name="Equation" r:id="rId4" imgW="15228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5999" y="946484"/>
                        <a:ext cx="513347" cy="770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32031"/>
              </p:ext>
            </p:extLst>
          </p:nvPr>
        </p:nvGraphicFramePr>
        <p:xfrm>
          <a:off x="7628260" y="946484"/>
          <a:ext cx="4318002" cy="1619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Equation" r:id="rId6" imgW="1675673" imgH="634725" progId="Equation.3">
                  <p:embed/>
                </p:oleObj>
              </mc:Choice>
              <mc:Fallback>
                <p:oleObj name="Equation" r:id="rId6" imgW="1675673" imgH="634725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8260" y="946484"/>
                        <a:ext cx="4318002" cy="16192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785811" y="1200212"/>
            <a:ext cx="51648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= </a:t>
            </a:r>
            <a:endParaRPr kumimoji="0" 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40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66964" y="728418"/>
            <a:ext cx="11042073" cy="3571241"/>
            <a:chOff x="100445" y="304800"/>
            <a:chExt cx="8281555" cy="3571241"/>
          </a:xfrm>
        </p:grpSpPr>
        <p:sp>
          <p:nvSpPr>
            <p:cNvPr id="4" name="Rectangle 3"/>
            <p:cNvSpPr/>
            <p:nvPr/>
          </p:nvSpPr>
          <p:spPr>
            <a:xfrm>
              <a:off x="1981200" y="304800"/>
              <a:ext cx="6400800" cy="1371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just">
                <a:tabLst>
                  <a:tab pos="342900" algn="l"/>
                  <a:tab pos="1714500" algn="l"/>
                  <a:tab pos="3150870" algn="l"/>
                </a:tabLst>
              </a:pPr>
              <a:r>
                <a:rPr lang="pt-BR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	</a:t>
              </a:r>
              <a:endParaRPr lang="x-none" sz="28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00445" y="462002"/>
              <a:ext cx="8128598" cy="3414039"/>
              <a:chOff x="100445" y="462002"/>
              <a:chExt cx="8128598" cy="3414039"/>
            </a:xfrm>
          </p:grpSpPr>
          <p:pic>
            <p:nvPicPr>
              <p:cNvPr id="5" name="Picture 4" descr="D:\liên kết CHT\question-mark-300x300.pn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57014">
                <a:off x="6487159" y="2134157"/>
                <a:ext cx="1741884" cy="17418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Oval 10"/>
              <p:cNvSpPr/>
              <p:nvPr/>
            </p:nvSpPr>
            <p:spPr>
              <a:xfrm>
                <a:off x="100445" y="462002"/>
                <a:ext cx="1676400" cy="83820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 err="1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Câu</a:t>
                </a:r>
                <a:r>
                  <a:rPr lang="en-US" sz="28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1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1828800" y="2133600"/>
            <a:ext cx="6197600" cy="685800"/>
            <a:chOff x="1371600" y="2133600"/>
            <a:chExt cx="4648200" cy="685800"/>
          </a:xfrm>
        </p:grpSpPr>
        <p:sp>
          <p:nvSpPr>
            <p:cNvPr id="6" name="Rounded Rectangle 5"/>
            <p:cNvSpPr/>
            <p:nvPr/>
          </p:nvSpPr>
          <p:spPr>
            <a:xfrm>
              <a:off x="2362200" y="21336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Neutron.</a:t>
              </a:r>
              <a:endPara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371600" y="21336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</p:grpSp>
      <p:grpSp>
        <p:nvGrpSpPr>
          <p:cNvPr id="33" name="Group 19" descr="D"/>
          <p:cNvGrpSpPr>
            <a:grpSpLocks/>
          </p:cNvGrpSpPr>
          <p:nvPr/>
        </p:nvGrpSpPr>
        <p:grpSpPr bwMode="auto">
          <a:xfrm>
            <a:off x="40266" y="5591447"/>
            <a:ext cx="6055735" cy="1176338"/>
            <a:chOff x="2208" y="6075"/>
            <a:chExt cx="2785" cy="741"/>
          </a:xfrm>
        </p:grpSpPr>
        <p:pic>
          <p:nvPicPr>
            <p:cNvPr id="34" name="Picture 20" descr="Hoacuoi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208" y="6075"/>
              <a:ext cx="817" cy="741"/>
            </a:xfrm>
            <a:prstGeom prst="rect">
              <a:avLst/>
            </a:prstGeom>
            <a:noFill/>
          </p:spPr>
        </p:pic>
        <p:sp>
          <p:nvSpPr>
            <p:cNvPr id="35" name="Text Box 21"/>
            <p:cNvSpPr txBox="1">
              <a:spLocks noChangeArrowheads="1"/>
            </p:cNvSpPr>
            <p:nvPr/>
          </p:nvSpPr>
          <p:spPr bwMode="auto">
            <a:xfrm>
              <a:off x="3120" y="6480"/>
              <a:ext cx="18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Hoan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hô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!...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Đúng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rồi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!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828800" y="3124200"/>
            <a:ext cx="6197600" cy="685800"/>
            <a:chOff x="1371600" y="3124200"/>
            <a:chExt cx="4648200" cy="685800"/>
          </a:xfrm>
        </p:grpSpPr>
        <p:sp>
          <p:nvSpPr>
            <p:cNvPr id="9" name="Rounded Rectangle 8"/>
            <p:cNvSpPr/>
            <p:nvPr/>
          </p:nvSpPr>
          <p:spPr>
            <a:xfrm>
              <a:off x="2362200" y="31242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Electron.</a:t>
              </a:r>
              <a:endPara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371600" y="31242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828800" y="4114800"/>
            <a:ext cx="6096000" cy="685800"/>
            <a:chOff x="1371600" y="4114800"/>
            <a:chExt cx="4572000" cy="685800"/>
          </a:xfrm>
        </p:grpSpPr>
        <p:sp>
          <p:nvSpPr>
            <p:cNvPr id="7" name="Rounded Rectangle 6"/>
            <p:cNvSpPr/>
            <p:nvPr/>
          </p:nvSpPr>
          <p:spPr>
            <a:xfrm>
              <a:off x="2362200" y="41148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Proton.</a:t>
              </a:r>
              <a:endPara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828800" y="5105400"/>
            <a:ext cx="6096000" cy="685800"/>
            <a:chOff x="1371600" y="5105400"/>
            <a:chExt cx="4572000" cy="685800"/>
          </a:xfrm>
        </p:grpSpPr>
        <p:sp>
          <p:nvSpPr>
            <p:cNvPr id="8" name="Rounded Rectangle 7"/>
            <p:cNvSpPr/>
            <p:nvPr/>
          </p:nvSpPr>
          <p:spPr>
            <a:xfrm>
              <a:off x="2438400" y="5105400"/>
              <a:ext cx="35052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tabLst>
                  <a:tab pos="342900" algn="l"/>
                  <a:tab pos="1714500" algn="l"/>
                  <a:tab pos="3150870" algn="l"/>
                </a:tabLst>
              </a:pPr>
              <a:r>
                <a:rPr lang="pt-BR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Nucleus.</a:t>
              </a:r>
              <a:endParaRPr lang="x-none" sz="2800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9042400" y="5943599"/>
            <a:ext cx="1422400" cy="811956"/>
            <a:chOff x="4875" y="3187"/>
            <a:chExt cx="885" cy="950"/>
          </a:xfrm>
        </p:grpSpPr>
        <p:pic>
          <p:nvPicPr>
            <p:cNvPr id="43" name="Picture 8" descr="Ketqua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037" y="3187"/>
              <a:ext cx="396" cy="492"/>
            </a:xfrm>
            <a:prstGeom prst="rect">
              <a:avLst/>
            </a:prstGeom>
            <a:noFill/>
          </p:spPr>
        </p:pic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875" y="3705"/>
              <a:ext cx="885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 err="1">
                  <a:solidFill>
                    <a:srgbClr val="0000FF"/>
                  </a:solidFill>
                  <a:latin typeface="Times New Roman" pitchFamily="18" charset="0"/>
                </a:rPr>
                <a:t>Đáp</a:t>
              </a:r>
              <a:r>
                <a:rPr lang="en-US" b="1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b="1" dirty="0" err="1">
                  <a:solidFill>
                    <a:srgbClr val="0000FF"/>
                  </a:solidFill>
                  <a:latin typeface="Times New Roman" pitchFamily="18" charset="0"/>
                </a:rPr>
                <a:t>án</a:t>
              </a:r>
              <a:endParaRPr lang="en-US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6" name="Group 91"/>
          <p:cNvGrpSpPr>
            <a:grpSpLocks/>
          </p:cNvGrpSpPr>
          <p:nvPr/>
        </p:nvGrpSpPr>
        <p:grpSpPr bwMode="auto">
          <a:xfrm>
            <a:off x="429682" y="5641702"/>
            <a:ext cx="6479119" cy="1116012"/>
            <a:chOff x="800" y="3228"/>
            <a:chExt cx="3061" cy="703"/>
          </a:xfrm>
        </p:grpSpPr>
        <p:pic>
          <p:nvPicPr>
            <p:cNvPr id="47" name="Picture 92" descr="Hoabuon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" y="3228"/>
              <a:ext cx="606" cy="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Text Box 93"/>
            <p:cNvSpPr txBox="1">
              <a:spLocks noChangeArrowheads="1"/>
            </p:cNvSpPr>
            <p:nvPr/>
          </p:nvSpPr>
          <p:spPr bwMode="auto">
            <a:xfrm>
              <a:off x="1476" y="3698"/>
              <a:ext cx="238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Tiếc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quá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…!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Bạn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chọn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sai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rồi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…!</a:t>
              </a:r>
            </a:p>
          </p:txBody>
        </p:sp>
      </p:grpSp>
      <p:sp>
        <p:nvSpPr>
          <p:cNvPr id="30" name="Rectangle 1">
            <a:extLst>
              <a:ext uri="{FF2B5EF4-FFF2-40B4-BE49-F238E27FC236}">
                <a16:creationId xmlns:a16="http://schemas.microsoft.com/office/drawing/2014/main" id="{9F29BFE4-BB63-4640-9E8E-01F593A19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576" y="37720"/>
            <a:ext cx="6894424" cy="553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anchor="ctr">
            <a:spAutoFit/>
          </a:bodyPr>
          <a:lstStyle>
            <a:lvl1pPr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PHT</a:t>
            </a: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4)</a:t>
            </a:r>
            <a:endParaRPr lang="en-US" altLang="en-US"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48788" y="728418"/>
            <a:ext cx="84787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dirty="0">
                <a:latin typeface="Arial" pitchFamily="34" charset="0"/>
                <a:cs typeface="Arial" pitchFamily="34" charset="0"/>
              </a:rPr>
              <a:t>Đồng vị là những nguyên tử của cùng một nguyên tố, có số proton bằng nhau nhưng khác nhau số:</a:t>
            </a:r>
            <a:endParaRPr lang="en-US" sz="3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39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016000" y="3810000"/>
            <a:ext cx="6197600" cy="685800"/>
            <a:chOff x="1371600" y="2133600"/>
            <a:chExt cx="4648200" cy="685800"/>
          </a:xfrm>
        </p:grpSpPr>
        <p:sp>
          <p:nvSpPr>
            <p:cNvPr id="6" name="Rounded Rectangle 5"/>
            <p:cNvSpPr/>
            <p:nvPr/>
          </p:nvSpPr>
          <p:spPr>
            <a:xfrm>
              <a:off x="2362200" y="21336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de-DE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Số đơn vị điện tích hạt nhân.</a:t>
              </a:r>
              <a:endPara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371600" y="21336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33" name="Group 19" descr="D"/>
          <p:cNvGrpSpPr>
            <a:grpSpLocks/>
          </p:cNvGrpSpPr>
          <p:nvPr/>
        </p:nvGrpSpPr>
        <p:grpSpPr bwMode="auto">
          <a:xfrm>
            <a:off x="40266" y="5591447"/>
            <a:ext cx="6055735" cy="1176338"/>
            <a:chOff x="2208" y="6075"/>
            <a:chExt cx="2785" cy="741"/>
          </a:xfrm>
        </p:grpSpPr>
        <p:pic>
          <p:nvPicPr>
            <p:cNvPr id="34" name="Picture 20" descr="Hoacuoi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08" y="6075"/>
              <a:ext cx="817" cy="741"/>
            </a:xfrm>
            <a:prstGeom prst="rect">
              <a:avLst/>
            </a:prstGeom>
            <a:noFill/>
          </p:spPr>
        </p:pic>
        <p:sp>
          <p:nvSpPr>
            <p:cNvPr id="35" name="Text Box 21"/>
            <p:cNvSpPr txBox="1">
              <a:spLocks noChangeArrowheads="1"/>
            </p:cNvSpPr>
            <p:nvPr/>
          </p:nvSpPr>
          <p:spPr bwMode="auto">
            <a:xfrm>
              <a:off x="3120" y="6480"/>
              <a:ext cx="18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Hoan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hô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!...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Đúng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rồi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!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028041" y="2819400"/>
            <a:ext cx="6197600" cy="685800"/>
            <a:chOff x="1371600" y="3124200"/>
            <a:chExt cx="4648200" cy="685800"/>
          </a:xfrm>
        </p:grpSpPr>
        <p:sp>
          <p:nvSpPr>
            <p:cNvPr id="9" name="Rounded Rectangle 8"/>
            <p:cNvSpPr/>
            <p:nvPr/>
          </p:nvSpPr>
          <p:spPr>
            <a:xfrm>
              <a:off x="2362200" y="31242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de-DE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Số neutron.</a:t>
              </a:r>
              <a:endPara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371600" y="31242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059789" y="1828800"/>
            <a:ext cx="6165851" cy="685800"/>
            <a:chOff x="1371600" y="4114800"/>
            <a:chExt cx="4624388" cy="685800"/>
          </a:xfrm>
        </p:grpSpPr>
        <p:sp>
          <p:nvSpPr>
            <p:cNvPr id="7" name="Rounded Rectangle 6"/>
            <p:cNvSpPr/>
            <p:nvPr/>
          </p:nvSpPr>
          <p:spPr>
            <a:xfrm>
              <a:off x="2362199" y="4114800"/>
              <a:ext cx="3633789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de-DE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Số khối.</a:t>
              </a:r>
              <a:endPara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016001" y="4800600"/>
            <a:ext cx="6108041" cy="685800"/>
            <a:chOff x="1371600" y="5105400"/>
            <a:chExt cx="4581031" cy="685800"/>
          </a:xfrm>
        </p:grpSpPr>
        <p:sp>
          <p:nvSpPr>
            <p:cNvPr id="8" name="Rounded Rectangle 7"/>
            <p:cNvSpPr/>
            <p:nvPr/>
          </p:nvSpPr>
          <p:spPr>
            <a:xfrm>
              <a:off x="2371231" y="51054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de-DE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Số neutron và số proton.</a:t>
              </a:r>
              <a:endPara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9042400" y="5943599"/>
            <a:ext cx="1422400" cy="811956"/>
            <a:chOff x="4875" y="3187"/>
            <a:chExt cx="885" cy="950"/>
          </a:xfrm>
        </p:grpSpPr>
        <p:pic>
          <p:nvPicPr>
            <p:cNvPr id="43" name="Picture 8" descr="Ketqua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037" y="3187"/>
              <a:ext cx="396" cy="492"/>
            </a:xfrm>
            <a:prstGeom prst="rect">
              <a:avLst/>
            </a:prstGeom>
            <a:noFill/>
          </p:spPr>
        </p:pic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875" y="3705"/>
              <a:ext cx="885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 err="1">
                  <a:solidFill>
                    <a:srgbClr val="0000FF"/>
                  </a:solidFill>
                  <a:latin typeface="Times New Roman" pitchFamily="18" charset="0"/>
                </a:rPr>
                <a:t>Đáp</a:t>
              </a:r>
              <a:r>
                <a:rPr lang="en-US" b="1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b="1" dirty="0" err="1">
                  <a:solidFill>
                    <a:srgbClr val="0000FF"/>
                  </a:solidFill>
                  <a:latin typeface="Times New Roman" pitchFamily="18" charset="0"/>
                </a:rPr>
                <a:t>án</a:t>
              </a:r>
              <a:endParaRPr lang="en-US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6" name="Group 91"/>
          <p:cNvGrpSpPr>
            <a:grpSpLocks/>
          </p:cNvGrpSpPr>
          <p:nvPr/>
        </p:nvGrpSpPr>
        <p:grpSpPr bwMode="auto">
          <a:xfrm>
            <a:off x="429682" y="5641702"/>
            <a:ext cx="6479119" cy="1116012"/>
            <a:chOff x="800" y="3228"/>
            <a:chExt cx="3061" cy="703"/>
          </a:xfrm>
        </p:grpSpPr>
        <p:pic>
          <p:nvPicPr>
            <p:cNvPr id="47" name="Picture 92" descr="Hoabuon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" y="3228"/>
              <a:ext cx="606" cy="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Text Box 93"/>
            <p:cNvSpPr txBox="1">
              <a:spLocks noChangeArrowheads="1"/>
            </p:cNvSpPr>
            <p:nvPr/>
          </p:nvSpPr>
          <p:spPr bwMode="auto">
            <a:xfrm>
              <a:off x="1476" y="3698"/>
              <a:ext cx="238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Tiếc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quá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…!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Bạn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chọn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sai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rồi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…!</a:t>
              </a:r>
            </a:p>
          </p:txBody>
        </p: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09600" y="353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289345" y="172405"/>
            <a:ext cx="10828571" cy="5569883"/>
            <a:chOff x="76200" y="286143"/>
            <a:chExt cx="8424901" cy="5432382"/>
          </a:xfrm>
        </p:grpSpPr>
        <p:sp>
          <p:nvSpPr>
            <p:cNvPr id="45" name="Rectangle 44"/>
            <p:cNvSpPr/>
            <p:nvPr/>
          </p:nvSpPr>
          <p:spPr>
            <a:xfrm>
              <a:off x="1828800" y="286143"/>
              <a:ext cx="6672301" cy="14315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914309">
                <a:defRPr/>
              </a:pPr>
              <a:r>
                <a:rPr lang="en-US" sz="2800" b="1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Nguyên</a:t>
              </a:r>
              <a:r>
                <a:rPr lang="en-US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tố</a:t>
              </a:r>
              <a:r>
                <a:rPr lang="en-US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hóa</a:t>
              </a:r>
              <a:r>
                <a:rPr lang="en-US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học</a:t>
              </a:r>
              <a:r>
                <a:rPr lang="en-US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là</a:t>
              </a:r>
              <a:r>
                <a:rPr lang="en-US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những</a:t>
              </a:r>
              <a:r>
                <a:rPr lang="en-US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nguyên</a:t>
              </a:r>
              <a:r>
                <a:rPr lang="en-US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tử</a:t>
              </a:r>
              <a:r>
                <a:rPr lang="en-US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có</a:t>
              </a:r>
              <a:r>
                <a:rPr lang="en-US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cùng</a:t>
              </a:r>
              <a:r>
                <a:rPr lang="en-US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:</a:t>
              </a: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76200" y="462002"/>
              <a:ext cx="7946903" cy="5256523"/>
              <a:chOff x="76200" y="462002"/>
              <a:chExt cx="7946903" cy="5256523"/>
            </a:xfrm>
          </p:grpSpPr>
          <p:pic>
            <p:nvPicPr>
              <p:cNvPr id="49" name="Picture 48" descr="D:\liên kết CHT\question-mark-300x300.png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57014">
                <a:off x="6649831" y="4345253"/>
                <a:ext cx="1373272" cy="13732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Oval 50"/>
              <p:cNvSpPr/>
              <p:nvPr/>
            </p:nvSpPr>
            <p:spPr>
              <a:xfrm>
                <a:off x="76200" y="462002"/>
                <a:ext cx="1676400" cy="83820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 err="1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Câu</a:t>
                </a:r>
                <a:r>
                  <a:rPr lang="en-US" sz="28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56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471313" y="3124200"/>
            <a:ext cx="11576310" cy="685800"/>
            <a:chOff x="1371600" y="2133600"/>
            <a:chExt cx="8682233" cy="685800"/>
          </a:xfrm>
        </p:grpSpPr>
        <p:sp>
          <p:nvSpPr>
            <p:cNvPr id="6" name="Rounded Rectangle 5"/>
            <p:cNvSpPr/>
            <p:nvPr/>
          </p:nvSpPr>
          <p:spPr>
            <a:xfrm>
              <a:off x="2147080" y="2133600"/>
              <a:ext cx="7906753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just" defTabSz="914309">
                <a:lnSpc>
                  <a:spcPct val="150000"/>
                </a:lnSpc>
                <a:defRPr/>
              </a:pPr>
              <a:endParaRPr lang="en-US" sz="24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371600" y="21336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33" name="Group 19" descr="D"/>
          <p:cNvGrpSpPr>
            <a:grpSpLocks/>
          </p:cNvGrpSpPr>
          <p:nvPr/>
        </p:nvGrpSpPr>
        <p:grpSpPr bwMode="auto">
          <a:xfrm>
            <a:off x="40266" y="5591447"/>
            <a:ext cx="6055735" cy="1176338"/>
            <a:chOff x="2208" y="6075"/>
            <a:chExt cx="2785" cy="741"/>
          </a:xfrm>
        </p:grpSpPr>
        <p:pic>
          <p:nvPicPr>
            <p:cNvPr id="34" name="Picture 20" descr="Hoacuoi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08" y="6075"/>
              <a:ext cx="817" cy="741"/>
            </a:xfrm>
            <a:prstGeom prst="rect">
              <a:avLst/>
            </a:prstGeom>
            <a:noFill/>
          </p:spPr>
        </p:pic>
        <p:sp>
          <p:nvSpPr>
            <p:cNvPr id="35" name="Text Box 21"/>
            <p:cNvSpPr txBox="1">
              <a:spLocks noChangeArrowheads="1"/>
            </p:cNvSpPr>
            <p:nvPr/>
          </p:nvSpPr>
          <p:spPr bwMode="auto">
            <a:xfrm>
              <a:off x="3120" y="6480"/>
              <a:ext cx="18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Hoan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hô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!...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Đúng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rồi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!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71313" y="2145632"/>
            <a:ext cx="11576310" cy="685800"/>
            <a:chOff x="954054" y="2450432"/>
            <a:chExt cx="8790515" cy="685800"/>
          </a:xfrm>
        </p:grpSpPr>
        <p:sp>
          <p:nvSpPr>
            <p:cNvPr id="9" name="Rounded Rectangle 8"/>
            <p:cNvSpPr/>
            <p:nvPr/>
          </p:nvSpPr>
          <p:spPr>
            <a:xfrm>
              <a:off x="1729534" y="2450432"/>
              <a:ext cx="8015035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just" defTabSz="914309">
                <a:lnSpc>
                  <a:spcPct val="150000"/>
                </a:lnSpc>
                <a:defRPr/>
              </a:pPr>
              <a:endParaRPr lang="en-US" sz="24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54054" y="2450432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29682" y="1143000"/>
            <a:ext cx="11617941" cy="689811"/>
            <a:chOff x="1098113" y="4114800"/>
            <a:chExt cx="8713456" cy="689811"/>
          </a:xfrm>
        </p:grpSpPr>
        <p:sp>
          <p:nvSpPr>
            <p:cNvPr id="7" name="Rounded Rectangle 6"/>
            <p:cNvSpPr/>
            <p:nvPr/>
          </p:nvSpPr>
          <p:spPr>
            <a:xfrm>
              <a:off x="1880752" y="4118811"/>
              <a:ext cx="7930817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just" defTabSz="914309">
                <a:lnSpc>
                  <a:spcPct val="150000"/>
                </a:lnSpc>
                <a:defRPr/>
              </a:pPr>
              <a:endParaRPr lang="en-US" sz="2400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098113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71313" y="4146884"/>
            <a:ext cx="11576310" cy="685800"/>
            <a:chOff x="1371600" y="5105400"/>
            <a:chExt cx="8682233" cy="685800"/>
          </a:xfrm>
        </p:grpSpPr>
        <p:sp>
          <p:nvSpPr>
            <p:cNvPr id="8" name="Rounded Rectangle 7"/>
            <p:cNvSpPr/>
            <p:nvPr/>
          </p:nvSpPr>
          <p:spPr>
            <a:xfrm>
              <a:off x="2178727" y="5105400"/>
              <a:ext cx="7875106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just" defTabSz="914309">
                <a:lnSpc>
                  <a:spcPct val="150000"/>
                </a:lnSpc>
                <a:defRPr/>
              </a:pPr>
              <a:endParaRPr lang="en-US" sz="2400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9042400" y="5943599"/>
            <a:ext cx="1422400" cy="811956"/>
            <a:chOff x="4875" y="3187"/>
            <a:chExt cx="885" cy="950"/>
          </a:xfrm>
        </p:grpSpPr>
        <p:pic>
          <p:nvPicPr>
            <p:cNvPr id="43" name="Picture 8" descr="Ketqua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037" y="3187"/>
              <a:ext cx="396" cy="492"/>
            </a:xfrm>
            <a:prstGeom prst="rect">
              <a:avLst/>
            </a:prstGeom>
            <a:noFill/>
          </p:spPr>
        </p:pic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875" y="3705"/>
              <a:ext cx="885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 err="1">
                  <a:solidFill>
                    <a:srgbClr val="0000FF"/>
                  </a:solidFill>
                  <a:latin typeface="Times New Roman" pitchFamily="18" charset="0"/>
                </a:rPr>
                <a:t>Đáp</a:t>
              </a:r>
              <a:r>
                <a:rPr lang="en-US" b="1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b="1" dirty="0" err="1">
                  <a:solidFill>
                    <a:srgbClr val="0000FF"/>
                  </a:solidFill>
                  <a:latin typeface="Times New Roman" pitchFamily="18" charset="0"/>
                </a:rPr>
                <a:t>án</a:t>
              </a:r>
              <a:endParaRPr lang="en-US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6" name="Group 91"/>
          <p:cNvGrpSpPr>
            <a:grpSpLocks/>
          </p:cNvGrpSpPr>
          <p:nvPr/>
        </p:nvGrpSpPr>
        <p:grpSpPr bwMode="auto">
          <a:xfrm>
            <a:off x="429682" y="5641702"/>
            <a:ext cx="6479119" cy="1116012"/>
            <a:chOff x="800" y="3228"/>
            <a:chExt cx="3061" cy="703"/>
          </a:xfrm>
        </p:grpSpPr>
        <p:pic>
          <p:nvPicPr>
            <p:cNvPr id="47" name="Picture 92" descr="Hoabuon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" y="3228"/>
              <a:ext cx="606" cy="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Text Box 93"/>
            <p:cNvSpPr txBox="1">
              <a:spLocks noChangeArrowheads="1"/>
            </p:cNvSpPr>
            <p:nvPr/>
          </p:nvSpPr>
          <p:spPr bwMode="auto">
            <a:xfrm>
              <a:off x="1476" y="3698"/>
              <a:ext cx="238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Tiếc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quá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…!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Bạn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chọn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sai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rồi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…!</a:t>
              </a:r>
            </a:p>
          </p:txBody>
        </p: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09600" y="353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333347" y="172405"/>
            <a:ext cx="11749010" cy="6289231"/>
            <a:chOff x="110435" y="286143"/>
            <a:chExt cx="9141025" cy="6133972"/>
          </a:xfrm>
        </p:grpSpPr>
        <p:sp>
          <p:nvSpPr>
            <p:cNvPr id="45" name="Rectangle 44"/>
            <p:cNvSpPr/>
            <p:nvPr/>
          </p:nvSpPr>
          <p:spPr>
            <a:xfrm>
              <a:off x="1828800" y="286143"/>
              <a:ext cx="6672301" cy="7706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just" defTabSz="914309">
                <a:lnSpc>
                  <a:spcPct val="150000"/>
                </a:lnSpc>
                <a:defRPr/>
              </a:pPr>
              <a:r>
                <a:rPr lang="en-US" sz="3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Phát</a:t>
              </a:r>
              <a:r>
                <a:rPr lang="en-US" sz="3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biểu</a:t>
              </a:r>
              <a:r>
                <a:rPr lang="en-US" sz="3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nào</a:t>
              </a:r>
              <a:r>
                <a:rPr lang="en-US" sz="3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sau</a:t>
              </a:r>
              <a:r>
                <a:rPr lang="en-US" sz="3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đây</a:t>
              </a:r>
              <a:r>
                <a:rPr lang="en-US" sz="3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là</a:t>
              </a:r>
              <a:r>
                <a:rPr lang="en-US" sz="3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sai</a:t>
              </a:r>
              <a:r>
                <a:rPr lang="en-US" sz="3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?</a:t>
              </a: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110435" y="286143"/>
              <a:ext cx="9141025" cy="6133972"/>
              <a:chOff x="110435" y="286143"/>
              <a:chExt cx="9141025" cy="6133972"/>
            </a:xfrm>
          </p:grpSpPr>
          <p:pic>
            <p:nvPicPr>
              <p:cNvPr id="49" name="Picture 48" descr="D:\liên kết CHT\question-mark-300x300.png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57014">
                <a:off x="7878188" y="5046843"/>
                <a:ext cx="1373272" cy="13732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Oval 50"/>
              <p:cNvSpPr/>
              <p:nvPr/>
            </p:nvSpPr>
            <p:spPr>
              <a:xfrm>
                <a:off x="110435" y="286143"/>
                <a:ext cx="1676400" cy="83820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 err="1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Câu</a:t>
                </a:r>
                <a:r>
                  <a:rPr lang="en-US" sz="28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3</a:t>
                </a:r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1545832" y="1305245"/>
            <a:ext cx="1064616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hiệu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nguyên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tử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bằng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đơn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vị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điện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tích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hạt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nhân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nguyên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tử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7482" y="2197587"/>
            <a:ext cx="946445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proton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trong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hạt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nhân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bằng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electron ở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lớp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vỏ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nguyên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tử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547482" y="3220878"/>
            <a:ext cx="668804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proton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trong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nguyên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tử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bằng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neutron.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47481" y="4212104"/>
            <a:ext cx="1102953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khối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của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hạt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nhân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ngtử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bằng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tổng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hạt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proton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và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hạt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neutron</a:t>
            </a:r>
          </a:p>
        </p:txBody>
      </p:sp>
    </p:spTree>
    <p:extLst>
      <p:ext uri="{BB962C8B-B14F-4D97-AF65-F5344CB8AC3E}">
        <p14:creationId xmlns:p14="http://schemas.microsoft.com/office/powerpoint/2010/main" val="406117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06458" y="147599"/>
            <a:ext cx="12216944" cy="6349008"/>
            <a:chOff x="80069" y="147598"/>
            <a:chExt cx="9063066" cy="6349008"/>
          </a:xfrm>
        </p:grpSpPr>
        <p:sp>
          <p:nvSpPr>
            <p:cNvPr id="5" name="Rectangle 4"/>
            <p:cNvSpPr/>
            <p:nvPr/>
          </p:nvSpPr>
          <p:spPr>
            <a:xfrm>
              <a:off x="1946166" y="147598"/>
              <a:ext cx="6423799" cy="99540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just" defTabSz="914309">
                <a:lnSpc>
                  <a:spcPct val="150000"/>
                </a:lnSpc>
                <a:defRPr/>
              </a:pPr>
              <a:endParaRPr lang="en-US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80069" y="147598"/>
              <a:ext cx="9063066" cy="6349008"/>
              <a:chOff x="80069" y="147598"/>
              <a:chExt cx="9063066" cy="6349008"/>
            </a:xfrm>
          </p:grpSpPr>
          <p:pic>
            <p:nvPicPr>
              <p:cNvPr id="7" name="Picture 6" descr="D:\liên kết CHT\question-mark-300x300.pn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57014">
                <a:off x="7401251" y="4754722"/>
                <a:ext cx="1741884" cy="17418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Oval 7"/>
              <p:cNvSpPr/>
              <p:nvPr/>
            </p:nvSpPr>
            <p:spPr>
              <a:xfrm>
                <a:off x="80069" y="147598"/>
                <a:ext cx="1676400" cy="83820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 err="1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Câu</a:t>
                </a:r>
                <a:r>
                  <a:rPr lang="en-US" sz="28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4</a:t>
                </a: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6908800" y="1334533"/>
            <a:ext cx="5154864" cy="1334221"/>
            <a:chOff x="1371599" y="2133600"/>
            <a:chExt cx="4535290" cy="685800"/>
          </a:xfrm>
        </p:grpSpPr>
        <p:sp>
          <p:nvSpPr>
            <p:cNvPr id="10" name="Rounded Rectangle 9"/>
            <p:cNvSpPr/>
            <p:nvPr/>
          </p:nvSpPr>
          <p:spPr>
            <a:xfrm>
              <a:off x="2362201" y="2133600"/>
              <a:ext cx="3544688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371599" y="2133601"/>
              <a:ext cx="893884" cy="656698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  <p:grpSp>
        <p:nvGrpSpPr>
          <p:cNvPr id="12" name="Group 19" descr="D"/>
          <p:cNvGrpSpPr>
            <a:grpSpLocks/>
          </p:cNvGrpSpPr>
          <p:nvPr/>
        </p:nvGrpSpPr>
        <p:grpSpPr bwMode="auto">
          <a:xfrm>
            <a:off x="40266" y="5591447"/>
            <a:ext cx="6055735" cy="1176338"/>
            <a:chOff x="2208" y="6075"/>
            <a:chExt cx="2785" cy="741"/>
          </a:xfrm>
        </p:grpSpPr>
        <p:pic>
          <p:nvPicPr>
            <p:cNvPr id="13" name="Picture 20" descr="Hoacuoi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208" y="6075"/>
              <a:ext cx="817" cy="741"/>
            </a:xfrm>
            <a:prstGeom prst="rect">
              <a:avLst/>
            </a:prstGeom>
            <a:noFill/>
          </p:spPr>
        </p:pic>
        <p:sp>
          <p:nvSpPr>
            <p:cNvPr id="14" name="Text Box 21"/>
            <p:cNvSpPr txBox="1">
              <a:spLocks noChangeArrowheads="1"/>
            </p:cNvSpPr>
            <p:nvPr/>
          </p:nvSpPr>
          <p:spPr bwMode="auto">
            <a:xfrm>
              <a:off x="3120" y="6480"/>
              <a:ext cx="18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Hoan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hô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!...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Đúng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rồi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!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0371" y="1302449"/>
            <a:ext cx="6638357" cy="1309688"/>
            <a:chOff x="1371600" y="3124200"/>
            <a:chExt cx="4337778" cy="685800"/>
          </a:xfrm>
        </p:grpSpPr>
        <p:sp>
          <p:nvSpPr>
            <p:cNvPr id="16" name="Rounded Rectangle 15"/>
            <p:cNvSpPr/>
            <p:nvPr/>
          </p:nvSpPr>
          <p:spPr>
            <a:xfrm>
              <a:off x="2163033" y="3124200"/>
              <a:ext cx="3546345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371600" y="31242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0371" y="3112168"/>
            <a:ext cx="6638357" cy="1729096"/>
            <a:chOff x="1371600" y="4114800"/>
            <a:chExt cx="4207409" cy="685800"/>
          </a:xfrm>
        </p:grpSpPr>
        <p:sp>
          <p:nvSpPr>
            <p:cNvPr id="19" name="Rounded Rectangle 18"/>
            <p:cNvSpPr/>
            <p:nvPr/>
          </p:nvSpPr>
          <p:spPr>
            <a:xfrm>
              <a:off x="2179183" y="4114800"/>
              <a:ext cx="3399826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830607" y="3112167"/>
            <a:ext cx="5233056" cy="1522275"/>
            <a:chOff x="1371600" y="5105400"/>
            <a:chExt cx="3290787" cy="685800"/>
          </a:xfrm>
        </p:grpSpPr>
        <p:sp>
          <p:nvSpPr>
            <p:cNvPr id="22" name="Rounded Rectangle 21"/>
            <p:cNvSpPr/>
            <p:nvPr/>
          </p:nvSpPr>
          <p:spPr>
            <a:xfrm>
              <a:off x="2176111" y="5105400"/>
              <a:ext cx="2486276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25" name="Group 7"/>
          <p:cNvGrpSpPr>
            <a:grpSpLocks/>
          </p:cNvGrpSpPr>
          <p:nvPr/>
        </p:nvGrpSpPr>
        <p:grpSpPr bwMode="auto">
          <a:xfrm>
            <a:off x="9042400" y="5943599"/>
            <a:ext cx="1422400" cy="811956"/>
            <a:chOff x="4875" y="3187"/>
            <a:chExt cx="885" cy="950"/>
          </a:xfrm>
        </p:grpSpPr>
        <p:pic>
          <p:nvPicPr>
            <p:cNvPr id="26" name="Picture 8" descr="Ketqua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037" y="3187"/>
              <a:ext cx="396" cy="492"/>
            </a:xfrm>
            <a:prstGeom prst="rect">
              <a:avLst/>
            </a:prstGeom>
            <a:noFill/>
          </p:spPr>
        </p:pic>
        <p:sp>
          <p:nvSpPr>
            <p:cNvPr id="27" name="Text Box 9"/>
            <p:cNvSpPr txBox="1">
              <a:spLocks noChangeArrowheads="1"/>
            </p:cNvSpPr>
            <p:nvPr/>
          </p:nvSpPr>
          <p:spPr bwMode="auto">
            <a:xfrm>
              <a:off x="4875" y="3705"/>
              <a:ext cx="885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 err="1">
                  <a:solidFill>
                    <a:srgbClr val="0000FF"/>
                  </a:solidFill>
                  <a:latin typeface="Times New Roman" pitchFamily="18" charset="0"/>
                </a:rPr>
                <a:t>Đáp</a:t>
              </a:r>
              <a:r>
                <a:rPr lang="en-US" b="1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b="1" dirty="0" err="1">
                  <a:solidFill>
                    <a:srgbClr val="0000FF"/>
                  </a:solidFill>
                  <a:latin typeface="Times New Roman" pitchFamily="18" charset="0"/>
                </a:rPr>
                <a:t>án</a:t>
              </a:r>
              <a:endParaRPr lang="en-US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28" name="Group 91"/>
          <p:cNvGrpSpPr>
            <a:grpSpLocks/>
          </p:cNvGrpSpPr>
          <p:nvPr/>
        </p:nvGrpSpPr>
        <p:grpSpPr bwMode="auto">
          <a:xfrm>
            <a:off x="429682" y="5641702"/>
            <a:ext cx="6479119" cy="1116012"/>
            <a:chOff x="800" y="3228"/>
            <a:chExt cx="3061" cy="703"/>
          </a:xfrm>
        </p:grpSpPr>
        <p:pic>
          <p:nvPicPr>
            <p:cNvPr id="29" name="Picture 92" descr="Hoabuon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" y="3228"/>
              <a:ext cx="606" cy="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Text Box 93"/>
            <p:cNvSpPr txBox="1">
              <a:spLocks noChangeArrowheads="1"/>
            </p:cNvSpPr>
            <p:nvPr/>
          </p:nvSpPr>
          <p:spPr bwMode="auto">
            <a:xfrm>
              <a:off x="1476" y="3698"/>
              <a:ext cx="238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Tiếc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quá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…!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Bạn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chọn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sai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rồi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…!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2621943" y="382033"/>
            <a:ext cx="5747086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Mệnh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đề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nào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dưới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đây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không</a:t>
            </a:r>
            <a:r>
              <a:rPr 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đúng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54558" y="1541077"/>
            <a:ext cx="5158537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Các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đồng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vị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phải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có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khối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khác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nhau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7369" y="1514826"/>
            <a:ext cx="398629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Các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đồng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vị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phải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có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khác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nhau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58649" y="3560302"/>
            <a:ext cx="536008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Các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đồng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vị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phải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có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neutron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khác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nhau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6690" y="3304492"/>
            <a:ext cx="363821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Các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đồng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vị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phải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có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cùng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điện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tích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hạt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nhân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971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016000" y="3810000"/>
            <a:ext cx="6197600" cy="685800"/>
            <a:chOff x="1371600" y="2133600"/>
            <a:chExt cx="4648200" cy="685800"/>
          </a:xfrm>
        </p:grpSpPr>
        <p:sp>
          <p:nvSpPr>
            <p:cNvPr id="6" name="Rounded Rectangle 5"/>
            <p:cNvSpPr/>
            <p:nvPr/>
          </p:nvSpPr>
          <p:spPr>
            <a:xfrm>
              <a:off x="2362200" y="21336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de-DE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63,54.</a:t>
              </a:r>
              <a:endPara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371600" y="21336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33" name="Group 19" descr="D"/>
          <p:cNvGrpSpPr>
            <a:grpSpLocks/>
          </p:cNvGrpSpPr>
          <p:nvPr/>
        </p:nvGrpSpPr>
        <p:grpSpPr bwMode="auto">
          <a:xfrm>
            <a:off x="40266" y="5591447"/>
            <a:ext cx="6055735" cy="1176338"/>
            <a:chOff x="2208" y="6075"/>
            <a:chExt cx="2785" cy="741"/>
          </a:xfrm>
        </p:grpSpPr>
        <p:pic>
          <p:nvPicPr>
            <p:cNvPr id="34" name="Picture 20" descr="Hoacuoi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08" y="6075"/>
              <a:ext cx="817" cy="741"/>
            </a:xfrm>
            <a:prstGeom prst="rect">
              <a:avLst/>
            </a:prstGeom>
            <a:noFill/>
          </p:spPr>
        </p:pic>
        <p:sp>
          <p:nvSpPr>
            <p:cNvPr id="35" name="Text Box 21"/>
            <p:cNvSpPr txBox="1">
              <a:spLocks noChangeArrowheads="1"/>
            </p:cNvSpPr>
            <p:nvPr/>
          </p:nvSpPr>
          <p:spPr bwMode="auto">
            <a:xfrm>
              <a:off x="3120" y="6480"/>
              <a:ext cx="18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Hoan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hô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!...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Đúng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0066"/>
                  </a:solidFill>
                  <a:latin typeface="Times New Roman" pitchFamily="18" charset="0"/>
                </a:rPr>
                <a:t>rồi</a:t>
              </a:r>
              <a:r>
                <a:rPr lang="en-US" sz="2400" b="1" dirty="0">
                  <a:solidFill>
                    <a:srgbClr val="FF0066"/>
                  </a:solidFill>
                  <a:latin typeface="Times New Roman" pitchFamily="18" charset="0"/>
                </a:rPr>
                <a:t>!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028041" y="2819400"/>
            <a:ext cx="6197600" cy="685800"/>
            <a:chOff x="1371600" y="3124200"/>
            <a:chExt cx="4648200" cy="685800"/>
          </a:xfrm>
        </p:grpSpPr>
        <p:sp>
          <p:nvSpPr>
            <p:cNvPr id="9" name="Rounded Rectangle 8"/>
            <p:cNvSpPr/>
            <p:nvPr/>
          </p:nvSpPr>
          <p:spPr>
            <a:xfrm>
              <a:off x="2362200" y="31242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de-DE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64,46.</a:t>
              </a:r>
              <a:endPara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371600" y="31242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059789" y="1828800"/>
            <a:ext cx="6165851" cy="685800"/>
            <a:chOff x="1371600" y="4114800"/>
            <a:chExt cx="4624388" cy="685800"/>
          </a:xfrm>
        </p:grpSpPr>
        <p:sp>
          <p:nvSpPr>
            <p:cNvPr id="7" name="Rounded Rectangle 6"/>
            <p:cNvSpPr/>
            <p:nvPr/>
          </p:nvSpPr>
          <p:spPr>
            <a:xfrm>
              <a:off x="2362199" y="4114800"/>
              <a:ext cx="3633789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de-DE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63,45.</a:t>
              </a:r>
              <a:endPara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016001" y="4800600"/>
            <a:ext cx="6108041" cy="685800"/>
            <a:chOff x="1371600" y="5105400"/>
            <a:chExt cx="4581031" cy="685800"/>
          </a:xfrm>
        </p:grpSpPr>
        <p:sp>
          <p:nvSpPr>
            <p:cNvPr id="8" name="Rounded Rectangle 7"/>
            <p:cNvSpPr/>
            <p:nvPr/>
          </p:nvSpPr>
          <p:spPr>
            <a:xfrm>
              <a:off x="2371231" y="51054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de-DE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64,64.</a:t>
              </a:r>
              <a:endPara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9042400" y="5943599"/>
            <a:ext cx="1422400" cy="811956"/>
            <a:chOff x="4875" y="3187"/>
            <a:chExt cx="885" cy="950"/>
          </a:xfrm>
        </p:grpSpPr>
        <p:pic>
          <p:nvPicPr>
            <p:cNvPr id="43" name="Picture 8" descr="Ketqua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037" y="3187"/>
              <a:ext cx="396" cy="492"/>
            </a:xfrm>
            <a:prstGeom prst="rect">
              <a:avLst/>
            </a:prstGeom>
            <a:noFill/>
          </p:spPr>
        </p:pic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875" y="3705"/>
              <a:ext cx="885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 err="1">
                  <a:solidFill>
                    <a:srgbClr val="0000FF"/>
                  </a:solidFill>
                  <a:latin typeface="Times New Roman" pitchFamily="18" charset="0"/>
                </a:rPr>
                <a:t>Đáp</a:t>
              </a:r>
              <a:r>
                <a:rPr lang="en-US" b="1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b="1" dirty="0" err="1">
                  <a:solidFill>
                    <a:srgbClr val="0000FF"/>
                  </a:solidFill>
                  <a:latin typeface="Times New Roman" pitchFamily="18" charset="0"/>
                </a:rPr>
                <a:t>án</a:t>
              </a:r>
              <a:endParaRPr lang="en-US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6" name="Group 91"/>
          <p:cNvGrpSpPr>
            <a:grpSpLocks/>
          </p:cNvGrpSpPr>
          <p:nvPr/>
        </p:nvGrpSpPr>
        <p:grpSpPr bwMode="auto">
          <a:xfrm>
            <a:off x="429682" y="5641702"/>
            <a:ext cx="6479119" cy="1116012"/>
            <a:chOff x="800" y="3228"/>
            <a:chExt cx="3061" cy="703"/>
          </a:xfrm>
        </p:grpSpPr>
        <p:pic>
          <p:nvPicPr>
            <p:cNvPr id="47" name="Picture 92" descr="Hoabuon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" y="3228"/>
              <a:ext cx="606" cy="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Text Box 93"/>
            <p:cNvSpPr txBox="1">
              <a:spLocks noChangeArrowheads="1"/>
            </p:cNvSpPr>
            <p:nvPr/>
          </p:nvSpPr>
          <p:spPr bwMode="auto">
            <a:xfrm>
              <a:off x="1476" y="3698"/>
              <a:ext cx="238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eaLnBrk="0" fontAlgn="base" hangingPunct="0"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Tiếc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quá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…!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Bạn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chọn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sai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</a:t>
              </a:r>
              <a:r>
                <a:rPr lang="en-US" altLang="en-US" sz="1800" b="1" dirty="0" err="1">
                  <a:solidFill>
                    <a:srgbClr val="FF0066"/>
                  </a:solidFill>
                  <a:latin typeface="Arial" pitchFamily="34" charset="0"/>
                </a:rPr>
                <a:t>rồi</a:t>
              </a:r>
              <a:r>
                <a:rPr lang="en-US" altLang="en-US" sz="1800" b="1" dirty="0">
                  <a:solidFill>
                    <a:srgbClr val="FF0066"/>
                  </a:solidFill>
                  <a:latin typeface="Arial" pitchFamily="34" charset="0"/>
                </a:rPr>
                <a:t> …!</a:t>
              </a:r>
            </a:p>
          </p:txBody>
        </p: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09600" y="353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289345" y="172405"/>
            <a:ext cx="10828571" cy="5569883"/>
            <a:chOff x="76200" y="286143"/>
            <a:chExt cx="8424901" cy="5432382"/>
          </a:xfrm>
        </p:grpSpPr>
        <p:sp>
          <p:nvSpPr>
            <p:cNvPr id="45" name="Rectangle 44"/>
            <p:cNvSpPr/>
            <p:nvPr/>
          </p:nvSpPr>
          <p:spPr>
            <a:xfrm>
              <a:off x="1828800" y="286143"/>
              <a:ext cx="6672301" cy="14315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914309">
                <a:defRPr/>
              </a:pPr>
              <a:r>
                <a:rPr lang="en-US" sz="2800" b="1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Đồng</a:t>
              </a:r>
              <a:r>
                <a:rPr lang="en-US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vi-VN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(Copper) có hai đồng vị 63Cu (chiếm 73%) và 65Cu (chiếm 27%). Nguyên tử khối trung bình của Cu là</a:t>
              </a:r>
              <a:endParaRPr lang="en-US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76200" y="462002"/>
              <a:ext cx="7946903" cy="5256523"/>
              <a:chOff x="76200" y="462002"/>
              <a:chExt cx="7946903" cy="5256523"/>
            </a:xfrm>
          </p:grpSpPr>
          <p:pic>
            <p:nvPicPr>
              <p:cNvPr id="49" name="Picture 48" descr="D:\liên kết CHT\question-mark-300x300.png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57014">
                <a:off x="6649831" y="4345253"/>
                <a:ext cx="1373272" cy="13732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Oval 50"/>
              <p:cNvSpPr/>
              <p:nvPr/>
            </p:nvSpPr>
            <p:spPr>
              <a:xfrm>
                <a:off x="76200" y="462002"/>
                <a:ext cx="1676400" cy="83820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 err="1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Câu</a:t>
                </a:r>
                <a:r>
                  <a:rPr lang="en-US" sz="28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611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24">
            <a:extLst>
              <a:ext uri="{FF2B5EF4-FFF2-40B4-BE49-F238E27FC236}">
                <a16:creationId xmlns:a16="http://schemas.microsoft.com/office/drawing/2014/main" id="{ED2602FB-783D-224F-BCC9-93C08723EA41}"/>
              </a:ext>
            </a:extLst>
          </p:cNvPr>
          <p:cNvSpPr txBox="1"/>
          <p:nvPr/>
        </p:nvSpPr>
        <p:spPr>
          <a:xfrm>
            <a:off x="0" y="-2455"/>
            <a:ext cx="12191999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CÂU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HỎI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TÌM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TÒI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MỞ</a:t>
            </a:r>
            <a:r>
              <a:rPr lang="en-US" altLang="zh-CN" sz="3999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3999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RỘNG</a:t>
            </a:r>
            <a:endParaRPr lang="en-US" altLang="zh-CN" sz="3999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31785" y="1323457"/>
            <a:ext cx="106929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2800" dirty="0">
                <a:latin typeface="Arial" pitchFamily="34" charset="0"/>
                <a:cs typeface="Arial" pitchFamily="34" charset="0"/>
              </a:rPr>
              <a:t>	Mỗi Tổ ( 2HS/sản phẩm):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Kể tên một số nguyên tố hóa học được tìm thấy trong phòng thí nghiệm hạt nhân.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012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WordArt 2" descr="Narrow vertical"/>
          <p:cNvSpPr>
            <a:spLocks noChangeArrowheads="1" noChangeShapeType="1" noTextEdit="1"/>
          </p:cNvSpPr>
          <p:nvPr/>
        </p:nvSpPr>
        <p:spPr bwMode="auto">
          <a:xfrm>
            <a:off x="101600" y="-228600"/>
            <a:ext cx="11252200" cy="16002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vi-VN" sz="3600" kern="1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latin typeface="Arial"/>
                <a:cs typeface="Arial"/>
              </a:rPr>
              <a:t>Tiết học chúng ta đến đây kết thúc</a:t>
            </a:r>
            <a:endParaRPr lang="en-US" sz="3600" kern="10">
              <a:ln w="12700">
                <a:solidFill>
                  <a:srgbClr val="000000"/>
                </a:solidFill>
                <a:round/>
                <a:headEnd/>
                <a:tailEnd/>
              </a:ln>
              <a:pattFill prst="dashHorz">
                <a:fgClr>
                  <a:srgbClr val="808080"/>
                </a:fgClr>
                <a:bgClr>
                  <a:srgbClr val="FFFF00"/>
                </a:bgClr>
              </a:pattFill>
              <a:effectLst>
                <a:outerShdw dist="45791" dir="2021404" algn="ctr" rotWithShape="0">
                  <a:srgbClr val="808080">
                    <a:alpha val="79999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64515" name="WordArt 3"/>
          <p:cNvSpPr>
            <a:spLocks noChangeArrowheads="1" noChangeShapeType="1" noTextEdit="1"/>
          </p:cNvSpPr>
          <p:nvPr/>
        </p:nvSpPr>
        <p:spPr bwMode="auto">
          <a:xfrm>
            <a:off x="203200" y="1371600"/>
            <a:ext cx="11785600" cy="1295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vi-VN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"/>
                <a:cs typeface="Arial"/>
              </a:rPr>
              <a:t>Chúc các thầy cô giáo mạnh khỏe</a:t>
            </a:r>
            <a:endParaRPr lang="en-US" sz="3600" kern="10">
              <a:ln w="12700">
                <a:solidFill>
                  <a:srgbClr val="3333CC"/>
                </a:solidFill>
                <a:round/>
                <a:headEnd/>
                <a:tailEnd/>
              </a:ln>
              <a:solidFill>
                <a:srgbClr val="B2B2B2">
                  <a:alpha val="50195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Arial"/>
              <a:cs typeface="Arial"/>
            </a:endParaRPr>
          </a:p>
        </p:txBody>
      </p:sp>
      <p:sp>
        <p:nvSpPr>
          <p:cNvPr id="64516" name="WordArt 4"/>
          <p:cNvSpPr>
            <a:spLocks noChangeArrowheads="1" noChangeShapeType="1" noTextEdit="1"/>
          </p:cNvSpPr>
          <p:nvPr/>
        </p:nvSpPr>
        <p:spPr bwMode="auto">
          <a:xfrm>
            <a:off x="1727200" y="2667000"/>
            <a:ext cx="8331200" cy="1295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vi-VN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"/>
                <a:cs typeface="Arial"/>
              </a:rPr>
              <a:t>Các em học tập tốt.</a:t>
            </a:r>
            <a:endParaRPr lang="en-US" sz="3600" kern="10">
              <a:ln w="12700">
                <a:solidFill>
                  <a:srgbClr val="3333CC"/>
                </a:solidFill>
                <a:round/>
                <a:headEnd/>
                <a:tailEnd/>
              </a:ln>
              <a:solidFill>
                <a:srgbClr val="B2B2B2">
                  <a:alpha val="50195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Arial"/>
              <a:cs typeface="Arial"/>
            </a:endParaRPr>
          </a:p>
        </p:txBody>
      </p:sp>
      <p:pic>
        <p:nvPicPr>
          <p:cNvPr id="64517" name="Picture 5" descr="teacher_kids_waving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581400"/>
            <a:ext cx="85344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8" name="Picture 6" descr="th_Angel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950" y="2590800"/>
            <a:ext cx="294640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9" name="Picture 7" descr="th_Angel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410700" y="2590800"/>
            <a:ext cx="30480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0" name="Picture 8" descr="magician_tapping_hat_hg_clr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747987">
            <a:off x="766234" y="5116514"/>
            <a:ext cx="1468967" cy="181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1" name="Picture 9" descr="magician_waving_wand_hg_cl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18676">
            <a:off x="9093200" y="4886326"/>
            <a:ext cx="1684867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05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/>
      <p:bldP spid="64515" grpId="0" animBg="1"/>
      <p:bldP spid="645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4338</TotalTime>
  <Words>1262</Words>
  <Application>Microsoft Office PowerPoint</Application>
  <PresentationFormat>Widescreen</PresentationFormat>
  <Paragraphs>221</Paragraphs>
  <Slides>20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Equation.DSMT4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TV_STEM</Manager>
  <Company>TV_STEM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TV_STEM</dc:title>
  <dc:subject>TV_STEM</dc:subject>
  <dc:creator>TV_STEM</dc:creator>
  <cp:keywords>TV_STEM</cp:keywords>
  <dc:description>TV_STEM</dc:description>
  <cp:lastModifiedBy>Nghiêm Xuân</cp:lastModifiedBy>
  <cp:revision>91</cp:revision>
  <dcterms:created xsi:type="dcterms:W3CDTF">2022-01-13T06:44:42Z</dcterms:created>
  <dcterms:modified xsi:type="dcterms:W3CDTF">2022-08-28T02:22:13Z</dcterms:modified>
  <cp:category>TV_STEM</cp:category>
</cp:coreProperties>
</file>