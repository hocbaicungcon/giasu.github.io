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m4a" ContentType="audio/unknown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wav" ContentType="audio/x-wav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tags/tag4.xml" ContentType="application/vnd.openxmlformats-officedocument.presentationml.tags+xml"/>
  <Override PartName="/ppt/notesSlides/notesSlide12.xml" ContentType="application/vnd.openxmlformats-officedocument.presentationml.notesSlide+xml"/>
  <Override PartName="/ppt/tags/tag5.xml" ContentType="application/vnd.openxmlformats-officedocument.presentationml.tags+xml"/>
  <Override PartName="/ppt/notesSlides/notesSlide13.xml" ContentType="application/vnd.openxmlformats-officedocument.presentationml.notesSlide+xml"/>
  <Override PartName="/ppt/tags/tag6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7.xml" ContentType="application/vnd.openxmlformats-officedocument.presentationml.tags+xml"/>
  <Override PartName="/ppt/notesSlides/notesSlide17.xml" ContentType="application/vnd.openxmlformats-officedocument.presentationml.notesSlide+xml"/>
  <Override PartName="/ppt/tags/tag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media/audio9.wav" ContentType="audio/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8"/>
  </p:notesMasterIdLst>
  <p:sldIdLst>
    <p:sldId id="295" r:id="rId2"/>
    <p:sldId id="259" r:id="rId3"/>
    <p:sldId id="260" r:id="rId4"/>
    <p:sldId id="258" r:id="rId5"/>
    <p:sldId id="256" r:id="rId6"/>
    <p:sldId id="288" r:id="rId7"/>
    <p:sldId id="257" r:id="rId8"/>
    <p:sldId id="261" r:id="rId9"/>
    <p:sldId id="296" r:id="rId10"/>
    <p:sldId id="297" r:id="rId11"/>
    <p:sldId id="298" r:id="rId12"/>
    <p:sldId id="299" r:id="rId13"/>
    <p:sldId id="314" r:id="rId14"/>
    <p:sldId id="262" r:id="rId15"/>
    <p:sldId id="300" r:id="rId16"/>
    <p:sldId id="301" r:id="rId17"/>
    <p:sldId id="302" r:id="rId18"/>
    <p:sldId id="277" r:id="rId19"/>
    <p:sldId id="304" r:id="rId20"/>
    <p:sldId id="305" r:id="rId21"/>
    <p:sldId id="306" r:id="rId22"/>
    <p:sldId id="307" r:id="rId23"/>
    <p:sldId id="310" r:id="rId24"/>
    <p:sldId id="311" r:id="rId25"/>
    <p:sldId id="312" r:id="rId26"/>
    <p:sldId id="313" r:id="rId27"/>
  </p:sldIdLst>
  <p:sldSz cx="9144000" cy="5143500" type="screen16x9"/>
  <p:notesSz cx="6858000" cy="9144000"/>
  <p:embeddedFontLst>
    <p:embeddedFont>
      <p:font typeface="Poppins Light" charset="0"/>
      <p:regular r:id="rId29"/>
      <p:bold r:id="rId30"/>
      <p:italic r:id="rId31"/>
      <p:boldItalic r:id="rId32"/>
    </p:embeddedFont>
    <p:embeddedFont>
      <p:font typeface="Poppins" charset="0"/>
      <p:regular r:id="rId33"/>
      <p:bold r:id="rId34"/>
      <p:italic r:id="rId35"/>
      <p:boldItalic r:id="rId36"/>
    </p:embeddedFont>
    <p:embeddedFont>
      <p:font typeface=".VnBlack" pitchFamily="34" charset="0"/>
      <p:regular r:id="rId37"/>
    </p:embeddedFont>
    <p:embeddedFont>
      <p:font typeface="Calibri" pitchFamily="34" charset="0"/>
      <p:regular r:id="rId38"/>
      <p:bold r:id="rId39"/>
      <p:italic r:id="rId40"/>
      <p:boldItalic r:id="rId41"/>
    </p:embeddedFont>
    <p:embeddedFont>
      <p:font typeface="Cambria Math" pitchFamily="18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80E"/>
    <a:srgbClr val="5D6460"/>
    <a:srgbClr val="0B27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F84DA76C-795A-495A-BEFA-B778C0396278}">
  <a:tblStyle styleId="{F84DA76C-795A-495A-BEFA-B778C03962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1611BF4-621E-4B3C-804F-145F23E6AE4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03" autoAdjust="0"/>
    <p:restoredTop sz="94660"/>
  </p:normalViewPr>
  <p:slideViewPr>
    <p:cSldViewPr snapToGrid="0">
      <p:cViewPr varScale="1">
        <p:scale>
          <a:sx n="92" d="100"/>
          <a:sy n="92" d="100"/>
        </p:scale>
        <p:origin x="-690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508029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80A3F1-A5B8-4DD4-BBA4-6C471DA2EA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053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c234826ef4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c234826ef4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80A3F1-A5B8-4DD4-BBA4-6C471DA2EA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445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80A3F1-A5B8-4DD4-BBA4-6C471DA2EA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1249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80A3F1-A5B8-4DD4-BBA4-6C471DA2EA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02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80A3F1-A5B8-4DD4-BBA4-6C471DA2EA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737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>
              <a:buClrTx/>
              <a:buFontTx/>
              <a:buNone/>
              <a:defRPr/>
            </a:pPr>
            <a:fld id="{FB80A3F1-A5B8-4DD4-BBA4-6C471DA2EAD1}" type="slidenum">
              <a:rPr lang="en-US" kern="1200" smtClean="0">
                <a:solidFill>
                  <a:prstClr val="black"/>
                </a:solidFill>
                <a:latin typeface="Calibri" panose="020F0502020204030204"/>
                <a:ea typeface="+mn-ea"/>
              </a:rPr>
              <a:pPr>
                <a:buClrTx/>
                <a:buFontTx/>
                <a:buNone/>
                <a:defRPr/>
              </a:pPr>
              <a:t>13</a:t>
            </a:fld>
            <a:endParaRPr lang="en-US" kern="120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567376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941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80A3F1-A5B8-4DD4-BBA4-6C471DA2EA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0631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80A3F1-A5B8-4DD4-BBA4-6C471DA2EA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542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732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000000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501210" y="175873"/>
            <a:ext cx="2451351" cy="2451351"/>
            <a:chOff x="6680825" y="2549350"/>
            <a:chExt cx="1539600" cy="1539600"/>
          </a:xfrm>
        </p:grpSpPr>
        <p:sp>
          <p:nvSpPr>
            <p:cNvPr id="12" name="Google Shape;12;p2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16" name="Google Shape;16;p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2211600" y="1991850"/>
            <a:ext cx="4720800" cy="1159800"/>
          </a:xfrm>
          <a:prstGeom prst="rect">
            <a:avLst/>
          </a:prstGeom>
          <a:effectLst>
            <a:outerShdw blurRad="85725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00000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23;p3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24" name="Google Shape;24;p3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3"/>
          <p:cNvSpPr txBox="1">
            <a:spLocks noGrp="1"/>
          </p:cNvSpPr>
          <p:nvPr>
            <p:ph type="ctrTitle"/>
          </p:nvPr>
        </p:nvSpPr>
        <p:spPr>
          <a:xfrm>
            <a:off x="2569800" y="2236800"/>
            <a:ext cx="4004400" cy="95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2569800" y="3188701"/>
            <a:ext cx="400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grpSp>
        <p:nvGrpSpPr>
          <p:cNvPr id="30" name="Google Shape;30;p3"/>
          <p:cNvGrpSpPr/>
          <p:nvPr/>
        </p:nvGrpSpPr>
        <p:grpSpPr>
          <a:xfrm>
            <a:off x="764825" y="439375"/>
            <a:ext cx="1924500" cy="1924500"/>
            <a:chOff x="6680825" y="2549350"/>
            <a:chExt cx="1539600" cy="1539600"/>
          </a:xfrm>
        </p:grpSpPr>
        <p:sp>
          <p:nvSpPr>
            <p:cNvPr id="31" name="Google Shape;31;p3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36" name="Google Shape;36;p4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4"/>
          <p:cNvSpPr/>
          <p:nvPr/>
        </p:nvSpPr>
        <p:spPr>
          <a:xfrm>
            <a:off x="1794525" y="-40790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rtl="0">
              <a:spcBef>
                <a:spcPts val="60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1599200" y="1326625"/>
            <a:ext cx="7641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latin typeface="Poppins"/>
                <a:ea typeface="Poppins"/>
                <a:cs typeface="Poppins"/>
                <a:sym typeface="Poppins"/>
              </a:rPr>
              <a:t>“</a:t>
            </a:r>
            <a:endParaRPr sz="72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48" name="Google Shape;48;p5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￮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7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71" name="Google Shape;71;p7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7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22368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￮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body" idx="2"/>
          </p:nvPr>
        </p:nvSpPr>
        <p:spPr>
          <a:xfrm>
            <a:off x="3440857" y="1958050"/>
            <a:ext cx="22368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￮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9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98" name="Google Shape;98;p9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9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ype A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764000" y="-1236275"/>
            <a:ext cx="7616100" cy="76161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1198300" y="-801975"/>
            <a:ext cx="6747000" cy="67470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2267900" y="267625"/>
            <a:ext cx="4608300" cy="46083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-704850" y="-2705100"/>
            <a:ext cx="10553700" cy="10553700"/>
          </a:xfrm>
          <a:prstGeom prst="donut">
            <a:avLst>
              <a:gd name="adj" fmla="val 10467"/>
            </a:avLst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ype B">
  <p:cSld name="BLANK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4" name="Google Shape;124;p12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125" name="Google Shape;125;p1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2"/>
          <p:cNvSpPr/>
          <p:nvPr/>
        </p:nvSpPr>
        <p:spPr>
          <a:xfrm>
            <a:off x="1794525" y="-40790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4E0F-B49E-4CF9-974F-F2E81701724C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2D9CF-84F5-40DC-9319-750C0EB7F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7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5EC36A-E7C5-F54E-BB60-A6C1745D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0C0CE0-52D0-9A45-BCA6-208AF204B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DF5CBF0-2507-A545-A715-E511AB97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551-B90A-5B4E-B6C2-7C6D6217FDFF}" type="datetimeFigureOut">
              <a:rPr lang="x-none" smtClean="0"/>
              <a:t>14/09/2022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1E9EA7-83F6-CE4A-9E83-26C11485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77E9BB3-D659-124F-9EC7-BC83A3F6F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43BD0-D1CE-FB48-8BC2-265BB1C3049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2822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300" cy="26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7" r:id="rId7"/>
    <p:sldLayoutId id="2147483658" r:id="rId8"/>
    <p:sldLayoutId id="2147483661" r:id="rId9"/>
    <p:sldLayoutId id="2147483662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audio" Target="../media/audio4.wav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audio" Target="../media/audio3.wav"/><Relationship Id="rId12" Type="http://schemas.openxmlformats.org/officeDocument/2006/relationships/hyperlink" Target="https://www.youtube.com/user/TheMylove2011" TargetMode="External"/><Relationship Id="rId17" Type="http://schemas.openxmlformats.org/officeDocument/2006/relationships/audio" Target="../media/audio4.wav"/><Relationship Id="rId2" Type="http://schemas.openxmlformats.org/officeDocument/2006/relationships/audio" Target="../media/media1.m4a"/><Relationship Id="rId16" Type="http://schemas.openxmlformats.org/officeDocument/2006/relationships/audio" Target="../media/audio3.wav"/><Relationship Id="rId1" Type="http://schemas.microsoft.com/office/2007/relationships/media" Target="../media/media1.m4a"/><Relationship Id="rId6" Type="http://schemas.openxmlformats.org/officeDocument/2006/relationships/audio" Target="../media/audio2.wav"/><Relationship Id="rId11" Type="http://schemas.openxmlformats.org/officeDocument/2006/relationships/audio" Target="../media/audio5.wav"/><Relationship Id="rId5" Type="http://schemas.openxmlformats.org/officeDocument/2006/relationships/audio" Target="../media/audio1.wav"/><Relationship Id="rId15" Type="http://schemas.openxmlformats.org/officeDocument/2006/relationships/audio" Target="../media/audio2.wav"/><Relationship Id="rId10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2.gif"/><Relationship Id="rId1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10" Type="http://schemas.openxmlformats.org/officeDocument/2006/relationships/image" Target="../media/image13.jpeg"/><Relationship Id="rId4" Type="http://schemas.openxmlformats.org/officeDocument/2006/relationships/image" Target="../media/image7.jpg"/><Relationship Id="rId9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7.wmf"/><Relationship Id="rId4" Type="http://schemas.openxmlformats.org/officeDocument/2006/relationships/image" Target="../media/image18.jpg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audio" Target="../media/audio6.wav"/><Relationship Id="rId7" Type="http://schemas.openxmlformats.org/officeDocument/2006/relationships/image" Target="../media/image20.emf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emf"/><Relationship Id="rId11" Type="http://schemas.openxmlformats.org/officeDocument/2006/relationships/hyperlink" Target="https://www.youtube.com/user/TheMylove2011" TargetMode="External"/><Relationship Id="rId5" Type="http://schemas.openxmlformats.org/officeDocument/2006/relationships/audio" Target="../media/audio8.wav"/><Relationship Id="rId10" Type="http://schemas.openxmlformats.org/officeDocument/2006/relationships/audio" Target="../media/audio5.wav"/><Relationship Id="rId4" Type="http://schemas.openxmlformats.org/officeDocument/2006/relationships/audio" Target="../media/audio7.wav"/><Relationship Id="rId9" Type="http://schemas.openxmlformats.org/officeDocument/2006/relationships/image" Target="../media/image2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audio" Target="../media/audio6.wav"/><Relationship Id="rId7" Type="http://schemas.openxmlformats.org/officeDocument/2006/relationships/image" Target="../media/image20.emf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emf"/><Relationship Id="rId11" Type="http://schemas.openxmlformats.org/officeDocument/2006/relationships/hyperlink" Target="https://www.youtube.com/user/TheMylove2011" TargetMode="External"/><Relationship Id="rId5" Type="http://schemas.openxmlformats.org/officeDocument/2006/relationships/audio" Target="../media/audio8.wav"/><Relationship Id="rId10" Type="http://schemas.openxmlformats.org/officeDocument/2006/relationships/audio" Target="../media/audio5.wav"/><Relationship Id="rId4" Type="http://schemas.openxmlformats.org/officeDocument/2006/relationships/audio" Target="../media/audio7.wav"/><Relationship Id="rId9" Type="http://schemas.openxmlformats.org/officeDocument/2006/relationships/image" Target="../media/image2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audio" Target="../media/audio6.wav"/><Relationship Id="rId7" Type="http://schemas.openxmlformats.org/officeDocument/2006/relationships/image" Target="../media/image20.emf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emf"/><Relationship Id="rId11" Type="http://schemas.openxmlformats.org/officeDocument/2006/relationships/hyperlink" Target="https://www.youtube.com/user/TheMylove2011" TargetMode="External"/><Relationship Id="rId5" Type="http://schemas.openxmlformats.org/officeDocument/2006/relationships/audio" Target="../media/audio8.wav"/><Relationship Id="rId10" Type="http://schemas.openxmlformats.org/officeDocument/2006/relationships/audio" Target="../media/audio5.wav"/><Relationship Id="rId4" Type="http://schemas.openxmlformats.org/officeDocument/2006/relationships/audio" Target="../media/audio7.wav"/><Relationship Id="rId9" Type="http://schemas.openxmlformats.org/officeDocument/2006/relationships/image" Target="../media/image2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audio" Target="../media/audio6.wav"/><Relationship Id="rId7" Type="http://schemas.openxmlformats.org/officeDocument/2006/relationships/image" Target="../media/image2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emf"/><Relationship Id="rId11" Type="http://schemas.openxmlformats.org/officeDocument/2006/relationships/image" Target="../media/image4.png"/><Relationship Id="rId5" Type="http://schemas.openxmlformats.org/officeDocument/2006/relationships/audio" Target="../media/audio8.wav"/><Relationship Id="rId10" Type="http://schemas.openxmlformats.org/officeDocument/2006/relationships/hyperlink" Target="https://www.youtube.com/user/TheMylove2011" TargetMode="External"/><Relationship Id="rId4" Type="http://schemas.openxmlformats.org/officeDocument/2006/relationships/audio" Target="../media/audio7.wav"/><Relationship Id="rId9" Type="http://schemas.openxmlformats.org/officeDocument/2006/relationships/audio" Target="../media/audio5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image" Target="../media/image4.png"/><Relationship Id="rId3" Type="http://schemas.openxmlformats.org/officeDocument/2006/relationships/audio" Target="../media/audio6.wav"/><Relationship Id="rId7" Type="http://schemas.openxmlformats.org/officeDocument/2006/relationships/image" Target="../media/image19.emf"/><Relationship Id="rId12" Type="http://schemas.openxmlformats.org/officeDocument/2006/relationships/hyperlink" Target="https://www.youtube.com/user/TheMylove201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11" Type="http://schemas.openxmlformats.org/officeDocument/2006/relationships/audio" Target="../media/audio5.wav"/><Relationship Id="rId5" Type="http://schemas.openxmlformats.org/officeDocument/2006/relationships/audio" Target="../media/audio8.wav"/><Relationship Id="rId10" Type="http://schemas.openxmlformats.org/officeDocument/2006/relationships/image" Target="../media/image22.wmf"/><Relationship Id="rId4" Type="http://schemas.openxmlformats.org/officeDocument/2006/relationships/audio" Target="../media/audio7.wav"/><Relationship Id="rId9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2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audio" Target="../media/audio6.wav"/><Relationship Id="rId7" Type="http://schemas.openxmlformats.org/officeDocument/2006/relationships/image" Target="../media/image20.emf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11" Type="http://schemas.openxmlformats.org/officeDocument/2006/relationships/hyperlink" Target="https://www.youtube.com/user/TheMylove2011" TargetMode="External"/><Relationship Id="rId5" Type="http://schemas.openxmlformats.org/officeDocument/2006/relationships/audio" Target="../media/audio8.wav"/><Relationship Id="rId10" Type="http://schemas.openxmlformats.org/officeDocument/2006/relationships/audio" Target="../media/audio5.wav"/><Relationship Id="rId4" Type="http://schemas.openxmlformats.org/officeDocument/2006/relationships/audio" Target="../media/audio7.wav"/><Relationship Id="rId9" Type="http://schemas.openxmlformats.org/officeDocument/2006/relationships/image" Target="../media/image2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image" Target="../media/image4.png"/><Relationship Id="rId3" Type="http://schemas.openxmlformats.org/officeDocument/2006/relationships/audio" Target="../media/audio6.wav"/><Relationship Id="rId7" Type="http://schemas.openxmlformats.org/officeDocument/2006/relationships/image" Target="../media/image19.emf"/><Relationship Id="rId12" Type="http://schemas.openxmlformats.org/officeDocument/2006/relationships/hyperlink" Target="https://www.youtube.com/user/TheMylove2011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11" Type="http://schemas.openxmlformats.org/officeDocument/2006/relationships/audio" Target="../media/audio5.wav"/><Relationship Id="rId5" Type="http://schemas.openxmlformats.org/officeDocument/2006/relationships/audio" Target="../media/audio8.wav"/><Relationship Id="rId10" Type="http://schemas.openxmlformats.org/officeDocument/2006/relationships/image" Target="../media/image22.wmf"/><Relationship Id="rId4" Type="http://schemas.openxmlformats.org/officeDocument/2006/relationships/audio" Target="../media/audio7.wav"/><Relationship Id="rId9" Type="http://schemas.openxmlformats.org/officeDocument/2006/relationships/image" Target="../media/image2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9.wav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9.wav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9.wav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9.wav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audio" Target="../media/audio9.wav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2.png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5.png"/><Relationship Id="rId9" Type="http://schemas.openxmlformats.org/officeDocument/2006/relationships/image" Target="../media/image3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audio" Target="../media/audio9.wav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36.wmf"/><Relationship Id="rId5" Type="http://schemas.openxmlformats.org/officeDocument/2006/relationships/image" Target="../media/image32.png"/><Relationship Id="rId10" Type="http://schemas.openxmlformats.org/officeDocument/2006/relationships/oleObject" Target="../embeddings/oleObject18.bin"/><Relationship Id="rId4" Type="http://schemas.openxmlformats.org/officeDocument/2006/relationships/image" Target="../media/image5.png"/><Relationship Id="rId9" Type="http://schemas.openxmlformats.org/officeDocument/2006/relationships/image" Target="../media/image35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4" y="5316"/>
            <a:ext cx="6857999" cy="5143500"/>
          </a:xfrm>
          <a:prstGeom prst="rect">
            <a:avLst/>
          </a:prstGeom>
          <a:solidFill>
            <a:srgbClr val="212121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" name="Straight Connector 2"/>
          <p:cNvCxnSpPr>
            <a:endCxn id="8" idx="1"/>
          </p:cNvCxnSpPr>
          <p:nvPr/>
        </p:nvCxnSpPr>
        <p:spPr>
          <a:xfrm>
            <a:off x="1392919" y="268026"/>
            <a:ext cx="856786" cy="230904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27000">
              <a:srgbClr val="FF0000">
                <a:alpha val="3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stCxn id="9" idx="1"/>
          </p:cNvCxnSpPr>
          <p:nvPr/>
        </p:nvCxnSpPr>
        <p:spPr>
          <a:xfrm>
            <a:off x="6895571" y="2577069"/>
            <a:ext cx="846164" cy="2321771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27000">
              <a:srgbClr val="FF0000">
                <a:alpha val="3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57425" y="1408569"/>
            <a:ext cx="4629150" cy="27479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5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KHỞI ĐỘNG</a:t>
            </a:r>
          </a:p>
        </p:txBody>
      </p:sp>
      <p:cxnSp>
        <p:nvCxnSpPr>
          <p:cNvPr id="6" name="Straight Connector 5"/>
          <p:cNvCxnSpPr>
            <a:stCxn id="8" idx="1"/>
          </p:cNvCxnSpPr>
          <p:nvPr/>
        </p:nvCxnSpPr>
        <p:spPr>
          <a:xfrm flipH="1">
            <a:off x="1393656" y="2577066"/>
            <a:ext cx="856049" cy="2317323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27000">
              <a:srgbClr val="FF0000">
                <a:alpha val="3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9" idx="1"/>
          </p:cNvCxnSpPr>
          <p:nvPr/>
        </p:nvCxnSpPr>
        <p:spPr>
          <a:xfrm flipH="1">
            <a:off x="6895571" y="267531"/>
            <a:ext cx="846164" cy="2309535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27000">
              <a:srgbClr val="FF0000">
                <a:alpha val="3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eft Bracket 7"/>
          <p:cNvSpPr/>
          <p:nvPr/>
        </p:nvSpPr>
        <p:spPr>
          <a:xfrm rot="10800000" flipH="1">
            <a:off x="2249705" y="1361735"/>
            <a:ext cx="147487" cy="2430662"/>
          </a:xfrm>
          <a:prstGeom prst="leftBracket">
            <a:avLst/>
          </a:prstGeom>
          <a:ln w="12700">
            <a:solidFill>
              <a:srgbClr val="FF0000"/>
            </a:solidFill>
          </a:ln>
          <a:effectLst>
            <a:glow rad="127000">
              <a:srgbClr val="FF0000">
                <a:alpha val="3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Left Bracket 8"/>
          <p:cNvSpPr/>
          <p:nvPr/>
        </p:nvSpPr>
        <p:spPr>
          <a:xfrm rot="10800000">
            <a:off x="6752954" y="1361735"/>
            <a:ext cx="142617" cy="2430662"/>
          </a:xfrm>
          <a:prstGeom prst="leftBracket">
            <a:avLst/>
          </a:prstGeom>
          <a:ln w="12700">
            <a:solidFill>
              <a:srgbClr val="FF0000"/>
            </a:solidFill>
          </a:ln>
          <a:effectLst>
            <a:glow rad="127000">
              <a:srgbClr val="FF0000">
                <a:alpha val="3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062404" y="2381926"/>
            <a:ext cx="381962" cy="381962"/>
            <a:chOff x="452190" y="3133126"/>
            <a:chExt cx="286946" cy="286946"/>
          </a:xfrm>
        </p:grpSpPr>
        <p:sp>
          <p:nvSpPr>
            <p:cNvPr id="11" name="Oval 10"/>
            <p:cNvSpPr/>
            <p:nvPr/>
          </p:nvSpPr>
          <p:spPr>
            <a:xfrm>
              <a:off x="452190" y="3133126"/>
              <a:ext cx="286946" cy="286946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FF4E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531824" y="3217049"/>
              <a:ext cx="122915" cy="122915"/>
            </a:xfrm>
            <a:prstGeom prst="ellipse">
              <a:avLst/>
            </a:prstGeom>
            <a:solidFill>
              <a:srgbClr val="00FF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696263" y="2380873"/>
            <a:ext cx="381962" cy="381962"/>
            <a:chOff x="452190" y="3133126"/>
            <a:chExt cx="286946" cy="286946"/>
          </a:xfrm>
        </p:grpSpPr>
        <p:sp>
          <p:nvSpPr>
            <p:cNvPr id="14" name="Oval 13"/>
            <p:cNvSpPr/>
            <p:nvPr/>
          </p:nvSpPr>
          <p:spPr>
            <a:xfrm>
              <a:off x="452190" y="3133126"/>
              <a:ext cx="286946" cy="286946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FF4E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31824" y="3217049"/>
              <a:ext cx="122915" cy="122915"/>
            </a:xfrm>
            <a:prstGeom prst="ellipse">
              <a:avLst/>
            </a:prstGeom>
            <a:solidFill>
              <a:srgbClr val="00FF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pic>
        <p:nvPicPr>
          <p:cNvPr id="29" name="Picture 5" descr="n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 rot="10800000" flipV="1">
            <a:off x="1385194" y="229192"/>
            <a:ext cx="6356541" cy="12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5" descr="n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 rot="10800000" flipV="1">
            <a:off x="1385194" y="4877439"/>
            <a:ext cx="6356541" cy="12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7" name="Group 16"/>
          <p:cNvGrpSpPr/>
          <p:nvPr/>
        </p:nvGrpSpPr>
        <p:grpSpPr>
          <a:xfrm>
            <a:off x="1228677" y="4753108"/>
            <a:ext cx="381962" cy="381962"/>
            <a:chOff x="452190" y="3133126"/>
            <a:chExt cx="286946" cy="286946"/>
          </a:xfrm>
        </p:grpSpPr>
        <p:sp>
          <p:nvSpPr>
            <p:cNvPr id="18" name="Oval 17"/>
            <p:cNvSpPr/>
            <p:nvPr/>
          </p:nvSpPr>
          <p:spPr>
            <a:xfrm>
              <a:off x="452190" y="3133126"/>
              <a:ext cx="286946" cy="286946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FF4E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531824" y="3217049"/>
              <a:ext cx="122915" cy="122915"/>
            </a:xfrm>
            <a:prstGeom prst="ellipse">
              <a:avLst/>
            </a:prstGeom>
            <a:solidFill>
              <a:srgbClr val="00FF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528269" y="4753108"/>
            <a:ext cx="381962" cy="381962"/>
            <a:chOff x="452190" y="3133126"/>
            <a:chExt cx="286946" cy="286946"/>
          </a:xfrm>
        </p:grpSpPr>
        <p:sp>
          <p:nvSpPr>
            <p:cNvPr id="21" name="Oval 20"/>
            <p:cNvSpPr/>
            <p:nvPr/>
          </p:nvSpPr>
          <p:spPr>
            <a:xfrm>
              <a:off x="452190" y="3133126"/>
              <a:ext cx="286946" cy="286946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FF4E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531824" y="3217049"/>
              <a:ext cx="122915" cy="122915"/>
            </a:xfrm>
            <a:prstGeom prst="ellipse">
              <a:avLst/>
            </a:prstGeom>
            <a:solidFill>
              <a:srgbClr val="00FF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228677" y="87793"/>
            <a:ext cx="381962" cy="381962"/>
            <a:chOff x="452190" y="3133126"/>
            <a:chExt cx="286946" cy="286946"/>
          </a:xfrm>
        </p:grpSpPr>
        <p:sp>
          <p:nvSpPr>
            <p:cNvPr id="24" name="Oval 23"/>
            <p:cNvSpPr/>
            <p:nvPr/>
          </p:nvSpPr>
          <p:spPr>
            <a:xfrm>
              <a:off x="452190" y="3133126"/>
              <a:ext cx="286946" cy="286946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FF4E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531824" y="3217049"/>
              <a:ext cx="122915" cy="122915"/>
            </a:xfrm>
            <a:prstGeom prst="ellipse">
              <a:avLst/>
            </a:prstGeom>
            <a:solidFill>
              <a:srgbClr val="00FF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528269" y="87793"/>
            <a:ext cx="381962" cy="381962"/>
            <a:chOff x="452190" y="3133126"/>
            <a:chExt cx="286946" cy="286946"/>
          </a:xfrm>
        </p:grpSpPr>
        <p:sp>
          <p:nvSpPr>
            <p:cNvPr id="27" name="Oval 26"/>
            <p:cNvSpPr/>
            <p:nvPr/>
          </p:nvSpPr>
          <p:spPr>
            <a:xfrm>
              <a:off x="452190" y="3133126"/>
              <a:ext cx="286946" cy="286946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FF4E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531824" y="3217049"/>
              <a:ext cx="122915" cy="122915"/>
            </a:xfrm>
            <a:prstGeom prst="ellipse">
              <a:avLst/>
            </a:prstGeom>
            <a:solidFill>
              <a:srgbClr val="00FF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pic>
        <p:nvPicPr>
          <p:cNvPr id="31" name="nhacnen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10" cstate="print"/>
          <a:stretch>
            <a:fillRect/>
          </a:stretch>
        </p:blipFill>
        <p:spPr>
          <a:xfrm>
            <a:off x="9174533" y="4463879"/>
            <a:ext cx="342900" cy="342900"/>
          </a:xfrm>
          <a:prstGeom prst="rect">
            <a:avLst/>
          </a:prstGeom>
        </p:spPr>
      </p:pic>
      <p:pic>
        <p:nvPicPr>
          <p:cNvPr id="32" name="Picture 31">
            <a:hlinkHover r:id="rId12" highlightClick="1">
              <a:snd r:embed="rId11" name="applause.wav"/>
            </a:hlinkHover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164" y="4156549"/>
            <a:ext cx="1030622" cy="98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4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" dur="3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5" name="menu_toggle_tone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" dur="3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3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20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6" name="Beep_1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6" fill="hold">
                          <p:stCondLst>
                            <p:cond delay="indefinite"/>
                          </p:stCondLst>
                          <p:childTnLst>
                            <p:par>
                              <p:cTn id="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8" presetID="4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Bookmark(Bookmark 1)">
                                          <p:cBhvr>
                                            <p:cTn id="29" dur="9552" fill="hold"/>
                                            <p:tgtEl>
                                              <p:spTgt spid="31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30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3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3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3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9552"/>
                                </p:stCondLst>
                                <p:childTnLst>
                                  <p:par>
                                    <p:cTn id="37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7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7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7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50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7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7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6" dur="7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7" name="suonho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10252"/>
                                </p:stCondLst>
                                <p:childTnLst>
                                  <p:par>
                                    <p:cTn id="48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50" dur="4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8" name="fins__success-2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37879">
                    <p:cTn id="51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1"/>
                    </p:tgtEl>
                  </p:cMediaNode>
                </p:audio>
              </p:childTnLst>
            </p:cTn>
          </p:par>
        </p:tnLst>
        <p:bldLst>
          <p:bldP spid="2" grpId="0" animBg="1"/>
          <p:bldP spid="5" grpId="0" animBg="1"/>
          <p:bldP spid="8" grpId="0" animBg="1"/>
          <p:bldP spid="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" dur="3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7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4" name="menu_toggle_tone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1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" dur="3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3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20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2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5" name="Beep_1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6" fill="hold">
                          <p:stCondLst>
                            <p:cond delay="indefinite"/>
                          </p:stCondLst>
                          <p:childTnLst>
                            <p:par>
                              <p:cTn id="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8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00)">
                                          <p:cBhvr>
                                            <p:cTn id="29" dur="9552" fill="hold"/>
                                            <p:tgtEl>
                                              <p:spTgt spid="31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30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3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3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3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9552"/>
                                </p:stCondLst>
                                <p:childTnLst>
                                  <p:par>
                                    <p:cTn id="37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7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7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7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50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7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7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6" dur="7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2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6" name="suonho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10252"/>
                                </p:stCondLst>
                                <p:childTnLst>
                                  <p:par>
                                    <p:cTn id="48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50" dur="4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48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17" name="fins__success-2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37879">
                    <p:cTn id="51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1"/>
                    </p:tgtEl>
                  </p:cMediaNode>
                </p:audio>
              </p:childTnLst>
            </p:cTn>
          </p:par>
        </p:tnLst>
        <p:bldLst>
          <p:bldP spid="2" grpId="0" animBg="1"/>
          <p:bldP spid="5" grpId="0" animBg="1"/>
          <p:bldP spid="8" grpId="0" animBg="1"/>
          <p:bldP spid="9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2569800" y="2236800"/>
            <a:ext cx="4004400" cy="95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FF0000"/>
                </a:solidFill>
              </a:rPr>
              <a:t>TRÒ CHƠI “GIẬT CỜ”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60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107831" y="931574"/>
            <a:ext cx="24354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4000" dirty="0">
                <a:solidFill>
                  <a:srgbClr val="FF0000"/>
                </a:solidFill>
              </a:rPr>
              <a:t> </a:t>
            </a:r>
            <a:r>
              <a:rPr lang="en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LUẬT CHƠI </a:t>
            </a:r>
            <a:endParaRPr lang="en-US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141;p14"/>
          <p:cNvSpPr txBox="1">
            <a:spLocks/>
          </p:cNvSpPr>
          <p:nvPr/>
        </p:nvSpPr>
        <p:spPr>
          <a:xfrm>
            <a:off x="2950941" y="1593293"/>
            <a:ext cx="4448908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dirty="0" smtClean="0"/>
              <a:t>        </a:t>
            </a:r>
            <a:br>
              <a:rPr lang="vi-VN" dirty="0" smtClean="0"/>
            </a:br>
            <a:r>
              <a:rPr lang="vi-VN" dirty="0" smtClean="0"/>
              <a:t/>
            </a:r>
            <a:br>
              <a:rPr lang="vi-VN" dirty="0" smtClean="0"/>
            </a:br>
            <a:r>
              <a:rPr lang="vi-VN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GV lập 2 đội chơi, mỗi đội 5HS, xếp thành 1 hàng ngang </a:t>
            </a:r>
            <a:br>
              <a:rPr lang="vi-VN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-GV chuẩn bị sẵn lá cờ nhỏ, cố định tại vị trí cách đều 02 đội.</a:t>
            </a:r>
            <a:br>
              <a:rPr lang="vi-VN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400" dirty="0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vi-VN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 ổn định xong, GV hô xuất phát, cả 2 đội tranh cờ . Đội nào lấy cờ được mà không bị đội kia bắt là c</a:t>
            </a:r>
            <a:r>
              <a:rPr lang="en-US" sz="2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hiến</a:t>
            </a:r>
            <a:r>
              <a:rPr lang="vi-VN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thắng.</a:t>
            </a:r>
            <a:endParaRPr lang="vi-V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" name="Cloud Callout 2"/>
          <p:cNvSpPr/>
          <p:nvPr/>
        </p:nvSpPr>
        <p:spPr>
          <a:xfrm>
            <a:off x="3135234" y="0"/>
            <a:ext cx="3254188" cy="2304114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D:\liên kết CHT\question-mark-300x3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6349">
            <a:off x="3320065" y="2558134"/>
            <a:ext cx="2490383" cy="217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68;p16"/>
          <p:cNvSpPr txBox="1">
            <a:spLocks/>
          </p:cNvSpPr>
          <p:nvPr/>
        </p:nvSpPr>
        <p:spPr>
          <a:xfrm>
            <a:off x="3327213" y="302440"/>
            <a:ext cx="3686651" cy="200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Poppins Light"/>
              <a:buChar char="￮"/>
              <a:defRPr sz="16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Poppins Light"/>
              <a:buChar char="￮"/>
              <a:defRPr sz="16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Poppins Light"/>
              <a:buChar char="￮"/>
              <a:defRPr sz="16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indent="0">
              <a:buFont typeface="Poppins Light"/>
              <a:buNone/>
            </a:pP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sz="2200" dirty="0" err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2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vi-VN" sz="22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mức </a:t>
            </a:r>
            <a:r>
              <a:rPr lang="en-US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22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ộ hỗn độn cũng như khả năng va chạm trước (lúc </a:t>
            </a:r>
            <a:r>
              <a:rPr lang="en-US" sz="2200" dirty="0" err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vi-VN" sz="22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hàng)  và sau ( lúc tranh cờ)</a:t>
            </a:r>
            <a:r>
              <a:rPr lang="en-US" sz="22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vi-VN" sz="22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sz="2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4"/>
          <p:cNvGrpSpPr/>
          <p:nvPr/>
        </p:nvGrpSpPr>
        <p:grpSpPr>
          <a:xfrm>
            <a:off x="1311079" y="985525"/>
            <a:ext cx="832106" cy="832102"/>
            <a:chOff x="1923675" y="1633650"/>
            <a:chExt cx="436000" cy="435975"/>
          </a:xfrm>
        </p:grpSpPr>
        <p:sp>
          <p:nvSpPr>
            <p:cNvPr id="143" name="Google Shape;143;p14"/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400" y="2058669"/>
            <a:ext cx="6735176" cy="1159800"/>
          </a:xfrm>
        </p:spPr>
        <p:txBody>
          <a:bodyPr/>
          <a:lstStyle/>
          <a:p>
            <a:r>
              <a:rPr lang="en-US" sz="4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4. </a:t>
            </a:r>
            <a:b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BIẾN THIÊN NĂNG LƯỢNG</a:t>
            </a:r>
            <a:b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 DO 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GIBBS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6"/>
          <p:cNvSpPr txBox="1">
            <a:spLocks noGrp="1"/>
          </p:cNvSpPr>
          <p:nvPr>
            <p:ph type="title"/>
          </p:nvPr>
        </p:nvSpPr>
        <p:spPr>
          <a:xfrm>
            <a:off x="648572" y="422054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 SÁT MỘT SỐ HÌNH ẢNH </a:t>
            </a:r>
            <a:endParaRPr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8" name="Google Shape;658;p46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659" name="Google Shape;659;p46"/>
          <p:cNvPicPr preferRelativeResize="0"/>
          <p:nvPr/>
        </p:nvPicPr>
        <p:blipFill rotWithShape="1">
          <a:blip r:embed="rId3">
            <a:alphaModFix/>
          </a:blip>
          <a:srcRect l="19633" t="9820" b="9812"/>
          <a:stretch/>
        </p:blipFill>
        <p:spPr>
          <a:xfrm>
            <a:off x="550500" y="20647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1" name="Google Shape;661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30225" y="20647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3" name="Google Shape;663;p46"/>
          <p:cNvPicPr preferRelativeResize="0"/>
          <p:nvPr/>
        </p:nvPicPr>
        <p:blipFill rotWithShape="1">
          <a:blip r:embed="rId5">
            <a:alphaModFix/>
          </a:blip>
          <a:srcRect l="47271" t="22330" b="24940"/>
          <a:stretch/>
        </p:blipFill>
        <p:spPr>
          <a:xfrm>
            <a:off x="4509950" y="20647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5" name="Google Shape;665;p46"/>
          <p:cNvPicPr preferRelativeResize="0"/>
          <p:nvPr/>
        </p:nvPicPr>
        <p:blipFill rotWithShape="1">
          <a:blip r:embed="rId6">
            <a:alphaModFix/>
          </a:blip>
          <a:srcRect t="3926" b="29406"/>
          <a:stretch/>
        </p:blipFill>
        <p:spPr>
          <a:xfrm>
            <a:off x="6489675" y="20647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2" name="Picture 11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1" t="28824" r="40806" b="17353"/>
          <a:stretch/>
        </p:blipFill>
        <p:spPr bwMode="auto">
          <a:xfrm>
            <a:off x="11428" y="1580207"/>
            <a:ext cx="2039700" cy="29962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 descr="Tại sao entropy trở thành vấn đề trong cuộc sống của chúng ta?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847" y="1580207"/>
            <a:ext cx="2252326" cy="3087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Hóa Đại Cương Bách Khoa HCM - chuong 7.Thế đẳng áp.html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475" y="1580207"/>
            <a:ext cx="1981200" cy="2996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CHƯƠNG 2: NGUYÊN LÝ II CỦA NHIỆT ĐỘNG HỌC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392" y="1534569"/>
            <a:ext cx="2613607" cy="31331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loud Callout 1"/>
          <p:cNvSpPr/>
          <p:nvPr/>
        </p:nvSpPr>
        <p:spPr>
          <a:xfrm>
            <a:off x="5254550" y="763604"/>
            <a:ext cx="2839968" cy="77096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xét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mức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hỗn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loạn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từng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/>
        </p:nvSpPr>
        <p:spPr>
          <a:xfrm>
            <a:off x="700627" y="861620"/>
            <a:ext cx="6630952" cy="510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Google Shape;153;p15"/>
          <p:cNvSpPr txBox="1">
            <a:spLocks noGrp="1"/>
          </p:cNvSpPr>
          <p:nvPr>
            <p:ph type="title"/>
          </p:nvPr>
        </p:nvSpPr>
        <p:spPr>
          <a:xfrm>
            <a:off x="805273" y="861620"/>
            <a:ext cx="6526306" cy="5314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vi-V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 </a:t>
            </a:r>
            <a:r>
              <a:rPr lang="vi-VN" sz="2400" dirty="0">
                <a:solidFill>
                  <a:srgbClr val="FF0000"/>
                </a:solidFill>
                <a:latin typeface="+mj-lt"/>
              </a:rPr>
              <a:t>và mức dộ mất trật tự trong hệ vĩ mô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3713300" y="1457360"/>
            <a:ext cx="2581679" cy="22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vi-V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 Đối với cùng một chất, khi chuyển từ thể rắn, lỏng sang khí hoặc tăng nhiệt độ thì entropy của chất sẽ tăng.</a:t>
            </a:r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444761" y="1335694"/>
            <a:ext cx="3222175" cy="21816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vi-VN" sz="2000" dirty="0">
                <a:solidFill>
                  <a:srgbClr val="00B0F0"/>
                </a:solidFill>
                <a:latin typeface="+mj-lt"/>
              </a:rPr>
              <a:t>+</a:t>
            </a:r>
            <a:r>
              <a:rPr lang="vi-VN" sz="2000" b="1" dirty="0">
                <a:solidFill>
                  <a:srgbClr val="00B0F0"/>
                </a:solidFill>
                <a:latin typeface="+mj-lt"/>
              </a:rPr>
              <a:t> Entropy (S)</a:t>
            </a:r>
            <a:r>
              <a:rPr lang="vi-VN" sz="2000" dirty="0">
                <a:solidFill>
                  <a:srgbClr val="00B0F0"/>
                </a:solidFill>
                <a:latin typeface="+mj-lt"/>
              </a:rPr>
              <a:t> là đại lượng đặc trưng cho độ mất trật tự của một hệ ở một trạng thái và điều kiện xác định. Entropy càng lớn hệ càng mất trật tự.</a:t>
            </a:r>
            <a:endParaRPr lang="en-US" sz="2000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157" name="Google Shape;157;p1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158" name="Google Shape;158;p15"/>
          <p:cNvGrpSpPr/>
          <p:nvPr/>
        </p:nvGrpSpPr>
        <p:grpSpPr>
          <a:xfrm>
            <a:off x="7227977" y="2052723"/>
            <a:ext cx="1212302" cy="1038068"/>
            <a:chOff x="1934025" y="1001650"/>
            <a:chExt cx="415300" cy="355600"/>
          </a:xfrm>
        </p:grpSpPr>
        <p:sp>
          <p:nvSpPr>
            <p:cNvPr id="159" name="Google Shape;159;p15"/>
            <p:cNvSpPr/>
            <p:nvPr/>
          </p:nvSpPr>
          <p:spPr>
            <a:xfrm>
              <a:off x="1934025" y="1303650"/>
              <a:ext cx="207650" cy="53600"/>
            </a:xfrm>
            <a:custGeom>
              <a:avLst/>
              <a:gdLst/>
              <a:ahLst/>
              <a:cxnLst/>
              <a:rect l="l" t="t" r="r" b="b"/>
              <a:pathLst>
                <a:path w="8306" h="2144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2141650" y="1303650"/>
              <a:ext cx="207675" cy="53600"/>
            </a:xfrm>
            <a:custGeom>
              <a:avLst/>
              <a:gdLst/>
              <a:ahLst/>
              <a:cxnLst/>
              <a:rect l="l" t="t" r="r" b="b"/>
              <a:pathLst>
                <a:path w="8307" h="2144" fill="none" extrusionOk="0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934025" y="1001650"/>
              <a:ext cx="207650" cy="331250"/>
            </a:xfrm>
            <a:custGeom>
              <a:avLst/>
              <a:gdLst/>
              <a:ahLst/>
              <a:cxnLst/>
              <a:rect l="l" t="t" r="r" b="b"/>
              <a:pathLst>
                <a:path w="8306" h="13250" fill="none" extrusionOk="0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2141650" y="1001650"/>
              <a:ext cx="207675" cy="331250"/>
            </a:xfrm>
            <a:custGeom>
              <a:avLst/>
              <a:gdLst/>
              <a:ahLst/>
              <a:cxnLst/>
              <a:rect l="l" t="t" r="r" b="b"/>
              <a:pathLst>
                <a:path w="8307" h="13250" fill="none" extrusionOk="0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w="9525" cap="rnd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805273" y="232754"/>
            <a:ext cx="2501152" cy="5558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ENTROPY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05273" y="3767787"/>
            <a:ext cx="663108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 Đơn vị của entropy thường là J/mol·K. Giá trị entropy S của một chất xác định ở điều kiện chuẩn (298K, 1 bar) gọi là entropy chuẩn và kí hiệu là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(J/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mol.K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vi-VN" altLang="en-US" sz="2000" b="0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5106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765016"/>
              </p:ext>
            </p:extLst>
          </p:nvPr>
        </p:nvGraphicFramePr>
        <p:xfrm>
          <a:off x="3824677" y="4372271"/>
          <a:ext cx="348374" cy="326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Equation" r:id="rId4" imgW="253890" imgH="241195" progId="Equation.DSMT4">
                  <p:embed/>
                </p:oleObj>
              </mc:Choice>
              <mc:Fallback>
                <p:oleObj name="Equation" r:id="rId4" imgW="253890" imgH="24119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677" y="4372271"/>
                        <a:ext cx="348374" cy="3260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0" y="423345"/>
            <a:ext cx="7014945" cy="5586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8186" y="910845"/>
            <a:ext cx="3112927" cy="3513604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9" name="Google Shape;189;p19"/>
          <p:cNvGrpSpPr/>
          <p:nvPr/>
        </p:nvGrpSpPr>
        <p:grpSpPr>
          <a:xfrm>
            <a:off x="5853100" y="3068600"/>
            <a:ext cx="1539600" cy="1539600"/>
            <a:chOff x="6680825" y="2549350"/>
            <a:chExt cx="1539600" cy="1539600"/>
          </a:xfrm>
        </p:grpSpPr>
        <p:sp>
          <p:nvSpPr>
            <p:cNvPr id="190" name="Google Shape;190;p19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67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" name="Google Shape;194;p19"/>
          <p:cNvSpPr txBox="1">
            <a:spLocks noGrp="1"/>
          </p:cNvSpPr>
          <p:nvPr>
            <p:ph type="body" idx="1"/>
          </p:nvPr>
        </p:nvSpPr>
        <p:spPr>
          <a:xfrm>
            <a:off x="483444" y="1157849"/>
            <a:ext cx="6000215" cy="2660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vi-VN" sz="2000" dirty="0">
                <a:solidFill>
                  <a:srgbClr val="08180E"/>
                </a:solidFill>
                <a:latin typeface="+mj-lt"/>
              </a:rPr>
              <a:t>Biến thiên entropy được tính </a:t>
            </a:r>
            <a:r>
              <a:rPr lang="en-US" sz="2000" dirty="0" smtClean="0">
                <a:solidFill>
                  <a:srgbClr val="08180E"/>
                </a:solidFill>
                <a:latin typeface="+mj-lt"/>
              </a:rPr>
              <a:t>:</a:t>
            </a:r>
          </a:p>
          <a:p>
            <a:pPr marL="0" lvl="0" indent="0">
              <a:buNone/>
            </a:pPr>
            <a:r>
              <a:rPr lang="vi-VN" sz="2000" dirty="0">
                <a:solidFill>
                  <a:srgbClr val="08180E"/>
                </a:solidFill>
                <a:latin typeface="+mj-lt"/>
              </a:rPr>
              <a:t>Ở điều kiện chuẩn và nhiệt độ 298K, ta </a:t>
            </a:r>
            <a:r>
              <a:rPr lang="vi-VN" sz="2000" dirty="0" smtClean="0">
                <a:solidFill>
                  <a:srgbClr val="08180E"/>
                </a:solidFill>
                <a:latin typeface="+mj-lt"/>
              </a:rPr>
              <a:t>có</a:t>
            </a:r>
            <a:r>
              <a:rPr lang="en-US" sz="2000" dirty="0" smtClean="0">
                <a:solidFill>
                  <a:srgbClr val="08180E"/>
                </a:solidFill>
                <a:latin typeface="+mj-lt"/>
              </a:rPr>
              <a:t>:</a:t>
            </a:r>
          </a:p>
          <a:p>
            <a:pPr marL="0" lvl="0" indent="0">
              <a:buNone/>
            </a:pPr>
            <a:endParaRPr lang="en-US" sz="2000" dirty="0" smtClean="0">
              <a:solidFill>
                <a:srgbClr val="08180E"/>
              </a:solidFill>
              <a:latin typeface="+mj-lt"/>
            </a:endParaRPr>
          </a:p>
          <a:p>
            <a:pPr marL="0" indent="0">
              <a:buNone/>
            </a:pPr>
            <a:r>
              <a:rPr lang="vi-VN" sz="2000" dirty="0">
                <a:solidFill>
                  <a:srgbClr val="08180E"/>
                </a:solidFill>
                <a:latin typeface="+mj-lt"/>
              </a:rPr>
              <a:t>Xét phản ứng: aA + bB → cC + dD</a:t>
            </a:r>
            <a:endParaRPr lang="en-US" sz="2000" dirty="0">
              <a:solidFill>
                <a:srgbClr val="08180E"/>
              </a:solidFill>
              <a:latin typeface="+mj-lt"/>
            </a:endParaRPr>
          </a:p>
          <a:p>
            <a:pPr marL="0" lvl="0" indent="0">
              <a:buNone/>
            </a:pPr>
            <a:endParaRPr dirty="0"/>
          </a:p>
        </p:txBody>
      </p:sp>
      <p:sp>
        <p:nvSpPr>
          <p:cNvPr id="195" name="Google Shape;195;p19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196" name="Google Shape;196;p19"/>
          <p:cNvGrpSpPr/>
          <p:nvPr/>
        </p:nvGrpSpPr>
        <p:grpSpPr>
          <a:xfrm>
            <a:off x="6438110" y="3653462"/>
            <a:ext cx="369505" cy="369505"/>
            <a:chOff x="2594050" y="1631825"/>
            <a:chExt cx="439625" cy="439625"/>
          </a:xfrm>
        </p:grpSpPr>
        <p:sp>
          <p:nvSpPr>
            <p:cNvPr id="197" name="Google Shape;197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/>
          <p:cNvSpPr/>
          <p:nvPr/>
        </p:nvSpPr>
        <p:spPr>
          <a:xfrm>
            <a:off x="337971" y="445861"/>
            <a:ext cx="6840354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310"/>
              </a:spcBef>
              <a:spcAft>
                <a:spcPts val="310"/>
              </a:spcAft>
            </a:pP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vi-V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 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thiên entropy trong </a:t>
            </a:r>
            <a:r>
              <a:rPr lang="vi-V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 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 ứng hóa học</a:t>
            </a:r>
            <a:endParaRPr lang="en-US" sz="2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413982"/>
              </p:ext>
            </p:extLst>
          </p:nvPr>
        </p:nvGraphicFramePr>
        <p:xfrm>
          <a:off x="3810657" y="1184565"/>
          <a:ext cx="2527529" cy="454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Equation" r:id="rId5" imgW="1553324" imgH="256636" progId="Equation.DSMT4">
                  <p:embed/>
                </p:oleObj>
              </mc:Choice>
              <mc:Fallback>
                <p:oleObj name="Equation" r:id="rId5" imgW="1553324" imgH="25663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657" y="1184565"/>
                        <a:ext cx="2527529" cy="454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07037" y="15200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161341"/>
              </p:ext>
            </p:extLst>
          </p:nvPr>
        </p:nvGraphicFramePr>
        <p:xfrm>
          <a:off x="1620982" y="1975555"/>
          <a:ext cx="2839657" cy="42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Equation" r:id="rId7" imgW="2005729" imgH="266584" progId="Equation.DSMT4">
                  <p:embed/>
                </p:oleObj>
              </mc:Choice>
              <mc:Fallback>
                <p:oleObj name="Equation" r:id="rId7" imgW="2005729" imgH="26658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982" y="1975555"/>
                        <a:ext cx="2839657" cy="4247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390580"/>
              </p:ext>
            </p:extLst>
          </p:nvPr>
        </p:nvGraphicFramePr>
        <p:xfrm>
          <a:off x="1184724" y="2869841"/>
          <a:ext cx="4374412" cy="412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Equation" r:id="rId9" imgW="3517900" imgH="254000" progId="Equation.DSMT4">
                  <p:embed/>
                </p:oleObj>
              </mc:Choice>
              <mc:Fallback>
                <p:oleObj name="Equation" r:id="rId9" imgW="35179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724" y="2869841"/>
                        <a:ext cx="4374412" cy="4127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4-Point Star 12"/>
          <p:cNvSpPr/>
          <p:nvPr/>
        </p:nvSpPr>
        <p:spPr>
          <a:xfrm>
            <a:off x="478762" y="1838050"/>
            <a:ext cx="71717" cy="105882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4-Point Star 26"/>
          <p:cNvSpPr/>
          <p:nvPr/>
        </p:nvSpPr>
        <p:spPr>
          <a:xfrm>
            <a:off x="478761" y="2571700"/>
            <a:ext cx="71717" cy="105882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4-Point Star 27"/>
          <p:cNvSpPr/>
          <p:nvPr/>
        </p:nvSpPr>
        <p:spPr>
          <a:xfrm>
            <a:off x="481900" y="1455588"/>
            <a:ext cx="45719" cy="45719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2308146" y="563279"/>
            <a:ext cx="5369727" cy="2164095"/>
          </a:xfrm>
          <a:prstGeom prst="rect">
            <a:avLst/>
          </a:prstGeom>
          <a:solidFill>
            <a:srgbClr val="008CF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rgbClr val="FFFF00"/>
              </a:solidFill>
              <a:latin typeface="Calibri" panose="020F0502020204030204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2114983" y="473599"/>
            <a:ext cx="290843" cy="2343457"/>
            <a:chOff x="1322576" y="181189"/>
            <a:chExt cx="387790" cy="2666783"/>
          </a:xfrm>
        </p:grpSpPr>
        <p:grpSp>
          <p:nvGrpSpPr>
            <p:cNvPr id="53" name="Group 52"/>
            <p:cNvGrpSpPr/>
            <p:nvPr/>
          </p:nvGrpSpPr>
          <p:grpSpPr>
            <a:xfrm>
              <a:off x="1322576" y="1379570"/>
              <a:ext cx="286946" cy="286946"/>
              <a:chOff x="505017" y="3662327"/>
              <a:chExt cx="286946" cy="286946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505017" y="3662327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87032" y="3741662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7" name="Left Bracket 56"/>
            <p:cNvSpPr/>
            <p:nvPr/>
          </p:nvSpPr>
          <p:spPr>
            <a:xfrm>
              <a:off x="1461286" y="181189"/>
              <a:ext cx="249080" cy="2666783"/>
            </a:xfrm>
            <a:prstGeom prst="leftBracket">
              <a:avLst/>
            </a:prstGeom>
            <a:ln w="38100">
              <a:solidFill>
                <a:srgbClr val="008C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8" name="Left Bracket 57"/>
          <p:cNvSpPr/>
          <p:nvPr/>
        </p:nvSpPr>
        <p:spPr>
          <a:xfrm flipH="1">
            <a:off x="7517245" y="494701"/>
            <a:ext cx="160628" cy="2343457"/>
          </a:xfrm>
          <a:prstGeom prst="leftBracket">
            <a:avLst/>
          </a:prstGeom>
          <a:ln w="38100">
            <a:solidFill>
              <a:srgbClr val="008C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437760" y="1031230"/>
            <a:ext cx="341961" cy="2441389"/>
            <a:chOff x="393013" y="1032069"/>
            <a:chExt cx="455948" cy="3255185"/>
          </a:xfrm>
        </p:grpSpPr>
        <p:cxnSp>
          <p:nvCxnSpPr>
            <p:cNvPr id="13" name="Straight Connector 12"/>
            <p:cNvCxnSpPr>
              <a:stCxn id="29" idx="4"/>
              <a:endCxn id="64" idx="0"/>
            </p:cNvCxnSpPr>
            <p:nvPr/>
          </p:nvCxnSpPr>
          <p:spPr>
            <a:xfrm flipH="1">
              <a:off x="620987" y="1032069"/>
              <a:ext cx="14515" cy="2799237"/>
            </a:xfrm>
            <a:prstGeom prst="line">
              <a:avLst/>
            </a:prstGeom>
            <a:ln w="12700"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393013" y="3831306"/>
              <a:ext cx="455948" cy="455948"/>
              <a:chOff x="268476" y="3198923"/>
              <a:chExt cx="286946" cy="286946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268476" y="3198923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50491" y="3278258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1" name="Group 30"/>
          <p:cNvGrpSpPr/>
          <p:nvPr/>
        </p:nvGrpSpPr>
        <p:grpSpPr>
          <a:xfrm>
            <a:off x="1563325" y="2940446"/>
            <a:ext cx="5754329" cy="1991006"/>
            <a:chOff x="560434" y="3549113"/>
            <a:chExt cx="7672438" cy="2654675"/>
          </a:xfrm>
        </p:grpSpPr>
        <p:grpSp>
          <p:nvGrpSpPr>
            <p:cNvPr id="23" name="Group 22"/>
            <p:cNvGrpSpPr/>
            <p:nvPr/>
          </p:nvGrpSpPr>
          <p:grpSpPr>
            <a:xfrm>
              <a:off x="620986" y="3549113"/>
              <a:ext cx="7597821" cy="2654675"/>
              <a:chOff x="1139780" y="2611241"/>
              <a:chExt cx="4733934" cy="2462475"/>
            </a:xfrm>
          </p:grpSpPr>
          <p:sp>
            <p:nvSpPr>
              <p:cNvPr id="18" name="Parallelogram 17"/>
              <p:cNvSpPr/>
              <p:nvPr/>
            </p:nvSpPr>
            <p:spPr>
              <a:xfrm>
                <a:off x="1139780" y="3102581"/>
                <a:ext cx="4733934" cy="1874096"/>
              </a:xfrm>
              <a:prstGeom prst="parallelogram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5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Parallelogram 6"/>
              <p:cNvSpPr/>
              <p:nvPr/>
            </p:nvSpPr>
            <p:spPr>
              <a:xfrm flipH="1">
                <a:off x="1357102" y="2611241"/>
                <a:ext cx="1403156" cy="534468"/>
              </a:xfrm>
              <a:prstGeom prst="parallelogram">
                <a:avLst/>
              </a:prstGeom>
              <a:solidFill>
                <a:srgbClr val="00FF4E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ĐÁP ÁN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418483" y="4847084"/>
                <a:ext cx="3113455" cy="226632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cxnSp>
          <p:nvCxnSpPr>
            <p:cNvPr id="75" name="Straight Connector 74"/>
            <p:cNvCxnSpPr>
              <a:stCxn id="15" idx="3"/>
              <a:endCxn id="15" idx="1"/>
            </p:cNvCxnSpPr>
            <p:nvPr/>
          </p:nvCxnSpPr>
          <p:spPr>
            <a:xfrm>
              <a:off x="3221801" y="4031549"/>
              <a:ext cx="4997003" cy="0"/>
            </a:xfrm>
            <a:prstGeom prst="line">
              <a:avLst/>
            </a:prstGeom>
            <a:ln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878650" y="6032145"/>
              <a:ext cx="5519746" cy="0"/>
            </a:xfrm>
            <a:prstGeom prst="line">
              <a:avLst/>
            </a:prstGeom>
            <a:ln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/>
            <p:cNvSpPr/>
            <p:nvPr/>
          </p:nvSpPr>
          <p:spPr>
            <a:xfrm>
              <a:off x="560434" y="4031549"/>
              <a:ext cx="7672438" cy="2067626"/>
            </a:xfrm>
            <a:prstGeom prst="parallelogram">
              <a:avLst/>
            </a:prstGeom>
            <a:solidFill>
              <a:srgbClr val="008CF5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 smtClean="0"/>
                <a:t>                                             </a:t>
              </a:r>
              <a:r>
                <a:rPr lang="fr-FR" sz="2800" b="1" dirty="0" smtClean="0"/>
                <a:t>A</a:t>
              </a:r>
              <a:endParaRPr lang="en-US" sz="2800" dirty="0"/>
            </a:p>
            <a:p>
              <a:r>
                <a:rPr lang="fr-FR" dirty="0" err="1"/>
                <a:t>Đối</a:t>
              </a:r>
              <a:r>
                <a:rPr lang="fr-FR" dirty="0"/>
                <a:t> </a:t>
              </a:r>
              <a:r>
                <a:rPr lang="fr-FR" dirty="0" err="1"/>
                <a:t>với</a:t>
              </a:r>
              <a:r>
                <a:rPr lang="fr-FR" dirty="0"/>
                <a:t> </a:t>
              </a:r>
              <a:r>
                <a:rPr lang="fr-FR" dirty="0" err="1"/>
                <a:t>một</a:t>
              </a:r>
              <a:r>
                <a:rPr lang="fr-FR" dirty="0"/>
                <a:t> </a:t>
              </a:r>
              <a:r>
                <a:rPr lang="fr-FR" dirty="0" err="1"/>
                <a:t>chất</a:t>
              </a:r>
              <a:r>
                <a:rPr lang="fr-FR" dirty="0"/>
                <a:t>, </a:t>
              </a:r>
              <a:r>
                <a:rPr lang="fr-FR" dirty="0" err="1"/>
                <a:t>entropy</a:t>
              </a:r>
              <a:r>
                <a:rPr lang="fr-FR" dirty="0"/>
                <a:t> ở </a:t>
              </a:r>
              <a:r>
                <a:rPr lang="fr-FR" dirty="0" err="1"/>
                <a:t>thể</a:t>
              </a:r>
              <a:r>
                <a:rPr lang="fr-FR" dirty="0"/>
                <a:t> </a:t>
              </a:r>
              <a:r>
                <a:rPr lang="fr-FR" dirty="0" err="1"/>
                <a:t>khí</a:t>
              </a:r>
              <a:r>
                <a:rPr lang="fr-FR" dirty="0"/>
                <a:t> </a:t>
              </a:r>
              <a:r>
                <a:rPr lang="fr-FR" dirty="0" err="1"/>
                <a:t>lớn</a:t>
              </a:r>
              <a:r>
                <a:rPr lang="fr-FR" dirty="0"/>
                <a:t> </a:t>
              </a:r>
              <a:r>
                <a:rPr lang="fr-FR" dirty="0" err="1"/>
                <a:t>hơn</a:t>
              </a:r>
              <a:r>
                <a:rPr lang="fr-FR" dirty="0"/>
                <a:t> </a:t>
              </a:r>
              <a:r>
                <a:rPr lang="fr-FR" dirty="0" err="1"/>
                <a:t>thể</a:t>
              </a:r>
              <a:r>
                <a:rPr lang="fr-FR" dirty="0"/>
                <a:t> </a:t>
              </a:r>
              <a:r>
                <a:rPr lang="fr-FR" dirty="0" err="1"/>
                <a:t>lỏng</a:t>
              </a:r>
              <a:r>
                <a:rPr lang="fr-FR" dirty="0"/>
                <a:t>, ở </a:t>
              </a:r>
              <a:r>
                <a:rPr lang="fr-FR" dirty="0" err="1"/>
                <a:t>thể</a:t>
              </a:r>
              <a:r>
                <a:rPr lang="fr-FR" dirty="0"/>
                <a:t> </a:t>
              </a:r>
              <a:r>
                <a:rPr lang="fr-FR" dirty="0" err="1"/>
                <a:t>lỏng</a:t>
              </a:r>
              <a:r>
                <a:rPr lang="fr-FR" dirty="0"/>
                <a:t> </a:t>
              </a:r>
              <a:r>
                <a:rPr lang="fr-FR" dirty="0" err="1"/>
                <a:t>sẽ</a:t>
              </a:r>
              <a:r>
                <a:rPr lang="fr-FR" dirty="0"/>
                <a:t> </a:t>
              </a:r>
              <a:r>
                <a:rPr lang="fr-FR" dirty="0" err="1"/>
                <a:t>lớn</a:t>
              </a:r>
              <a:r>
                <a:rPr lang="fr-FR" dirty="0"/>
                <a:t> </a:t>
              </a:r>
              <a:r>
                <a:rPr lang="fr-FR" dirty="0" err="1"/>
                <a:t>hơn</a:t>
              </a:r>
              <a:r>
                <a:rPr lang="fr-FR" dirty="0"/>
                <a:t> ở </a:t>
              </a:r>
              <a:r>
                <a:rPr lang="fr-FR" dirty="0" err="1"/>
                <a:t>thể</a:t>
              </a:r>
              <a:r>
                <a:rPr lang="fr-FR" dirty="0"/>
                <a:t> </a:t>
              </a:r>
              <a:r>
                <a:rPr lang="fr-FR" dirty="0" err="1"/>
                <a:t>rắn</a:t>
              </a:r>
              <a:r>
                <a:rPr lang="fr-FR" dirty="0"/>
                <a:t>.</a:t>
              </a:r>
              <a:endParaRPr lang="en-US" dirty="0"/>
            </a:p>
            <a:p>
              <a:r>
                <a:rPr lang="vi-VN" dirty="0"/>
                <a:t>⇒ Chiều tăng dần giá trị entropy chuẩn của CO</a:t>
              </a:r>
              <a:r>
                <a:rPr lang="vi-VN" baseline="-25000" dirty="0"/>
                <a:t>2</a:t>
              </a:r>
              <a:r>
                <a:rPr lang="vi-VN" dirty="0"/>
                <a:t> là CO</a:t>
              </a:r>
              <a:r>
                <a:rPr lang="vi-VN" baseline="-25000" dirty="0"/>
                <a:t>2</a:t>
              </a:r>
              <a:r>
                <a:rPr lang="vi-VN" dirty="0"/>
                <a:t>(s) &lt; CO</a:t>
              </a:r>
              <a:r>
                <a:rPr lang="vi-VN" baseline="-25000" dirty="0"/>
                <a:t>2</a:t>
              </a:r>
              <a:r>
                <a:rPr lang="vi-VN" dirty="0"/>
                <a:t>(l) &lt; CO</a:t>
              </a:r>
              <a:r>
                <a:rPr lang="vi-VN" baseline="-25000" dirty="0"/>
                <a:t>2</a:t>
              </a:r>
              <a:r>
                <a:rPr lang="vi-VN" dirty="0"/>
                <a:t>(g).</a:t>
              </a:r>
              <a:endParaRPr lang="en-US" sz="495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3221801" y="3879674"/>
              <a:ext cx="4997003" cy="303750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1216632" y="228299"/>
            <a:ext cx="811716" cy="811716"/>
            <a:chOff x="83662" y="159259"/>
            <a:chExt cx="1082288" cy="1082288"/>
          </a:xfrm>
        </p:grpSpPr>
        <p:sp>
          <p:nvSpPr>
            <p:cNvPr id="29" name="Oval 28"/>
            <p:cNvSpPr/>
            <p:nvPr/>
          </p:nvSpPr>
          <p:spPr>
            <a:xfrm>
              <a:off x="91433" y="170721"/>
              <a:ext cx="1059109" cy="1059109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8CF5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0" b="1" dirty="0">
                <a:solidFill>
                  <a:srgbClr val="008CF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662" y="159259"/>
              <a:ext cx="1082288" cy="1082288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0649" y="240741"/>
              <a:ext cx="757177" cy="937456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323239" y="277250"/>
              <a:ext cx="603157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750" b="1" dirty="0">
                  <a:solidFill>
                    <a:srgbClr val="00FF4E"/>
                  </a:solidFill>
                  <a:effectLst>
                    <a:glow rad="88900">
                      <a:srgbClr val="00FF4E">
                        <a:alpha val="60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pic>
        <p:nvPicPr>
          <p:cNvPr id="38" name="Picture 115" descr="ALRMCLOK"/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236" y="1665655"/>
            <a:ext cx="648320" cy="78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Oval 176"/>
          <p:cNvSpPr>
            <a:spLocks noChangeArrowheads="1"/>
          </p:cNvSpPr>
          <p:nvPr/>
        </p:nvSpPr>
        <p:spPr bwMode="auto">
          <a:xfrm>
            <a:off x="1434543" y="189053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10</a:t>
            </a:r>
          </a:p>
        </p:txBody>
      </p:sp>
      <p:sp>
        <p:nvSpPr>
          <p:cNvPr id="45" name="Oval 176"/>
          <p:cNvSpPr>
            <a:spLocks noChangeArrowheads="1"/>
          </p:cNvSpPr>
          <p:nvPr/>
        </p:nvSpPr>
        <p:spPr bwMode="auto">
          <a:xfrm>
            <a:off x="1437617" y="1869956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9</a:t>
            </a:r>
          </a:p>
        </p:txBody>
      </p:sp>
      <p:sp>
        <p:nvSpPr>
          <p:cNvPr id="46" name="Oval 176"/>
          <p:cNvSpPr>
            <a:spLocks noChangeArrowheads="1"/>
          </p:cNvSpPr>
          <p:nvPr/>
        </p:nvSpPr>
        <p:spPr bwMode="auto">
          <a:xfrm>
            <a:off x="1434297" y="190065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8</a:t>
            </a:r>
          </a:p>
        </p:txBody>
      </p:sp>
      <p:sp>
        <p:nvSpPr>
          <p:cNvPr id="47" name="Oval 176"/>
          <p:cNvSpPr>
            <a:spLocks noChangeArrowheads="1"/>
          </p:cNvSpPr>
          <p:nvPr/>
        </p:nvSpPr>
        <p:spPr bwMode="auto">
          <a:xfrm>
            <a:off x="1447185" y="188258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7</a:t>
            </a:r>
          </a:p>
        </p:txBody>
      </p:sp>
      <p:sp>
        <p:nvSpPr>
          <p:cNvPr id="48" name="Oval 176"/>
          <p:cNvSpPr>
            <a:spLocks noChangeArrowheads="1"/>
          </p:cNvSpPr>
          <p:nvPr/>
        </p:nvSpPr>
        <p:spPr bwMode="auto">
          <a:xfrm>
            <a:off x="1437617" y="189301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6</a:t>
            </a:r>
          </a:p>
        </p:txBody>
      </p:sp>
      <p:sp>
        <p:nvSpPr>
          <p:cNvPr id="49" name="Oval 176"/>
          <p:cNvSpPr>
            <a:spLocks noChangeArrowheads="1"/>
          </p:cNvSpPr>
          <p:nvPr/>
        </p:nvSpPr>
        <p:spPr bwMode="auto">
          <a:xfrm>
            <a:off x="1446172" y="189032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5</a:t>
            </a:r>
          </a:p>
        </p:txBody>
      </p:sp>
      <p:sp>
        <p:nvSpPr>
          <p:cNvPr id="50" name="Oval 176"/>
          <p:cNvSpPr>
            <a:spLocks noChangeArrowheads="1"/>
          </p:cNvSpPr>
          <p:nvPr/>
        </p:nvSpPr>
        <p:spPr bwMode="auto">
          <a:xfrm>
            <a:off x="1419799" y="189200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4</a:t>
            </a:r>
          </a:p>
        </p:txBody>
      </p:sp>
      <p:sp>
        <p:nvSpPr>
          <p:cNvPr id="51" name="Oval 176"/>
          <p:cNvSpPr>
            <a:spLocks noChangeArrowheads="1"/>
          </p:cNvSpPr>
          <p:nvPr/>
        </p:nvSpPr>
        <p:spPr bwMode="auto">
          <a:xfrm>
            <a:off x="1424975" y="187247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3</a:t>
            </a:r>
          </a:p>
        </p:txBody>
      </p:sp>
      <p:sp>
        <p:nvSpPr>
          <p:cNvPr id="52" name="Oval 176"/>
          <p:cNvSpPr>
            <a:spLocks noChangeArrowheads="1"/>
          </p:cNvSpPr>
          <p:nvPr/>
        </p:nvSpPr>
        <p:spPr bwMode="auto">
          <a:xfrm>
            <a:off x="1438390" y="188606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2</a:t>
            </a:r>
          </a:p>
        </p:txBody>
      </p:sp>
      <p:sp>
        <p:nvSpPr>
          <p:cNvPr id="56" name="Oval 176"/>
          <p:cNvSpPr>
            <a:spLocks noChangeArrowheads="1"/>
          </p:cNvSpPr>
          <p:nvPr/>
        </p:nvSpPr>
        <p:spPr bwMode="auto">
          <a:xfrm>
            <a:off x="1446172" y="185474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</a:t>
            </a:r>
          </a:p>
        </p:txBody>
      </p:sp>
      <p:sp>
        <p:nvSpPr>
          <p:cNvPr id="59" name="Oval 176"/>
          <p:cNvSpPr>
            <a:spLocks noChangeArrowheads="1"/>
          </p:cNvSpPr>
          <p:nvPr/>
        </p:nvSpPr>
        <p:spPr bwMode="auto">
          <a:xfrm>
            <a:off x="1414741" y="1876741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100" dirty="0">
                <a:solidFill>
                  <a:srgbClr val="DC2608"/>
                </a:solidFill>
                <a:latin typeface=".VnBlack" pitchFamily="34" charset="0"/>
              </a:rPr>
              <a:t>0</a:t>
            </a:r>
          </a:p>
        </p:txBody>
      </p:sp>
      <p:pic>
        <p:nvPicPr>
          <p:cNvPr id="42" name="Picture 41">
            <a:hlinkHover r:id="rId11" highlightClick="1">
              <a:snd r:embed="rId10" name="applause.wav"/>
            </a:hlinkHover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682" y="3337713"/>
            <a:ext cx="1018050" cy="974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47836" y="592802"/>
            <a:ext cx="4572000" cy="172354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1:(</a:t>
            </a:r>
            <a:r>
              <a:rPr lang="vi-VN" b="1" dirty="0" smtClean="0"/>
              <a:t>Câu </a:t>
            </a:r>
            <a:r>
              <a:rPr lang="vi-VN" b="1" dirty="0"/>
              <a:t>hỏi 1 trang 25 Chuyên đề Hóa </a:t>
            </a:r>
            <a:r>
              <a:rPr lang="vi-VN" b="1" dirty="0" smtClean="0"/>
              <a:t>10</a:t>
            </a:r>
            <a:r>
              <a:rPr lang="en-US" b="1" dirty="0" smtClean="0"/>
              <a:t>)</a:t>
            </a:r>
            <a:r>
              <a:rPr lang="vi-VN" dirty="0"/>
              <a:t> Dãy nào dưới đây các chất sắp xếp theo chiều tăng giá trị entropy chuẩn?</a:t>
            </a:r>
            <a:endParaRPr lang="en-US" dirty="0"/>
          </a:p>
          <a:p>
            <a:r>
              <a:rPr lang="vi-VN" dirty="0"/>
              <a:t>A.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s</a:t>
            </a:r>
            <a:r>
              <a:rPr lang="vi-VN" dirty="0"/>
              <a:t>) &lt;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l</a:t>
            </a:r>
            <a:r>
              <a:rPr lang="vi-VN" dirty="0"/>
              <a:t>) &lt;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g</a:t>
            </a:r>
            <a:r>
              <a:rPr lang="vi-VN" dirty="0"/>
              <a:t>).</a:t>
            </a:r>
            <a:endParaRPr lang="en-US" dirty="0"/>
          </a:p>
          <a:p>
            <a:r>
              <a:rPr lang="vi-VN" dirty="0"/>
              <a:t>B.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g</a:t>
            </a:r>
            <a:r>
              <a:rPr lang="vi-VN" dirty="0"/>
              <a:t>) &lt;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l</a:t>
            </a:r>
            <a:r>
              <a:rPr lang="vi-VN" dirty="0"/>
              <a:t>) &lt;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s</a:t>
            </a:r>
            <a:r>
              <a:rPr lang="vi-VN" dirty="0"/>
              <a:t>).</a:t>
            </a:r>
            <a:endParaRPr lang="en-US" dirty="0"/>
          </a:p>
          <a:p>
            <a:r>
              <a:rPr lang="vi-VN" dirty="0"/>
              <a:t>C.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s</a:t>
            </a:r>
            <a:r>
              <a:rPr lang="vi-VN" dirty="0"/>
              <a:t>) &lt;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g</a:t>
            </a:r>
            <a:r>
              <a:rPr lang="vi-VN" dirty="0"/>
              <a:t>) &lt;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l</a:t>
            </a:r>
            <a:r>
              <a:rPr lang="vi-VN" dirty="0"/>
              <a:t>)</a:t>
            </a:r>
            <a:endParaRPr lang="en-US" dirty="0"/>
          </a:p>
          <a:p>
            <a:r>
              <a:rPr lang="vi-VN" dirty="0"/>
              <a:t>D.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g</a:t>
            </a:r>
            <a:r>
              <a:rPr lang="vi-VN" dirty="0"/>
              <a:t>) &lt;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s</a:t>
            </a:r>
            <a:r>
              <a:rPr lang="vi-VN" dirty="0"/>
              <a:t>) &lt; CO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l</a:t>
            </a:r>
            <a:r>
              <a:rPr lang="vi-VN" dirty="0"/>
              <a:t>).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3119718" y="42267"/>
            <a:ext cx="3505200" cy="389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VẬN DỤNG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(PHT </a:t>
            </a:r>
            <a:r>
              <a:rPr lang="en-US" dirty="0" err="1" smtClean="0">
                <a:solidFill>
                  <a:srgbClr val="FF0000"/>
                </a:solidFill>
              </a:rPr>
              <a:t>Số</a:t>
            </a:r>
            <a:r>
              <a:rPr lang="en-US" dirty="0" smtClean="0">
                <a:solidFill>
                  <a:srgbClr val="FF0000"/>
                </a:solidFill>
              </a:rPr>
              <a:t> 1.2)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44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3beep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GU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8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2327989" y="563279"/>
            <a:ext cx="5369727" cy="2164095"/>
          </a:xfrm>
          <a:prstGeom prst="rect">
            <a:avLst/>
          </a:prstGeom>
          <a:solidFill>
            <a:srgbClr val="008CF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rgbClr val="FFFF00"/>
              </a:solidFill>
              <a:latin typeface="Calibri" panose="020F0502020204030204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2114983" y="473599"/>
            <a:ext cx="290843" cy="2343457"/>
            <a:chOff x="1322576" y="181189"/>
            <a:chExt cx="387790" cy="2666783"/>
          </a:xfrm>
        </p:grpSpPr>
        <p:grpSp>
          <p:nvGrpSpPr>
            <p:cNvPr id="53" name="Group 52"/>
            <p:cNvGrpSpPr/>
            <p:nvPr/>
          </p:nvGrpSpPr>
          <p:grpSpPr>
            <a:xfrm>
              <a:off x="1322576" y="1379570"/>
              <a:ext cx="286946" cy="286946"/>
              <a:chOff x="505017" y="3662327"/>
              <a:chExt cx="286946" cy="286946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505017" y="3662327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87032" y="3741662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7" name="Left Bracket 56"/>
            <p:cNvSpPr/>
            <p:nvPr/>
          </p:nvSpPr>
          <p:spPr>
            <a:xfrm>
              <a:off x="1461286" y="181189"/>
              <a:ext cx="249080" cy="2666783"/>
            </a:xfrm>
            <a:prstGeom prst="leftBracket">
              <a:avLst/>
            </a:prstGeom>
            <a:ln w="38100">
              <a:solidFill>
                <a:srgbClr val="008C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8" name="Left Bracket 57"/>
          <p:cNvSpPr/>
          <p:nvPr/>
        </p:nvSpPr>
        <p:spPr>
          <a:xfrm flipH="1">
            <a:off x="7517245" y="494701"/>
            <a:ext cx="160628" cy="2343457"/>
          </a:xfrm>
          <a:prstGeom prst="leftBracket">
            <a:avLst/>
          </a:prstGeom>
          <a:ln w="38100">
            <a:solidFill>
              <a:srgbClr val="008C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437760" y="1031230"/>
            <a:ext cx="341961" cy="2441389"/>
            <a:chOff x="393013" y="1032069"/>
            <a:chExt cx="455948" cy="3255185"/>
          </a:xfrm>
        </p:grpSpPr>
        <p:cxnSp>
          <p:nvCxnSpPr>
            <p:cNvPr id="13" name="Straight Connector 12"/>
            <p:cNvCxnSpPr>
              <a:stCxn id="29" idx="4"/>
              <a:endCxn id="64" idx="0"/>
            </p:cNvCxnSpPr>
            <p:nvPr/>
          </p:nvCxnSpPr>
          <p:spPr>
            <a:xfrm flipH="1">
              <a:off x="620987" y="1032069"/>
              <a:ext cx="14515" cy="2799237"/>
            </a:xfrm>
            <a:prstGeom prst="line">
              <a:avLst/>
            </a:prstGeom>
            <a:ln w="12700"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393013" y="3831306"/>
              <a:ext cx="455948" cy="455948"/>
              <a:chOff x="268476" y="3198923"/>
              <a:chExt cx="286946" cy="286946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268476" y="3198923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50491" y="3278258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1" name="Group 30"/>
          <p:cNvGrpSpPr/>
          <p:nvPr/>
        </p:nvGrpSpPr>
        <p:grpSpPr>
          <a:xfrm>
            <a:off x="1563325" y="2940446"/>
            <a:ext cx="5754329" cy="1991006"/>
            <a:chOff x="560434" y="3549113"/>
            <a:chExt cx="7672438" cy="2654675"/>
          </a:xfrm>
        </p:grpSpPr>
        <p:grpSp>
          <p:nvGrpSpPr>
            <p:cNvPr id="23" name="Group 22"/>
            <p:cNvGrpSpPr/>
            <p:nvPr/>
          </p:nvGrpSpPr>
          <p:grpSpPr>
            <a:xfrm>
              <a:off x="620986" y="3549113"/>
              <a:ext cx="7597821" cy="2654675"/>
              <a:chOff x="1139780" y="2611241"/>
              <a:chExt cx="4733934" cy="2462475"/>
            </a:xfrm>
          </p:grpSpPr>
          <p:sp>
            <p:nvSpPr>
              <p:cNvPr id="18" name="Parallelogram 17"/>
              <p:cNvSpPr/>
              <p:nvPr/>
            </p:nvSpPr>
            <p:spPr>
              <a:xfrm>
                <a:off x="1139780" y="3102581"/>
                <a:ext cx="4733934" cy="1874096"/>
              </a:xfrm>
              <a:prstGeom prst="parallelogram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5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Parallelogram 6"/>
              <p:cNvSpPr/>
              <p:nvPr/>
            </p:nvSpPr>
            <p:spPr>
              <a:xfrm flipH="1">
                <a:off x="1357102" y="2611241"/>
                <a:ext cx="1403156" cy="534468"/>
              </a:xfrm>
              <a:prstGeom prst="parallelogram">
                <a:avLst/>
              </a:prstGeom>
              <a:solidFill>
                <a:srgbClr val="00FF4E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ĐÁP ÁN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418483" y="4847084"/>
                <a:ext cx="3113455" cy="226632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cxnSp>
          <p:nvCxnSpPr>
            <p:cNvPr id="75" name="Straight Connector 74"/>
            <p:cNvCxnSpPr>
              <a:stCxn id="15" idx="3"/>
              <a:endCxn id="15" idx="1"/>
            </p:cNvCxnSpPr>
            <p:nvPr/>
          </p:nvCxnSpPr>
          <p:spPr>
            <a:xfrm>
              <a:off x="3221801" y="4031549"/>
              <a:ext cx="4997003" cy="0"/>
            </a:xfrm>
            <a:prstGeom prst="line">
              <a:avLst/>
            </a:prstGeom>
            <a:ln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878650" y="6032145"/>
              <a:ext cx="5519746" cy="0"/>
            </a:xfrm>
            <a:prstGeom prst="line">
              <a:avLst/>
            </a:prstGeom>
            <a:ln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/>
            <p:cNvSpPr/>
            <p:nvPr/>
          </p:nvSpPr>
          <p:spPr>
            <a:xfrm>
              <a:off x="560434" y="3660192"/>
              <a:ext cx="7672438" cy="2438983"/>
            </a:xfrm>
            <a:prstGeom prst="parallelogram">
              <a:avLst/>
            </a:prstGeom>
            <a:solidFill>
              <a:srgbClr val="008CF5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3200" b="1" dirty="0">
                  <a:solidFill>
                    <a:srgbClr val="FF0000"/>
                  </a:solidFill>
                </a:rPr>
                <a:t>C</a:t>
              </a:r>
              <a:endParaRPr lang="en-US" sz="3200" dirty="0">
                <a:solidFill>
                  <a:srgbClr val="FF0000"/>
                </a:solidFill>
              </a:endParaRPr>
            </a:p>
            <a:p>
              <a:r>
                <a:rPr lang="vi-VN" dirty="0"/>
                <a:t>Phản ứng C làm giảm số mol khí nên biến thiên entropy âm (∆S &lt; O) nên phản ứng xảy ra kèm theo sự giảm entropy.</a:t>
              </a:r>
              <a:endParaRPr lang="en-US" dirty="0"/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3221801" y="3879674"/>
              <a:ext cx="4997003" cy="303750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1216632" y="228299"/>
            <a:ext cx="811716" cy="811716"/>
            <a:chOff x="83662" y="159259"/>
            <a:chExt cx="1082288" cy="1082288"/>
          </a:xfrm>
        </p:grpSpPr>
        <p:sp>
          <p:nvSpPr>
            <p:cNvPr id="29" name="Oval 28"/>
            <p:cNvSpPr/>
            <p:nvPr/>
          </p:nvSpPr>
          <p:spPr>
            <a:xfrm>
              <a:off x="91433" y="170721"/>
              <a:ext cx="1059109" cy="1059109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8CF5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0" b="1" dirty="0">
                <a:solidFill>
                  <a:srgbClr val="008CF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662" y="159259"/>
              <a:ext cx="1082288" cy="1082288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0649" y="240741"/>
              <a:ext cx="757177" cy="937456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323239" y="277250"/>
              <a:ext cx="603157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750" b="1" dirty="0">
                  <a:solidFill>
                    <a:srgbClr val="00FF4E"/>
                  </a:solidFill>
                  <a:effectLst>
                    <a:glow rad="88900">
                      <a:srgbClr val="00FF4E">
                        <a:alpha val="60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pic>
        <p:nvPicPr>
          <p:cNvPr id="38" name="Picture 115" descr="ALRMCLOK"/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236" y="1665655"/>
            <a:ext cx="648320" cy="78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Oval 176"/>
          <p:cNvSpPr>
            <a:spLocks noChangeArrowheads="1"/>
          </p:cNvSpPr>
          <p:nvPr/>
        </p:nvSpPr>
        <p:spPr bwMode="auto">
          <a:xfrm>
            <a:off x="1434543" y="189053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10</a:t>
            </a:r>
          </a:p>
        </p:txBody>
      </p:sp>
      <p:sp>
        <p:nvSpPr>
          <p:cNvPr id="45" name="Oval 176"/>
          <p:cNvSpPr>
            <a:spLocks noChangeArrowheads="1"/>
          </p:cNvSpPr>
          <p:nvPr/>
        </p:nvSpPr>
        <p:spPr bwMode="auto">
          <a:xfrm>
            <a:off x="1437617" y="1869956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9</a:t>
            </a:r>
          </a:p>
        </p:txBody>
      </p:sp>
      <p:sp>
        <p:nvSpPr>
          <p:cNvPr id="46" name="Oval 176"/>
          <p:cNvSpPr>
            <a:spLocks noChangeArrowheads="1"/>
          </p:cNvSpPr>
          <p:nvPr/>
        </p:nvSpPr>
        <p:spPr bwMode="auto">
          <a:xfrm>
            <a:off x="1434297" y="190065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8</a:t>
            </a:r>
          </a:p>
        </p:txBody>
      </p:sp>
      <p:sp>
        <p:nvSpPr>
          <p:cNvPr id="47" name="Oval 176"/>
          <p:cNvSpPr>
            <a:spLocks noChangeArrowheads="1"/>
          </p:cNvSpPr>
          <p:nvPr/>
        </p:nvSpPr>
        <p:spPr bwMode="auto">
          <a:xfrm>
            <a:off x="1447185" y="188258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7</a:t>
            </a:r>
          </a:p>
        </p:txBody>
      </p:sp>
      <p:sp>
        <p:nvSpPr>
          <p:cNvPr id="48" name="Oval 176"/>
          <p:cNvSpPr>
            <a:spLocks noChangeArrowheads="1"/>
          </p:cNvSpPr>
          <p:nvPr/>
        </p:nvSpPr>
        <p:spPr bwMode="auto">
          <a:xfrm>
            <a:off x="1437617" y="189301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6</a:t>
            </a:r>
          </a:p>
        </p:txBody>
      </p:sp>
      <p:sp>
        <p:nvSpPr>
          <p:cNvPr id="49" name="Oval 176"/>
          <p:cNvSpPr>
            <a:spLocks noChangeArrowheads="1"/>
          </p:cNvSpPr>
          <p:nvPr/>
        </p:nvSpPr>
        <p:spPr bwMode="auto">
          <a:xfrm>
            <a:off x="1446172" y="189032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5</a:t>
            </a:r>
          </a:p>
        </p:txBody>
      </p:sp>
      <p:sp>
        <p:nvSpPr>
          <p:cNvPr id="50" name="Oval 176"/>
          <p:cNvSpPr>
            <a:spLocks noChangeArrowheads="1"/>
          </p:cNvSpPr>
          <p:nvPr/>
        </p:nvSpPr>
        <p:spPr bwMode="auto">
          <a:xfrm>
            <a:off x="1419799" y="189200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4</a:t>
            </a:r>
          </a:p>
        </p:txBody>
      </p:sp>
      <p:sp>
        <p:nvSpPr>
          <p:cNvPr id="51" name="Oval 176"/>
          <p:cNvSpPr>
            <a:spLocks noChangeArrowheads="1"/>
          </p:cNvSpPr>
          <p:nvPr/>
        </p:nvSpPr>
        <p:spPr bwMode="auto">
          <a:xfrm>
            <a:off x="1424975" y="187247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3</a:t>
            </a:r>
          </a:p>
        </p:txBody>
      </p:sp>
      <p:sp>
        <p:nvSpPr>
          <p:cNvPr id="52" name="Oval 176"/>
          <p:cNvSpPr>
            <a:spLocks noChangeArrowheads="1"/>
          </p:cNvSpPr>
          <p:nvPr/>
        </p:nvSpPr>
        <p:spPr bwMode="auto">
          <a:xfrm>
            <a:off x="1438390" y="188606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2</a:t>
            </a:r>
          </a:p>
        </p:txBody>
      </p:sp>
      <p:sp>
        <p:nvSpPr>
          <p:cNvPr id="56" name="Oval 176"/>
          <p:cNvSpPr>
            <a:spLocks noChangeArrowheads="1"/>
          </p:cNvSpPr>
          <p:nvPr/>
        </p:nvSpPr>
        <p:spPr bwMode="auto">
          <a:xfrm>
            <a:off x="1446172" y="185474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</a:t>
            </a:r>
          </a:p>
        </p:txBody>
      </p:sp>
      <p:sp>
        <p:nvSpPr>
          <p:cNvPr id="59" name="Oval 176"/>
          <p:cNvSpPr>
            <a:spLocks noChangeArrowheads="1"/>
          </p:cNvSpPr>
          <p:nvPr/>
        </p:nvSpPr>
        <p:spPr bwMode="auto">
          <a:xfrm>
            <a:off x="1414741" y="1876741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100" dirty="0">
                <a:solidFill>
                  <a:srgbClr val="DC2608"/>
                </a:solidFill>
                <a:latin typeface=".VnBlack" pitchFamily="34" charset="0"/>
              </a:rPr>
              <a:t>0</a:t>
            </a:r>
          </a:p>
        </p:txBody>
      </p:sp>
      <p:pic>
        <p:nvPicPr>
          <p:cNvPr id="42" name="Picture 41">
            <a:hlinkHover r:id="rId11" highlightClick="1">
              <a:snd r:embed="rId10" name="applause.wav"/>
            </a:hlinkHover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682" y="3337713"/>
            <a:ext cx="1018050" cy="974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47835" y="592802"/>
            <a:ext cx="5330037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(</a:t>
            </a:r>
            <a:r>
              <a:rPr lang="vi-VN" b="1" dirty="0" smtClean="0"/>
              <a:t>Câu </a:t>
            </a:r>
            <a:r>
              <a:rPr lang="vi-VN" b="1" dirty="0"/>
              <a:t>hỏi 2 trang 25 Chuyên đề Hóa </a:t>
            </a:r>
            <a:r>
              <a:rPr lang="vi-VN" b="1" dirty="0" smtClean="0"/>
              <a:t>10</a:t>
            </a:r>
            <a:r>
              <a:rPr lang="en-US" b="1" dirty="0" smtClean="0"/>
              <a:t>)</a:t>
            </a:r>
            <a:r>
              <a:rPr lang="vi-VN" dirty="0"/>
              <a:t> Phản ứng nào dưới đây xảy ra kèm theo sự giảm entropy?</a:t>
            </a:r>
            <a:endParaRPr lang="en-US" dirty="0"/>
          </a:p>
          <a:p>
            <a:r>
              <a:rPr lang="vi-VN" dirty="0"/>
              <a:t>A. N</a:t>
            </a:r>
            <a:r>
              <a:rPr lang="vi-VN" baseline="-25000" dirty="0"/>
              <a:t>2</a:t>
            </a:r>
            <a:r>
              <a:rPr lang="vi-VN" dirty="0"/>
              <a:t>(g) + O</a:t>
            </a:r>
            <a:r>
              <a:rPr lang="vi-VN" baseline="-25000" dirty="0"/>
              <a:t>2</a:t>
            </a:r>
            <a:r>
              <a:rPr lang="vi-VN" dirty="0"/>
              <a:t>(g) → 2NO(g).</a:t>
            </a:r>
            <a:endParaRPr lang="en-US" dirty="0"/>
          </a:p>
          <a:p>
            <a:r>
              <a:rPr lang="vi-VN" dirty="0"/>
              <a:t>B. N</a:t>
            </a:r>
            <a:r>
              <a:rPr lang="vi-VN" baseline="-25000" dirty="0"/>
              <a:t>2</a:t>
            </a:r>
            <a:r>
              <a:rPr lang="vi-VN" dirty="0"/>
              <a:t>O</a:t>
            </a:r>
            <a:r>
              <a:rPr lang="vi-VN" baseline="-25000" dirty="0"/>
              <a:t>4</a:t>
            </a:r>
            <a:r>
              <a:rPr lang="vi-VN" dirty="0"/>
              <a:t>(g) → 2NO</a:t>
            </a:r>
            <a:r>
              <a:rPr lang="vi-VN" baseline="-25000" dirty="0"/>
              <a:t>2</a:t>
            </a:r>
            <a:r>
              <a:rPr lang="vi-VN" dirty="0"/>
              <a:t>(g).</a:t>
            </a:r>
            <a:endParaRPr lang="en-US" dirty="0"/>
          </a:p>
          <a:p>
            <a:r>
              <a:rPr lang="vi-VN" dirty="0"/>
              <a:t>C. 2CO(g) → C(s) + CO</a:t>
            </a:r>
            <a:r>
              <a:rPr lang="vi-VN" baseline="-25000" dirty="0"/>
              <a:t>2</a:t>
            </a:r>
            <a:r>
              <a:rPr lang="vi-VN" dirty="0"/>
              <a:t>(g).</a:t>
            </a:r>
            <a:endParaRPr lang="en-US" dirty="0"/>
          </a:p>
          <a:p>
            <a:r>
              <a:rPr lang="vi-VN" dirty="0"/>
              <a:t>D. 2HCl(aq) + Fe(s) → FeCl</a:t>
            </a:r>
            <a:r>
              <a:rPr lang="vi-VN" baseline="-25000" dirty="0"/>
              <a:t>2</a:t>
            </a:r>
            <a:r>
              <a:rPr lang="vi-VN" dirty="0"/>
              <a:t>(aq) + H</a:t>
            </a:r>
            <a:r>
              <a:rPr lang="vi-VN" baseline="-25000" dirty="0"/>
              <a:t>2</a:t>
            </a:r>
            <a:r>
              <a:rPr lang="vi-VN" dirty="0"/>
              <a:t>(g).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3119718" y="42267"/>
            <a:ext cx="3505200" cy="389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VẬN DỤNG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(PHT </a:t>
            </a:r>
            <a:r>
              <a:rPr lang="en-US" dirty="0" err="1" smtClean="0">
                <a:solidFill>
                  <a:srgbClr val="FF0000"/>
                </a:solidFill>
              </a:rPr>
              <a:t>Số</a:t>
            </a:r>
            <a:r>
              <a:rPr lang="en-US" dirty="0" smtClean="0">
                <a:solidFill>
                  <a:srgbClr val="FF0000"/>
                </a:solidFill>
              </a:rPr>
              <a:t> 1.2)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42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3beep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GU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8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2327989" y="563279"/>
            <a:ext cx="5369727" cy="2164095"/>
          </a:xfrm>
          <a:prstGeom prst="rect">
            <a:avLst/>
          </a:prstGeom>
          <a:solidFill>
            <a:srgbClr val="008CF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rgbClr val="FFFF00"/>
              </a:solidFill>
              <a:latin typeface="Calibri" panose="020F0502020204030204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2114983" y="473599"/>
            <a:ext cx="290843" cy="2343457"/>
            <a:chOff x="1322576" y="181189"/>
            <a:chExt cx="387790" cy="2666783"/>
          </a:xfrm>
        </p:grpSpPr>
        <p:grpSp>
          <p:nvGrpSpPr>
            <p:cNvPr id="53" name="Group 52"/>
            <p:cNvGrpSpPr/>
            <p:nvPr/>
          </p:nvGrpSpPr>
          <p:grpSpPr>
            <a:xfrm>
              <a:off x="1322576" y="1379570"/>
              <a:ext cx="286946" cy="286946"/>
              <a:chOff x="505017" y="3662327"/>
              <a:chExt cx="286946" cy="286946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505017" y="3662327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87032" y="3741662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7" name="Left Bracket 56"/>
            <p:cNvSpPr/>
            <p:nvPr/>
          </p:nvSpPr>
          <p:spPr>
            <a:xfrm>
              <a:off x="1461286" y="181189"/>
              <a:ext cx="249080" cy="2666783"/>
            </a:xfrm>
            <a:prstGeom prst="leftBracket">
              <a:avLst/>
            </a:prstGeom>
            <a:ln w="38100">
              <a:solidFill>
                <a:srgbClr val="008C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8" name="Left Bracket 57"/>
          <p:cNvSpPr/>
          <p:nvPr/>
        </p:nvSpPr>
        <p:spPr>
          <a:xfrm flipH="1">
            <a:off x="7517245" y="494701"/>
            <a:ext cx="160628" cy="2343457"/>
          </a:xfrm>
          <a:prstGeom prst="leftBracket">
            <a:avLst/>
          </a:prstGeom>
          <a:ln w="38100">
            <a:solidFill>
              <a:srgbClr val="008C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437760" y="1031230"/>
            <a:ext cx="341961" cy="2441389"/>
            <a:chOff x="393013" y="1032069"/>
            <a:chExt cx="455948" cy="3255185"/>
          </a:xfrm>
        </p:grpSpPr>
        <p:cxnSp>
          <p:nvCxnSpPr>
            <p:cNvPr id="13" name="Straight Connector 12"/>
            <p:cNvCxnSpPr>
              <a:stCxn id="29" idx="4"/>
              <a:endCxn id="64" idx="0"/>
            </p:cNvCxnSpPr>
            <p:nvPr/>
          </p:nvCxnSpPr>
          <p:spPr>
            <a:xfrm flipH="1">
              <a:off x="620987" y="1032069"/>
              <a:ext cx="14515" cy="2799237"/>
            </a:xfrm>
            <a:prstGeom prst="line">
              <a:avLst/>
            </a:prstGeom>
            <a:ln w="12700"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393013" y="3831306"/>
              <a:ext cx="455948" cy="455948"/>
              <a:chOff x="268476" y="3198923"/>
              <a:chExt cx="286946" cy="286946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268476" y="3198923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50491" y="3278258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1" name="Group 30"/>
          <p:cNvGrpSpPr/>
          <p:nvPr/>
        </p:nvGrpSpPr>
        <p:grpSpPr>
          <a:xfrm>
            <a:off x="1563325" y="2940446"/>
            <a:ext cx="5754329" cy="1991006"/>
            <a:chOff x="560434" y="3549113"/>
            <a:chExt cx="7672438" cy="2654675"/>
          </a:xfrm>
        </p:grpSpPr>
        <p:grpSp>
          <p:nvGrpSpPr>
            <p:cNvPr id="23" name="Group 22"/>
            <p:cNvGrpSpPr/>
            <p:nvPr/>
          </p:nvGrpSpPr>
          <p:grpSpPr>
            <a:xfrm>
              <a:off x="620986" y="3549113"/>
              <a:ext cx="7597821" cy="2654675"/>
              <a:chOff x="1139780" y="2611241"/>
              <a:chExt cx="4733934" cy="2462475"/>
            </a:xfrm>
          </p:grpSpPr>
          <p:sp>
            <p:nvSpPr>
              <p:cNvPr id="18" name="Parallelogram 17"/>
              <p:cNvSpPr/>
              <p:nvPr/>
            </p:nvSpPr>
            <p:spPr>
              <a:xfrm>
                <a:off x="1139780" y="3102581"/>
                <a:ext cx="4733934" cy="1874096"/>
              </a:xfrm>
              <a:prstGeom prst="parallelogram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5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Parallelogram 6"/>
              <p:cNvSpPr/>
              <p:nvPr/>
            </p:nvSpPr>
            <p:spPr>
              <a:xfrm flipH="1">
                <a:off x="1357102" y="2611241"/>
                <a:ext cx="1403156" cy="534468"/>
              </a:xfrm>
              <a:prstGeom prst="parallelogram">
                <a:avLst/>
              </a:prstGeom>
              <a:solidFill>
                <a:srgbClr val="00FF4E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ĐÁP ÁN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418483" y="4847084"/>
                <a:ext cx="3113455" cy="226632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cxnSp>
          <p:nvCxnSpPr>
            <p:cNvPr id="75" name="Straight Connector 74"/>
            <p:cNvCxnSpPr>
              <a:stCxn id="15" idx="3"/>
              <a:endCxn id="15" idx="1"/>
            </p:cNvCxnSpPr>
            <p:nvPr/>
          </p:nvCxnSpPr>
          <p:spPr>
            <a:xfrm>
              <a:off x="3221801" y="4031549"/>
              <a:ext cx="4997003" cy="0"/>
            </a:xfrm>
            <a:prstGeom prst="line">
              <a:avLst/>
            </a:prstGeom>
            <a:ln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878650" y="6032145"/>
              <a:ext cx="5519746" cy="0"/>
            </a:xfrm>
            <a:prstGeom prst="line">
              <a:avLst/>
            </a:prstGeom>
            <a:ln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/>
            <p:cNvSpPr/>
            <p:nvPr/>
          </p:nvSpPr>
          <p:spPr>
            <a:xfrm>
              <a:off x="560434" y="3549114"/>
              <a:ext cx="7672438" cy="2550062"/>
            </a:xfrm>
            <a:prstGeom prst="parallelogram">
              <a:avLst/>
            </a:prstGeom>
            <a:solidFill>
              <a:srgbClr val="008CF5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3200" b="1" dirty="0">
                  <a:solidFill>
                    <a:srgbClr val="FF0000"/>
                  </a:solidFill>
                </a:rPr>
                <a:t>D</a:t>
              </a:r>
              <a:endParaRPr lang="en-US" sz="3200" dirty="0">
                <a:solidFill>
                  <a:srgbClr val="FF0000"/>
                </a:solidFill>
              </a:endParaRPr>
            </a:p>
            <a:p>
              <a:r>
                <a:rPr lang="vi-VN" dirty="0"/>
                <a:t>Phản ứng D làm tăng số mol khí nên biến thiên entropy dương (∆S &gt; O</a:t>
              </a:r>
              <a:endParaRPr lang="en-US" dirty="0"/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3221801" y="3879674"/>
              <a:ext cx="4997003" cy="303750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1216632" y="228299"/>
            <a:ext cx="811716" cy="811716"/>
            <a:chOff x="83662" y="159259"/>
            <a:chExt cx="1082288" cy="1082288"/>
          </a:xfrm>
        </p:grpSpPr>
        <p:sp>
          <p:nvSpPr>
            <p:cNvPr id="29" name="Oval 28"/>
            <p:cNvSpPr/>
            <p:nvPr/>
          </p:nvSpPr>
          <p:spPr>
            <a:xfrm>
              <a:off x="91433" y="170721"/>
              <a:ext cx="1059109" cy="1059109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8CF5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0" b="1" dirty="0">
                <a:solidFill>
                  <a:srgbClr val="008CF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662" y="159259"/>
              <a:ext cx="1082288" cy="1082288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0649" y="240741"/>
              <a:ext cx="757177" cy="937456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323239" y="277250"/>
              <a:ext cx="603157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750" b="1" dirty="0">
                  <a:solidFill>
                    <a:srgbClr val="00FF4E"/>
                  </a:solidFill>
                  <a:effectLst>
                    <a:glow rad="88900">
                      <a:srgbClr val="00FF4E">
                        <a:alpha val="60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pic>
        <p:nvPicPr>
          <p:cNvPr id="38" name="Picture 115" descr="ALRMCLOK"/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236" y="1665655"/>
            <a:ext cx="648320" cy="78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Oval 176"/>
          <p:cNvSpPr>
            <a:spLocks noChangeArrowheads="1"/>
          </p:cNvSpPr>
          <p:nvPr/>
        </p:nvSpPr>
        <p:spPr bwMode="auto">
          <a:xfrm>
            <a:off x="1434543" y="189053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10</a:t>
            </a:r>
          </a:p>
        </p:txBody>
      </p:sp>
      <p:sp>
        <p:nvSpPr>
          <p:cNvPr id="45" name="Oval 176"/>
          <p:cNvSpPr>
            <a:spLocks noChangeArrowheads="1"/>
          </p:cNvSpPr>
          <p:nvPr/>
        </p:nvSpPr>
        <p:spPr bwMode="auto">
          <a:xfrm>
            <a:off x="1437617" y="1869956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9</a:t>
            </a:r>
          </a:p>
        </p:txBody>
      </p:sp>
      <p:sp>
        <p:nvSpPr>
          <p:cNvPr id="46" name="Oval 176"/>
          <p:cNvSpPr>
            <a:spLocks noChangeArrowheads="1"/>
          </p:cNvSpPr>
          <p:nvPr/>
        </p:nvSpPr>
        <p:spPr bwMode="auto">
          <a:xfrm>
            <a:off x="1434297" y="190065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8</a:t>
            </a:r>
          </a:p>
        </p:txBody>
      </p:sp>
      <p:sp>
        <p:nvSpPr>
          <p:cNvPr id="47" name="Oval 176"/>
          <p:cNvSpPr>
            <a:spLocks noChangeArrowheads="1"/>
          </p:cNvSpPr>
          <p:nvPr/>
        </p:nvSpPr>
        <p:spPr bwMode="auto">
          <a:xfrm>
            <a:off x="1447185" y="188258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7</a:t>
            </a:r>
          </a:p>
        </p:txBody>
      </p:sp>
      <p:sp>
        <p:nvSpPr>
          <p:cNvPr id="48" name="Oval 176"/>
          <p:cNvSpPr>
            <a:spLocks noChangeArrowheads="1"/>
          </p:cNvSpPr>
          <p:nvPr/>
        </p:nvSpPr>
        <p:spPr bwMode="auto">
          <a:xfrm>
            <a:off x="1437617" y="189301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6</a:t>
            </a:r>
          </a:p>
        </p:txBody>
      </p:sp>
      <p:sp>
        <p:nvSpPr>
          <p:cNvPr id="49" name="Oval 176"/>
          <p:cNvSpPr>
            <a:spLocks noChangeArrowheads="1"/>
          </p:cNvSpPr>
          <p:nvPr/>
        </p:nvSpPr>
        <p:spPr bwMode="auto">
          <a:xfrm>
            <a:off x="1446172" y="189032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5</a:t>
            </a:r>
          </a:p>
        </p:txBody>
      </p:sp>
      <p:sp>
        <p:nvSpPr>
          <p:cNvPr id="50" name="Oval 176"/>
          <p:cNvSpPr>
            <a:spLocks noChangeArrowheads="1"/>
          </p:cNvSpPr>
          <p:nvPr/>
        </p:nvSpPr>
        <p:spPr bwMode="auto">
          <a:xfrm>
            <a:off x="1419799" y="189200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4</a:t>
            </a:r>
          </a:p>
        </p:txBody>
      </p:sp>
      <p:sp>
        <p:nvSpPr>
          <p:cNvPr id="51" name="Oval 176"/>
          <p:cNvSpPr>
            <a:spLocks noChangeArrowheads="1"/>
          </p:cNvSpPr>
          <p:nvPr/>
        </p:nvSpPr>
        <p:spPr bwMode="auto">
          <a:xfrm>
            <a:off x="1424975" y="187247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3</a:t>
            </a:r>
          </a:p>
        </p:txBody>
      </p:sp>
      <p:sp>
        <p:nvSpPr>
          <p:cNvPr id="52" name="Oval 176"/>
          <p:cNvSpPr>
            <a:spLocks noChangeArrowheads="1"/>
          </p:cNvSpPr>
          <p:nvPr/>
        </p:nvSpPr>
        <p:spPr bwMode="auto">
          <a:xfrm>
            <a:off x="1438390" y="188606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2</a:t>
            </a:r>
          </a:p>
        </p:txBody>
      </p:sp>
      <p:sp>
        <p:nvSpPr>
          <p:cNvPr id="56" name="Oval 176"/>
          <p:cNvSpPr>
            <a:spLocks noChangeArrowheads="1"/>
          </p:cNvSpPr>
          <p:nvPr/>
        </p:nvSpPr>
        <p:spPr bwMode="auto">
          <a:xfrm>
            <a:off x="1446172" y="185474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</a:t>
            </a:r>
          </a:p>
        </p:txBody>
      </p:sp>
      <p:sp>
        <p:nvSpPr>
          <p:cNvPr id="59" name="Oval 176"/>
          <p:cNvSpPr>
            <a:spLocks noChangeArrowheads="1"/>
          </p:cNvSpPr>
          <p:nvPr/>
        </p:nvSpPr>
        <p:spPr bwMode="auto">
          <a:xfrm>
            <a:off x="1414741" y="1876741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100" dirty="0">
                <a:solidFill>
                  <a:srgbClr val="DC2608"/>
                </a:solidFill>
                <a:latin typeface=".VnBlack" pitchFamily="34" charset="0"/>
              </a:rPr>
              <a:t>0</a:t>
            </a:r>
          </a:p>
        </p:txBody>
      </p:sp>
      <p:pic>
        <p:nvPicPr>
          <p:cNvPr id="42" name="Picture 41">
            <a:hlinkHover r:id="rId11" highlightClick="1">
              <a:snd r:embed="rId10" name="applause.wav"/>
            </a:hlinkHover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682" y="3337713"/>
            <a:ext cx="1018050" cy="974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47835" y="592802"/>
            <a:ext cx="5330037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3: (</a:t>
            </a:r>
            <a:r>
              <a:rPr lang="vi-VN" b="1" dirty="0" smtClean="0"/>
              <a:t>Câu </a:t>
            </a:r>
            <a:r>
              <a:rPr lang="vi-VN" b="1" dirty="0"/>
              <a:t>hỏi 3 trang 25 Chuyên đề Hóa </a:t>
            </a:r>
            <a:r>
              <a:rPr lang="vi-VN" b="1" dirty="0" smtClean="0"/>
              <a:t>10</a:t>
            </a:r>
            <a:r>
              <a:rPr lang="en-US" b="1" dirty="0" smtClean="0"/>
              <a:t>)</a:t>
            </a:r>
            <a:r>
              <a:rPr lang="vi-VN" b="1" dirty="0" smtClean="0"/>
              <a:t>:</a:t>
            </a:r>
            <a:r>
              <a:rPr lang="vi-VN" dirty="0"/>
              <a:t> Biến thiên entropy chuẩn của phản ứng nào dưới đây có giá trị dương?</a:t>
            </a:r>
            <a:endParaRPr lang="en-US" dirty="0"/>
          </a:p>
          <a:p>
            <a:r>
              <a:rPr lang="vi-VN" dirty="0"/>
              <a:t>A. Ag</a:t>
            </a:r>
            <a:r>
              <a:rPr lang="vi-VN" baseline="30000" dirty="0"/>
              <a:t>+</a:t>
            </a:r>
            <a:r>
              <a:rPr lang="vi-VN" dirty="0"/>
              <a:t> (aq) + Br</a:t>
            </a:r>
            <a:r>
              <a:rPr lang="vi-VN" baseline="30000" dirty="0"/>
              <a:t>-</a:t>
            </a:r>
            <a:r>
              <a:rPr lang="vi-VN" dirty="0"/>
              <a:t>(aq) → AgBr(s).</a:t>
            </a:r>
            <a:endParaRPr lang="en-US" dirty="0"/>
          </a:p>
          <a:p>
            <a:r>
              <a:rPr lang="vi-VN" dirty="0"/>
              <a:t>B. 2C</a:t>
            </a:r>
            <a:r>
              <a:rPr lang="vi-VN" baseline="-25000" dirty="0"/>
              <a:t>2</a:t>
            </a:r>
            <a:r>
              <a:rPr lang="vi-VN" dirty="0"/>
              <a:t>H</a:t>
            </a:r>
            <a:r>
              <a:rPr lang="vi-VN" baseline="-25000" dirty="0"/>
              <a:t>6</a:t>
            </a:r>
            <a:r>
              <a:rPr lang="vi-VN" dirty="0"/>
              <a:t>(g) + 3O</a:t>
            </a:r>
            <a:r>
              <a:rPr lang="vi-VN" baseline="-25000" dirty="0"/>
              <a:t>2</a:t>
            </a:r>
            <a:r>
              <a:rPr lang="vi-VN" dirty="0"/>
              <a:t>(g) → 4CO</a:t>
            </a:r>
            <a:r>
              <a:rPr lang="vi-VN" baseline="-25000" dirty="0"/>
              <a:t>2</a:t>
            </a:r>
            <a:r>
              <a:rPr lang="vi-VN" dirty="0"/>
              <a:t>(g) + 6H</a:t>
            </a:r>
            <a:r>
              <a:rPr lang="vi-VN" baseline="-25000" dirty="0"/>
              <a:t>2</a:t>
            </a:r>
            <a:r>
              <a:rPr lang="vi-VN" dirty="0"/>
              <a:t>O(</a:t>
            </a:r>
            <a:r>
              <a:rPr lang="vi-VN" i="1" dirty="0"/>
              <a:t>l</a:t>
            </a:r>
            <a:r>
              <a:rPr lang="vi-VN" dirty="0"/>
              <a:t>).</a:t>
            </a:r>
            <a:endParaRPr lang="en-US" dirty="0"/>
          </a:p>
          <a:p>
            <a:r>
              <a:rPr lang="vi-VN" dirty="0"/>
              <a:t>C. N</a:t>
            </a:r>
            <a:r>
              <a:rPr lang="vi-VN" baseline="-25000" dirty="0"/>
              <a:t>2</a:t>
            </a:r>
            <a:r>
              <a:rPr lang="vi-VN" dirty="0"/>
              <a:t>(g) + 2H</a:t>
            </a:r>
            <a:r>
              <a:rPr lang="vi-VN" baseline="-25000" dirty="0"/>
              <a:t>2</a:t>
            </a:r>
            <a:r>
              <a:rPr lang="vi-VN" dirty="0"/>
              <a:t>(g) → N</a:t>
            </a:r>
            <a:r>
              <a:rPr lang="vi-VN" baseline="-25000" dirty="0"/>
              <a:t>2</a:t>
            </a:r>
            <a:r>
              <a:rPr lang="vi-VN" dirty="0"/>
              <a:t>H</a:t>
            </a:r>
            <a:r>
              <a:rPr lang="vi-VN" baseline="-25000" dirty="0"/>
              <a:t>4</a:t>
            </a:r>
            <a:r>
              <a:rPr lang="vi-VN" dirty="0"/>
              <a:t>(g).</a:t>
            </a:r>
            <a:endParaRPr lang="en-US" dirty="0"/>
          </a:p>
          <a:p>
            <a:r>
              <a:rPr lang="vi-VN" dirty="0"/>
              <a:t>D. 2H</a:t>
            </a:r>
            <a:r>
              <a:rPr lang="vi-VN" baseline="-25000" dirty="0"/>
              <a:t>2</a:t>
            </a:r>
            <a:r>
              <a:rPr lang="vi-VN" dirty="0"/>
              <a:t>O</a:t>
            </a:r>
            <a:r>
              <a:rPr lang="vi-VN" baseline="-25000" dirty="0"/>
              <a:t>2</a:t>
            </a:r>
            <a:r>
              <a:rPr lang="vi-VN" dirty="0"/>
              <a:t>(</a:t>
            </a:r>
            <a:r>
              <a:rPr lang="vi-VN" i="1" dirty="0"/>
              <a:t>l</a:t>
            </a:r>
            <a:r>
              <a:rPr lang="vi-VN" dirty="0"/>
              <a:t>) → 2H</a:t>
            </a:r>
            <a:r>
              <a:rPr lang="vi-VN" baseline="-25000" dirty="0"/>
              <a:t>2</a:t>
            </a:r>
            <a:r>
              <a:rPr lang="vi-VN" dirty="0"/>
              <a:t>O(</a:t>
            </a:r>
            <a:r>
              <a:rPr lang="vi-VN" i="1" dirty="0"/>
              <a:t>1</a:t>
            </a:r>
            <a:r>
              <a:rPr lang="vi-VN" dirty="0"/>
              <a:t>) + O</a:t>
            </a:r>
            <a:r>
              <a:rPr lang="vi-VN" baseline="-25000" dirty="0"/>
              <a:t>2</a:t>
            </a:r>
            <a:r>
              <a:rPr lang="vi-VN" dirty="0"/>
              <a:t>(g).</a:t>
            </a:r>
            <a:endParaRPr lang="en-US" dirty="0"/>
          </a:p>
        </p:txBody>
      </p:sp>
      <p:sp>
        <p:nvSpPr>
          <p:cNvPr id="2" name="Oval 1"/>
          <p:cNvSpPr/>
          <p:nvPr/>
        </p:nvSpPr>
        <p:spPr>
          <a:xfrm>
            <a:off x="3119718" y="42267"/>
            <a:ext cx="3505200" cy="389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VẬN DỤNG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(PHT </a:t>
            </a:r>
            <a:r>
              <a:rPr lang="en-US" dirty="0" err="1" smtClean="0">
                <a:solidFill>
                  <a:srgbClr val="FF0000"/>
                </a:solidFill>
              </a:rPr>
              <a:t>Số</a:t>
            </a:r>
            <a:r>
              <a:rPr lang="en-US" dirty="0" smtClean="0">
                <a:solidFill>
                  <a:srgbClr val="FF0000"/>
                </a:solidFill>
              </a:rPr>
              <a:t> 1.2)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24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3beep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GU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8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2327989" y="563279"/>
            <a:ext cx="5369727" cy="2164095"/>
          </a:xfrm>
          <a:prstGeom prst="rect">
            <a:avLst/>
          </a:prstGeom>
          <a:solidFill>
            <a:srgbClr val="008CF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rgbClr val="FFFF00"/>
              </a:solidFill>
              <a:latin typeface="Calibri" panose="020F0502020204030204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2114983" y="473599"/>
            <a:ext cx="290843" cy="2343457"/>
            <a:chOff x="1322576" y="181189"/>
            <a:chExt cx="387790" cy="2666783"/>
          </a:xfrm>
        </p:grpSpPr>
        <p:grpSp>
          <p:nvGrpSpPr>
            <p:cNvPr id="53" name="Group 52"/>
            <p:cNvGrpSpPr/>
            <p:nvPr/>
          </p:nvGrpSpPr>
          <p:grpSpPr>
            <a:xfrm>
              <a:off x="1322576" y="1379570"/>
              <a:ext cx="286946" cy="286946"/>
              <a:chOff x="505017" y="3662327"/>
              <a:chExt cx="286946" cy="286946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505017" y="3662327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87032" y="3741662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7" name="Left Bracket 56"/>
            <p:cNvSpPr/>
            <p:nvPr/>
          </p:nvSpPr>
          <p:spPr>
            <a:xfrm>
              <a:off x="1461286" y="181189"/>
              <a:ext cx="249080" cy="2666783"/>
            </a:xfrm>
            <a:prstGeom prst="leftBracket">
              <a:avLst/>
            </a:prstGeom>
            <a:ln w="38100">
              <a:solidFill>
                <a:srgbClr val="008C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8" name="Left Bracket 57"/>
          <p:cNvSpPr/>
          <p:nvPr/>
        </p:nvSpPr>
        <p:spPr>
          <a:xfrm flipH="1">
            <a:off x="7517245" y="494701"/>
            <a:ext cx="160628" cy="2343457"/>
          </a:xfrm>
          <a:prstGeom prst="leftBracket">
            <a:avLst/>
          </a:prstGeom>
          <a:ln w="38100">
            <a:solidFill>
              <a:srgbClr val="008C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437760" y="1031230"/>
            <a:ext cx="341961" cy="2441389"/>
            <a:chOff x="393013" y="1032069"/>
            <a:chExt cx="455948" cy="3255185"/>
          </a:xfrm>
        </p:grpSpPr>
        <p:cxnSp>
          <p:nvCxnSpPr>
            <p:cNvPr id="13" name="Straight Connector 12"/>
            <p:cNvCxnSpPr>
              <a:stCxn id="29" idx="4"/>
              <a:endCxn id="64" idx="0"/>
            </p:cNvCxnSpPr>
            <p:nvPr/>
          </p:nvCxnSpPr>
          <p:spPr>
            <a:xfrm flipH="1">
              <a:off x="620987" y="1032069"/>
              <a:ext cx="14515" cy="2799237"/>
            </a:xfrm>
            <a:prstGeom prst="line">
              <a:avLst/>
            </a:prstGeom>
            <a:ln w="12700"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393013" y="3831306"/>
              <a:ext cx="455948" cy="455948"/>
              <a:chOff x="268476" y="3198923"/>
              <a:chExt cx="286946" cy="286946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268476" y="3198923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50491" y="3278258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1216632" y="228299"/>
            <a:ext cx="811716" cy="811716"/>
            <a:chOff x="83662" y="159259"/>
            <a:chExt cx="1082288" cy="1082288"/>
          </a:xfrm>
        </p:grpSpPr>
        <p:sp>
          <p:nvSpPr>
            <p:cNvPr id="29" name="Oval 28"/>
            <p:cNvSpPr/>
            <p:nvPr/>
          </p:nvSpPr>
          <p:spPr>
            <a:xfrm>
              <a:off x="91433" y="170721"/>
              <a:ext cx="1059109" cy="1059109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8CF5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0" b="1" dirty="0">
                <a:solidFill>
                  <a:srgbClr val="008CF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662" y="159259"/>
              <a:ext cx="1082288" cy="1082288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0649" y="240741"/>
              <a:ext cx="757177" cy="937456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323239" y="277250"/>
              <a:ext cx="603157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750" b="1" dirty="0">
                  <a:solidFill>
                    <a:srgbClr val="00FF4E"/>
                  </a:solidFill>
                  <a:effectLst>
                    <a:glow rad="88900">
                      <a:srgbClr val="00FF4E">
                        <a:alpha val="60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pic>
        <p:nvPicPr>
          <p:cNvPr id="38" name="Picture 115" descr="ALRMCLOK"/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236" y="1665655"/>
            <a:ext cx="648320" cy="78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Oval 176"/>
          <p:cNvSpPr>
            <a:spLocks noChangeArrowheads="1"/>
          </p:cNvSpPr>
          <p:nvPr/>
        </p:nvSpPr>
        <p:spPr bwMode="auto">
          <a:xfrm>
            <a:off x="1434543" y="189053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10</a:t>
            </a:r>
          </a:p>
        </p:txBody>
      </p:sp>
      <p:sp>
        <p:nvSpPr>
          <p:cNvPr id="45" name="Oval 176"/>
          <p:cNvSpPr>
            <a:spLocks noChangeArrowheads="1"/>
          </p:cNvSpPr>
          <p:nvPr/>
        </p:nvSpPr>
        <p:spPr bwMode="auto">
          <a:xfrm>
            <a:off x="1437617" y="1869956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9</a:t>
            </a:r>
          </a:p>
        </p:txBody>
      </p:sp>
      <p:sp>
        <p:nvSpPr>
          <p:cNvPr id="46" name="Oval 176"/>
          <p:cNvSpPr>
            <a:spLocks noChangeArrowheads="1"/>
          </p:cNvSpPr>
          <p:nvPr/>
        </p:nvSpPr>
        <p:spPr bwMode="auto">
          <a:xfrm>
            <a:off x="1434297" y="190065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8</a:t>
            </a:r>
          </a:p>
        </p:txBody>
      </p:sp>
      <p:sp>
        <p:nvSpPr>
          <p:cNvPr id="47" name="Oval 176"/>
          <p:cNvSpPr>
            <a:spLocks noChangeArrowheads="1"/>
          </p:cNvSpPr>
          <p:nvPr/>
        </p:nvSpPr>
        <p:spPr bwMode="auto">
          <a:xfrm>
            <a:off x="1447185" y="188258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7</a:t>
            </a:r>
          </a:p>
        </p:txBody>
      </p:sp>
      <p:sp>
        <p:nvSpPr>
          <p:cNvPr id="48" name="Oval 176"/>
          <p:cNvSpPr>
            <a:spLocks noChangeArrowheads="1"/>
          </p:cNvSpPr>
          <p:nvPr/>
        </p:nvSpPr>
        <p:spPr bwMode="auto">
          <a:xfrm>
            <a:off x="1437617" y="189301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6</a:t>
            </a:r>
          </a:p>
        </p:txBody>
      </p:sp>
      <p:sp>
        <p:nvSpPr>
          <p:cNvPr id="49" name="Oval 176"/>
          <p:cNvSpPr>
            <a:spLocks noChangeArrowheads="1"/>
          </p:cNvSpPr>
          <p:nvPr/>
        </p:nvSpPr>
        <p:spPr bwMode="auto">
          <a:xfrm>
            <a:off x="1446172" y="189032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5</a:t>
            </a:r>
          </a:p>
        </p:txBody>
      </p:sp>
      <p:sp>
        <p:nvSpPr>
          <p:cNvPr id="50" name="Oval 176"/>
          <p:cNvSpPr>
            <a:spLocks noChangeArrowheads="1"/>
          </p:cNvSpPr>
          <p:nvPr/>
        </p:nvSpPr>
        <p:spPr bwMode="auto">
          <a:xfrm>
            <a:off x="1419799" y="189200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4</a:t>
            </a:r>
          </a:p>
        </p:txBody>
      </p:sp>
      <p:sp>
        <p:nvSpPr>
          <p:cNvPr id="51" name="Oval 176"/>
          <p:cNvSpPr>
            <a:spLocks noChangeArrowheads="1"/>
          </p:cNvSpPr>
          <p:nvPr/>
        </p:nvSpPr>
        <p:spPr bwMode="auto">
          <a:xfrm>
            <a:off x="1424975" y="187247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3</a:t>
            </a:r>
          </a:p>
        </p:txBody>
      </p:sp>
      <p:sp>
        <p:nvSpPr>
          <p:cNvPr id="52" name="Oval 176"/>
          <p:cNvSpPr>
            <a:spLocks noChangeArrowheads="1"/>
          </p:cNvSpPr>
          <p:nvPr/>
        </p:nvSpPr>
        <p:spPr bwMode="auto">
          <a:xfrm>
            <a:off x="1438390" y="188606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2</a:t>
            </a:r>
          </a:p>
        </p:txBody>
      </p:sp>
      <p:sp>
        <p:nvSpPr>
          <p:cNvPr id="56" name="Oval 176"/>
          <p:cNvSpPr>
            <a:spLocks noChangeArrowheads="1"/>
          </p:cNvSpPr>
          <p:nvPr/>
        </p:nvSpPr>
        <p:spPr bwMode="auto">
          <a:xfrm>
            <a:off x="1446172" y="185474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</a:t>
            </a:r>
          </a:p>
        </p:txBody>
      </p:sp>
      <p:sp>
        <p:nvSpPr>
          <p:cNvPr id="59" name="Oval 176"/>
          <p:cNvSpPr>
            <a:spLocks noChangeArrowheads="1"/>
          </p:cNvSpPr>
          <p:nvPr/>
        </p:nvSpPr>
        <p:spPr bwMode="auto">
          <a:xfrm>
            <a:off x="1414741" y="1876741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100" dirty="0">
                <a:solidFill>
                  <a:srgbClr val="DC2608"/>
                </a:solidFill>
                <a:latin typeface=".VnBlack" pitchFamily="34" charset="0"/>
              </a:rPr>
              <a:t>0</a:t>
            </a:r>
          </a:p>
        </p:txBody>
      </p:sp>
      <p:pic>
        <p:nvPicPr>
          <p:cNvPr id="42" name="Picture 41">
            <a:hlinkHover r:id="rId10" highlightClick="1">
              <a:snd r:embed="rId9" name="applause.wav"/>
            </a:hlinkHover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682" y="3337713"/>
            <a:ext cx="1018050" cy="974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27989" y="611160"/>
            <a:ext cx="5818484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4: (</a:t>
            </a:r>
            <a:r>
              <a:rPr lang="vi-VN" b="1" dirty="0" smtClean="0"/>
              <a:t>Câu </a:t>
            </a:r>
            <a:r>
              <a:rPr lang="vi-VN" b="1" dirty="0"/>
              <a:t>hỏi </a:t>
            </a:r>
            <a:r>
              <a:rPr lang="en-US" b="1" dirty="0" smtClean="0"/>
              <a:t>4</a:t>
            </a:r>
            <a:r>
              <a:rPr lang="vi-VN" b="1" dirty="0" smtClean="0"/>
              <a:t> </a:t>
            </a:r>
            <a:r>
              <a:rPr lang="vi-VN" b="1" dirty="0"/>
              <a:t>trang 25 Chuyên đề Hóa </a:t>
            </a:r>
            <a:r>
              <a:rPr lang="vi-VN" b="1" dirty="0" smtClean="0"/>
              <a:t>10</a:t>
            </a:r>
            <a:r>
              <a:rPr lang="en-US" b="1" dirty="0" smtClean="0"/>
              <a:t>)</a:t>
            </a: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en-US" sz="1800" dirty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Dựa vào dữ liệu ở Bảng 4.1, tính biến thiên entropy chuẩn của các phản ứng:</a:t>
            </a:r>
            <a:endParaRPr lang="en-US" altLang="en-US" sz="10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en-US" sz="1800" dirty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4Fe(s) + 3O</a:t>
            </a:r>
            <a:r>
              <a:rPr lang="vi-VN" altLang="en-US" sz="1800" baseline="-30000" dirty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altLang="en-US" sz="1800" dirty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(g) → </a:t>
            </a:r>
            <a:r>
              <a:rPr lang="vi-VN" altLang="en-US" sz="18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2Fe</a:t>
            </a:r>
            <a:r>
              <a:rPr lang="vi-VN" altLang="en-US" sz="1800" baseline="-300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altLang="en-US" sz="18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vi-VN" altLang="en-US" sz="1800" baseline="-300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altLang="en-US" sz="18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  <a:endParaRPr lang="en-US" altLang="en-US" sz="1000" dirty="0" smtClean="0">
              <a:solidFill>
                <a:schemeClr val="tx1"/>
              </a:solidFill>
            </a:endParaRPr>
          </a:p>
          <a:p>
            <a:r>
              <a:rPr lang="vi-VN" altLang="en-US" sz="18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SO</a:t>
            </a:r>
            <a:r>
              <a:rPr lang="vi-VN" altLang="en-US" sz="1800" baseline="-300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altLang="en-US" sz="18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(g) + </a:t>
            </a:r>
            <a:r>
              <a:rPr lang="vi-VN" altLang="en-US" sz="24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vi-VN" altLang="en-US" sz="2400" baseline="-300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altLang="en-US" sz="24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(g) → SO</a:t>
            </a:r>
            <a:r>
              <a:rPr lang="vi-VN" altLang="en-US" sz="2400" baseline="-300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altLang="en-US" sz="2400" dirty="0" smtClean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  <a:endParaRPr lang="vi-VN" altLang="en-US" sz="32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/>
            <a:endParaRPr lang="vi-VN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3119718" y="42267"/>
            <a:ext cx="3505200" cy="389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VẬN DỤNG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(PHT </a:t>
            </a:r>
            <a:r>
              <a:rPr lang="en-US" dirty="0" err="1" smtClean="0">
                <a:solidFill>
                  <a:srgbClr val="FF0000"/>
                </a:solidFill>
              </a:rPr>
              <a:t>Số</a:t>
            </a:r>
            <a:r>
              <a:rPr lang="en-US" dirty="0" smtClean="0">
                <a:solidFill>
                  <a:srgbClr val="FF0000"/>
                </a:solidFill>
              </a:rPr>
              <a:t> 1.2)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2" name="AutoShape 1" descr="C:\Users\Admin\AppData\Local\Temp\msohtmlclip1\01\clip_image006.png"/>
          <p:cNvSpPr>
            <a:spLocks noChangeAspect="1" noChangeArrowheads="1"/>
          </p:cNvSpPr>
          <p:nvPr/>
        </p:nvSpPr>
        <p:spPr bwMode="auto">
          <a:xfrm>
            <a:off x="1" y="0"/>
            <a:ext cx="64994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3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3beep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GU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8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437760" y="1031230"/>
            <a:ext cx="341961" cy="2441389"/>
            <a:chOff x="393013" y="1032069"/>
            <a:chExt cx="455948" cy="3255185"/>
          </a:xfrm>
        </p:grpSpPr>
        <p:cxnSp>
          <p:nvCxnSpPr>
            <p:cNvPr id="13" name="Straight Connector 12"/>
            <p:cNvCxnSpPr>
              <a:stCxn id="29" idx="4"/>
              <a:endCxn id="64" idx="0"/>
            </p:cNvCxnSpPr>
            <p:nvPr/>
          </p:nvCxnSpPr>
          <p:spPr>
            <a:xfrm flipH="1">
              <a:off x="620987" y="1032069"/>
              <a:ext cx="14515" cy="2799237"/>
            </a:xfrm>
            <a:prstGeom prst="line">
              <a:avLst/>
            </a:prstGeom>
            <a:ln w="12700"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393013" y="3831306"/>
              <a:ext cx="455948" cy="455948"/>
              <a:chOff x="268476" y="3198923"/>
              <a:chExt cx="286946" cy="286946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268476" y="3198923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50491" y="3278258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1" name="Group 30"/>
          <p:cNvGrpSpPr/>
          <p:nvPr/>
        </p:nvGrpSpPr>
        <p:grpSpPr>
          <a:xfrm>
            <a:off x="997527" y="893618"/>
            <a:ext cx="7481455" cy="4156363"/>
            <a:chOff x="560434" y="3549113"/>
            <a:chExt cx="7672438" cy="2812714"/>
          </a:xfrm>
        </p:grpSpPr>
        <p:grpSp>
          <p:nvGrpSpPr>
            <p:cNvPr id="23" name="Group 22"/>
            <p:cNvGrpSpPr/>
            <p:nvPr/>
          </p:nvGrpSpPr>
          <p:grpSpPr>
            <a:xfrm>
              <a:off x="620986" y="3549113"/>
              <a:ext cx="7597821" cy="2654675"/>
              <a:chOff x="1139780" y="2611241"/>
              <a:chExt cx="4733934" cy="2462475"/>
            </a:xfrm>
          </p:grpSpPr>
          <p:sp>
            <p:nvSpPr>
              <p:cNvPr id="18" name="Parallelogram 17"/>
              <p:cNvSpPr/>
              <p:nvPr/>
            </p:nvSpPr>
            <p:spPr>
              <a:xfrm>
                <a:off x="1139780" y="3102581"/>
                <a:ext cx="4733934" cy="1874096"/>
              </a:xfrm>
              <a:prstGeom prst="parallelogram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5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Parallelogram 6"/>
              <p:cNvSpPr/>
              <p:nvPr/>
            </p:nvSpPr>
            <p:spPr>
              <a:xfrm flipH="1">
                <a:off x="1357102" y="2611241"/>
                <a:ext cx="1403156" cy="534468"/>
              </a:xfrm>
              <a:prstGeom prst="parallelogram">
                <a:avLst/>
              </a:prstGeom>
              <a:solidFill>
                <a:srgbClr val="00FF4E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ĐÁP ÁN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418483" y="4847084"/>
                <a:ext cx="3113455" cy="226632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cxnSp>
          <p:nvCxnSpPr>
            <p:cNvPr id="75" name="Straight Connector 74"/>
            <p:cNvCxnSpPr>
              <a:stCxn id="15" idx="3"/>
              <a:endCxn id="15" idx="1"/>
            </p:cNvCxnSpPr>
            <p:nvPr/>
          </p:nvCxnSpPr>
          <p:spPr>
            <a:xfrm>
              <a:off x="3221801" y="4031549"/>
              <a:ext cx="4997003" cy="0"/>
            </a:xfrm>
            <a:prstGeom prst="line">
              <a:avLst/>
            </a:prstGeom>
            <a:ln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878650" y="6032145"/>
              <a:ext cx="5519746" cy="0"/>
            </a:xfrm>
            <a:prstGeom prst="line">
              <a:avLst/>
            </a:prstGeom>
            <a:ln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Parallelogram 29"/>
                <p:cNvSpPr/>
                <p:nvPr/>
              </p:nvSpPr>
              <p:spPr>
                <a:xfrm>
                  <a:off x="560434" y="3549113"/>
                  <a:ext cx="7672438" cy="2812714"/>
                </a:xfrm>
                <a:prstGeom prst="parallelogram">
                  <a:avLst/>
                </a:prstGeom>
                <a:solidFill>
                  <a:srgbClr val="008CF5">
                    <a:alpha val="2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fr-FR" sz="2000" dirty="0">
                      <a:solidFill>
                        <a:srgbClr val="FFFFFF"/>
                      </a:solidFill>
                    </a:rPr>
                    <a:t>Ta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có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: </a:t>
                  </a:r>
                  <a:r>
                    <a:rPr lang="vi-VN" sz="2000" dirty="0">
                      <a:solidFill>
                        <a:srgbClr val="FFFFFF"/>
                      </a:solidFill>
                    </a:rPr>
                    <a:t>Δ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r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vi-VN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298</m:t>
                          </m:r>
                        </m:sub>
                        <m:sup>
                          <m:r>
                            <a:rPr lang="fr-F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fr-FR" sz="2000" dirty="0">
                      <a:solidFill>
                        <a:srgbClr val="FFFFFF"/>
                      </a:solidFill>
                    </a:rPr>
                    <a:t>=∑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vi-VN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298</m:t>
                          </m:r>
                        </m:sub>
                        <m:sup>
                          <m:r>
                            <a:rPr lang="fr-F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vi-VN" sz="2000" baseline="-25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baseline="-25000" dirty="0">
                      <a:solidFill>
                        <a:srgbClr val="FFFFFF"/>
                      </a:solidFill>
                    </a:rPr>
                    <a:t>(</a:t>
                  </a:r>
                  <a:r>
                    <a:rPr lang="fr-FR" sz="2000" baseline="-25000" dirty="0" err="1">
                      <a:solidFill>
                        <a:srgbClr val="FFFFFF"/>
                      </a:solidFill>
                    </a:rPr>
                    <a:t>sp</a:t>
                  </a:r>
                  <a:r>
                    <a:rPr lang="fr-FR" sz="2000" baseline="-25000" dirty="0">
                      <a:solidFill>
                        <a:srgbClr val="FFFFFF"/>
                      </a:solidFill>
                    </a:rPr>
                    <a:t>)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−∑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298</m:t>
                          </m:r>
                        </m:sub>
                        <m:sup>
                          <m:r>
                            <a:rPr lang="fr-F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fr-FR" sz="2000" baseline="-25000" dirty="0">
                      <a:solidFill>
                        <a:srgbClr val="FFFFFF"/>
                      </a:solidFill>
                    </a:rPr>
                    <a:t>(cd)</a:t>
                  </a:r>
                  <a:endParaRPr lang="en-US" sz="2000" dirty="0">
                    <a:solidFill>
                      <a:srgbClr val="FFFFFF"/>
                    </a:solidFill>
                  </a:endParaRPr>
                </a:p>
                <a:p>
                  <a:r>
                    <a:rPr lang="fr-FR" sz="2000" dirty="0">
                      <a:solidFill>
                        <a:srgbClr val="FFFFFF"/>
                      </a:solidFill>
                    </a:rPr>
                    <a:t>a)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Biến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thiên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entropy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chuẩn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của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phản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ứng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là</a:t>
                  </a:r>
                  <a:endParaRPr lang="en-US" sz="2000" dirty="0">
                    <a:solidFill>
                      <a:srgbClr val="FFFFFF"/>
                    </a:solidFill>
                  </a:endParaRPr>
                </a:p>
                <a:p>
                  <a:r>
                    <a:rPr lang="vi-VN" sz="2000" dirty="0">
                      <a:solidFill>
                        <a:srgbClr val="FFFFFF"/>
                      </a:solidFill>
                    </a:rPr>
                    <a:t>Δ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rS</a:t>
                  </a:r>
                  <a:r>
                    <a:rPr lang="fr-FR" sz="2000" baseline="30000" dirty="0">
                      <a:solidFill>
                        <a:srgbClr val="FFFFFF"/>
                      </a:solidFill>
                    </a:rPr>
                    <a:t>o</a:t>
                  </a:r>
                  <a:r>
                    <a:rPr lang="fr-FR" sz="2000" baseline="-25000" dirty="0">
                      <a:solidFill>
                        <a:srgbClr val="FFFFFF"/>
                      </a:solidFill>
                    </a:rPr>
                    <a:t>298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= (2.87,4) – (4.27,3 + 3.205) = - 549,4 (J/K)</a:t>
                  </a:r>
                  <a:endParaRPr lang="en-US" sz="2000" dirty="0">
                    <a:solidFill>
                      <a:srgbClr val="FFFFFF"/>
                    </a:solidFill>
                  </a:endParaRPr>
                </a:p>
                <a:p>
                  <a:r>
                    <a:rPr lang="fr-FR" sz="2000" dirty="0">
                      <a:solidFill>
                        <a:srgbClr val="FFFFFF"/>
                      </a:solidFill>
                    </a:rPr>
                    <a:t>b)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Biến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thiên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entropy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chuẩn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của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phản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fr-FR" sz="2000" dirty="0" err="1">
                      <a:solidFill>
                        <a:srgbClr val="FFFFFF"/>
                      </a:solidFill>
                    </a:rPr>
                    <a:t>ứng</a:t>
                  </a:r>
                  <a:r>
                    <a:rPr lang="fr-FR" sz="2000" dirty="0">
                      <a:solidFill>
                        <a:srgbClr val="FFFFFF"/>
                      </a:solidFill>
                    </a:rPr>
                    <a:t> là</a:t>
                  </a:r>
                  <a:endParaRPr lang="en-US" sz="2000" dirty="0">
                    <a:solidFill>
                      <a:srgbClr val="FFFFFF"/>
                    </a:solidFill>
                  </a:endParaRPr>
                </a:p>
                <a:p>
                  <a:r>
                    <a:rPr lang="vi-VN" sz="2000" dirty="0">
                      <a:solidFill>
                        <a:srgbClr val="FFFFFF"/>
                      </a:solidFill>
                    </a:rPr>
                    <a:t>ΔrS</a:t>
                  </a:r>
                  <a:r>
                    <a:rPr lang="vi-VN" sz="2000" baseline="30000" dirty="0">
                      <a:solidFill>
                        <a:srgbClr val="FFFFFF"/>
                      </a:solidFill>
                    </a:rPr>
                    <a:t>o</a:t>
                  </a:r>
                  <a:r>
                    <a:rPr lang="vi-VN" sz="2000" baseline="-25000" dirty="0">
                      <a:solidFill>
                        <a:srgbClr val="FFFFFF"/>
                      </a:solidFill>
                    </a:rPr>
                    <a:t>298</a:t>
                  </a:r>
                  <a:r>
                    <a:rPr lang="vi-VN" sz="2000" dirty="0">
                      <a:solidFill>
                        <a:srgbClr val="FFFFFF"/>
                      </a:solidFill>
                    </a:rPr>
                    <a:t>= 256,7 – (248,1 + 1212.205,0) = – 93,9 (J/K)</a:t>
                  </a:r>
                  <a:endParaRPr lang="en-US" sz="20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>
            <p:sp>
              <p:nvSpPr>
                <p:cNvPr id="30" name="Parallelogram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434" y="3549113"/>
                  <a:ext cx="7672438" cy="2812714"/>
                </a:xfrm>
                <a:prstGeom prst="parallelogram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3221801" y="3879674"/>
              <a:ext cx="4997003" cy="303750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1216632" y="228299"/>
            <a:ext cx="811716" cy="811716"/>
            <a:chOff x="83662" y="159259"/>
            <a:chExt cx="1082288" cy="1082288"/>
          </a:xfrm>
        </p:grpSpPr>
        <p:sp>
          <p:nvSpPr>
            <p:cNvPr id="29" name="Oval 28"/>
            <p:cNvSpPr/>
            <p:nvPr/>
          </p:nvSpPr>
          <p:spPr>
            <a:xfrm>
              <a:off x="91433" y="170721"/>
              <a:ext cx="1059109" cy="1059109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8CF5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0" b="1" dirty="0">
                <a:solidFill>
                  <a:srgbClr val="008CF5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662" y="159259"/>
              <a:ext cx="1082288" cy="1082288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0649" y="240741"/>
              <a:ext cx="757177" cy="937456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323239" y="277250"/>
              <a:ext cx="603157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750" b="1" dirty="0">
                  <a:solidFill>
                    <a:srgbClr val="00FF4E"/>
                  </a:solidFill>
                  <a:effectLst>
                    <a:glow rad="88900">
                      <a:srgbClr val="00FF4E">
                        <a:alpha val="60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pic>
        <p:nvPicPr>
          <p:cNvPr id="38" name="Picture 115" descr="ALRMCLOK"/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236" y="1665655"/>
            <a:ext cx="648320" cy="78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Oval 176"/>
          <p:cNvSpPr>
            <a:spLocks noChangeArrowheads="1"/>
          </p:cNvSpPr>
          <p:nvPr/>
        </p:nvSpPr>
        <p:spPr bwMode="auto">
          <a:xfrm>
            <a:off x="1434543" y="189053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10</a:t>
            </a:r>
          </a:p>
        </p:txBody>
      </p:sp>
      <p:sp>
        <p:nvSpPr>
          <p:cNvPr id="45" name="Oval 176"/>
          <p:cNvSpPr>
            <a:spLocks noChangeArrowheads="1"/>
          </p:cNvSpPr>
          <p:nvPr/>
        </p:nvSpPr>
        <p:spPr bwMode="auto">
          <a:xfrm>
            <a:off x="1437617" y="1869956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9</a:t>
            </a:r>
          </a:p>
        </p:txBody>
      </p:sp>
      <p:sp>
        <p:nvSpPr>
          <p:cNvPr id="46" name="Oval 176"/>
          <p:cNvSpPr>
            <a:spLocks noChangeArrowheads="1"/>
          </p:cNvSpPr>
          <p:nvPr/>
        </p:nvSpPr>
        <p:spPr bwMode="auto">
          <a:xfrm>
            <a:off x="1434297" y="190065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8</a:t>
            </a:r>
          </a:p>
        </p:txBody>
      </p:sp>
      <p:sp>
        <p:nvSpPr>
          <p:cNvPr id="47" name="Oval 176"/>
          <p:cNvSpPr>
            <a:spLocks noChangeArrowheads="1"/>
          </p:cNvSpPr>
          <p:nvPr/>
        </p:nvSpPr>
        <p:spPr bwMode="auto">
          <a:xfrm>
            <a:off x="1447185" y="188258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7</a:t>
            </a:r>
          </a:p>
        </p:txBody>
      </p:sp>
      <p:sp>
        <p:nvSpPr>
          <p:cNvPr id="48" name="Oval 176"/>
          <p:cNvSpPr>
            <a:spLocks noChangeArrowheads="1"/>
          </p:cNvSpPr>
          <p:nvPr/>
        </p:nvSpPr>
        <p:spPr bwMode="auto">
          <a:xfrm>
            <a:off x="1437617" y="189301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6</a:t>
            </a:r>
          </a:p>
        </p:txBody>
      </p:sp>
      <p:sp>
        <p:nvSpPr>
          <p:cNvPr id="49" name="Oval 176"/>
          <p:cNvSpPr>
            <a:spLocks noChangeArrowheads="1"/>
          </p:cNvSpPr>
          <p:nvPr/>
        </p:nvSpPr>
        <p:spPr bwMode="auto">
          <a:xfrm>
            <a:off x="1446172" y="189032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5</a:t>
            </a:r>
          </a:p>
        </p:txBody>
      </p:sp>
      <p:sp>
        <p:nvSpPr>
          <p:cNvPr id="50" name="Oval 176"/>
          <p:cNvSpPr>
            <a:spLocks noChangeArrowheads="1"/>
          </p:cNvSpPr>
          <p:nvPr/>
        </p:nvSpPr>
        <p:spPr bwMode="auto">
          <a:xfrm>
            <a:off x="1419799" y="189200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4</a:t>
            </a:r>
          </a:p>
        </p:txBody>
      </p:sp>
      <p:sp>
        <p:nvSpPr>
          <p:cNvPr id="51" name="Oval 176"/>
          <p:cNvSpPr>
            <a:spLocks noChangeArrowheads="1"/>
          </p:cNvSpPr>
          <p:nvPr/>
        </p:nvSpPr>
        <p:spPr bwMode="auto">
          <a:xfrm>
            <a:off x="1424975" y="187247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3</a:t>
            </a:r>
          </a:p>
        </p:txBody>
      </p:sp>
      <p:sp>
        <p:nvSpPr>
          <p:cNvPr id="52" name="Oval 176"/>
          <p:cNvSpPr>
            <a:spLocks noChangeArrowheads="1"/>
          </p:cNvSpPr>
          <p:nvPr/>
        </p:nvSpPr>
        <p:spPr bwMode="auto">
          <a:xfrm>
            <a:off x="1438390" y="188606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2</a:t>
            </a:r>
          </a:p>
        </p:txBody>
      </p:sp>
      <p:sp>
        <p:nvSpPr>
          <p:cNvPr id="56" name="Oval 176"/>
          <p:cNvSpPr>
            <a:spLocks noChangeArrowheads="1"/>
          </p:cNvSpPr>
          <p:nvPr/>
        </p:nvSpPr>
        <p:spPr bwMode="auto">
          <a:xfrm>
            <a:off x="1446172" y="185474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</a:t>
            </a:r>
          </a:p>
        </p:txBody>
      </p:sp>
      <p:sp>
        <p:nvSpPr>
          <p:cNvPr id="59" name="Oval 176"/>
          <p:cNvSpPr>
            <a:spLocks noChangeArrowheads="1"/>
          </p:cNvSpPr>
          <p:nvPr/>
        </p:nvSpPr>
        <p:spPr bwMode="auto">
          <a:xfrm>
            <a:off x="1414741" y="1876741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100" dirty="0">
                <a:solidFill>
                  <a:srgbClr val="DC2608"/>
                </a:solidFill>
                <a:latin typeface=".VnBlack" pitchFamily="34" charset="0"/>
              </a:rPr>
              <a:t>0</a:t>
            </a:r>
          </a:p>
        </p:txBody>
      </p:sp>
      <p:pic>
        <p:nvPicPr>
          <p:cNvPr id="42" name="Picture 41">
            <a:hlinkHover r:id="rId12" highlightClick="1">
              <a:snd r:embed="rId11" name="applause.wav"/>
            </a:hlinkHover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682" y="3337713"/>
            <a:ext cx="1018050" cy="974912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3119718" y="42267"/>
            <a:ext cx="3505200" cy="389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VẬN DỤNG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(PHT </a:t>
            </a:r>
            <a:r>
              <a:rPr lang="en-US" dirty="0" err="1" smtClean="0">
                <a:solidFill>
                  <a:srgbClr val="FF0000"/>
                </a:solidFill>
              </a:rPr>
              <a:t>Số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1.2)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2" name="AutoShape 1" descr="C:\Users\Admin\AppData\Local\Temp\msohtmlclip1\01\clip_image006.png"/>
          <p:cNvSpPr>
            <a:spLocks noChangeAspect="1" noChangeArrowheads="1"/>
          </p:cNvSpPr>
          <p:nvPr/>
        </p:nvSpPr>
        <p:spPr bwMode="auto">
          <a:xfrm>
            <a:off x="1" y="0"/>
            <a:ext cx="64994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7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3beep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GU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79847" y="185863"/>
            <a:ext cx="4549353" cy="388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Google Shape;205;p20"/>
          <p:cNvSpPr txBox="1">
            <a:spLocks noGrp="1"/>
          </p:cNvSpPr>
          <p:nvPr>
            <p:ph type="ctrTitle" idx="4294967295"/>
          </p:nvPr>
        </p:nvSpPr>
        <p:spPr>
          <a:xfrm>
            <a:off x="-984677" y="35085"/>
            <a:ext cx="7611137" cy="57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vi-VN" sz="2000" dirty="0">
                <a:solidFill>
                  <a:srgbClr val="FF0000"/>
                </a:solidFill>
                <a:latin typeface="+mj-lt"/>
              </a:rPr>
              <a:t>II.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NĂNG  LƯỢNG TỰ DO GIBBS</a:t>
            </a:r>
            <a:r>
              <a:rPr lang="en-US" sz="2000" dirty="0" smtClean="0">
                <a:solidFill>
                  <a:srgbClr val="FF0000"/>
                </a:solidFill>
                <a:latin typeface="+mj-lt"/>
              </a:rPr>
              <a:t>:</a:t>
            </a:r>
            <a:endParaRPr sz="2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4294967295"/>
          </p:nvPr>
        </p:nvSpPr>
        <p:spPr>
          <a:xfrm>
            <a:off x="1535960" y="419790"/>
            <a:ext cx="4958700" cy="3636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vi-VN" sz="2400" u="sng" dirty="0">
                <a:solidFill>
                  <a:srgbClr val="FF0000"/>
                </a:solidFill>
                <a:latin typeface="+mj-lt"/>
              </a:rPr>
              <a:t>Kết luận</a:t>
            </a:r>
            <a:r>
              <a:rPr lang="vi-VN" sz="2400" u="sng" dirty="0" smtClean="0">
                <a:solidFill>
                  <a:srgbClr val="FF0000"/>
                </a:solidFill>
                <a:latin typeface="+mj-lt"/>
              </a:rPr>
              <a:t>:</a:t>
            </a:r>
            <a:endParaRPr lang="en-US" sz="2400" u="sng" dirty="0">
              <a:solidFill>
                <a:srgbClr val="FF0000"/>
              </a:solidFill>
              <a:latin typeface="+mj-lt"/>
            </a:endParaRPr>
          </a:p>
          <a:p>
            <a:r>
              <a:rPr lang="vi-VN" dirty="0" smtClean="0">
                <a:latin typeface="+mj-lt"/>
              </a:rPr>
              <a:t> </a:t>
            </a:r>
            <a:r>
              <a:rPr lang="vi-VN" sz="2000" dirty="0">
                <a:latin typeface="+mj-lt"/>
              </a:rPr>
              <a:t>Biến thiên </a:t>
            </a:r>
            <a:r>
              <a:rPr lang="vi-VN" sz="2000" dirty="0" smtClean="0">
                <a:latin typeface="+mj-lt"/>
              </a:rPr>
              <a:t>năng </a:t>
            </a:r>
            <a:r>
              <a:rPr lang="vi-VN" sz="2000" dirty="0">
                <a:latin typeface="+mj-lt"/>
              </a:rPr>
              <a:t>lượng tự do Gibb</a:t>
            </a:r>
            <a:r>
              <a:rPr lang="en" sz="2000" dirty="0" smtClean="0">
                <a:latin typeface="+mj-lt"/>
              </a:rPr>
              <a:t>s:</a:t>
            </a:r>
          </a:p>
          <a:p>
            <a:endParaRPr lang="en-US" sz="1400" dirty="0" smtClean="0"/>
          </a:p>
          <a:p>
            <a:endParaRPr lang="en-US" sz="1400" dirty="0"/>
          </a:p>
          <a:p>
            <a:endParaRPr sz="1400" dirty="0"/>
          </a:p>
        </p:txBody>
      </p:sp>
      <p:grpSp>
        <p:nvGrpSpPr>
          <p:cNvPr id="207" name="Google Shape;207;p20"/>
          <p:cNvGrpSpPr/>
          <p:nvPr/>
        </p:nvGrpSpPr>
        <p:grpSpPr>
          <a:xfrm>
            <a:off x="5944012" y="153717"/>
            <a:ext cx="1738561" cy="1738545"/>
            <a:chOff x="6643075" y="3664250"/>
            <a:chExt cx="407950" cy="407975"/>
          </a:xfrm>
        </p:grpSpPr>
        <p:sp>
          <p:nvSpPr>
            <p:cNvPr id="208" name="Google Shape;208;p20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20"/>
          <p:cNvGrpSpPr/>
          <p:nvPr/>
        </p:nvGrpSpPr>
        <p:grpSpPr>
          <a:xfrm rot="472129">
            <a:off x="55556" y="3782172"/>
            <a:ext cx="714809" cy="714768"/>
            <a:chOff x="576250" y="4319400"/>
            <a:chExt cx="442075" cy="442050"/>
          </a:xfrm>
        </p:grpSpPr>
        <p:sp>
          <p:nvSpPr>
            <p:cNvPr id="211" name="Google Shape;211;p20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" name="Google Shape;215;p20"/>
          <p:cNvSpPr/>
          <p:nvPr/>
        </p:nvSpPr>
        <p:spPr>
          <a:xfrm>
            <a:off x="5944012" y="185863"/>
            <a:ext cx="271742" cy="259470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"/>
          <p:cNvSpPr/>
          <p:nvPr/>
        </p:nvSpPr>
        <p:spPr>
          <a:xfrm rot="2697553">
            <a:off x="7435695" y="1466028"/>
            <a:ext cx="412519" cy="393888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653628" y="1814107"/>
            <a:ext cx="165205" cy="157816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"/>
          <p:cNvSpPr/>
          <p:nvPr/>
        </p:nvSpPr>
        <p:spPr>
          <a:xfrm rot="1280074">
            <a:off x="7738823" y="944089"/>
            <a:ext cx="165200" cy="157799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-80682" y="2512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244750"/>
              </p:ext>
            </p:extLst>
          </p:nvPr>
        </p:nvGraphicFramePr>
        <p:xfrm>
          <a:off x="2554251" y="1435497"/>
          <a:ext cx="2312894" cy="339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" name="Equation" r:id="rId4" imgW="1497950" imgH="253890" progId="Equation.DSMT4">
                  <p:embed/>
                </p:oleObj>
              </mc:Choice>
              <mc:Fallback>
                <p:oleObj name="Equation" r:id="rId4" imgW="1497950" imgH="25389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51" y="1435497"/>
                        <a:ext cx="2312894" cy="3397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237015"/>
              </p:ext>
            </p:extLst>
          </p:nvPr>
        </p:nvGraphicFramePr>
        <p:xfrm>
          <a:off x="936843" y="2619049"/>
          <a:ext cx="37147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" name="Equation" r:id="rId6" imgW="368140" imgH="253890" progId="Equation.DSMT4">
                  <p:embed/>
                </p:oleObj>
              </mc:Choice>
              <mc:Fallback>
                <p:oleObj name="Equation" r:id="rId6" imgW="368140" imgH="25389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843" y="2619049"/>
                        <a:ext cx="371475" cy="257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150380"/>
              </p:ext>
            </p:extLst>
          </p:nvPr>
        </p:nvGraphicFramePr>
        <p:xfrm>
          <a:off x="995232" y="3049981"/>
          <a:ext cx="37147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" name="Equation" r:id="rId8" imgW="368140" imgH="253890" progId="Equation.DSMT4">
                  <p:embed/>
                </p:oleObj>
              </mc:Choice>
              <mc:Fallback>
                <p:oleObj name="Equation" r:id="rId8" imgW="368140" imgH="25389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232" y="3049981"/>
                        <a:ext cx="371475" cy="25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" name="Object 1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321679"/>
              </p:ext>
            </p:extLst>
          </p:nvPr>
        </p:nvGraphicFramePr>
        <p:xfrm>
          <a:off x="1086026" y="3407109"/>
          <a:ext cx="449934" cy="347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9" name="Equation" r:id="rId10" imgW="330057" imgH="253890" progId="Equation.DSMT4">
                  <p:embed/>
                </p:oleObj>
              </mc:Choice>
              <mc:Fallback>
                <p:oleObj name="Equation" r:id="rId10" imgW="330057" imgH="25389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026" y="3407109"/>
                        <a:ext cx="449934" cy="34709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" name="Rectangle 32"/>
          <p:cNvSpPr>
            <a:spLocks noChangeArrowheads="1"/>
          </p:cNvSpPr>
          <p:nvPr/>
        </p:nvSpPr>
        <p:spPr bwMode="auto">
          <a:xfrm>
            <a:off x="857650" y="1873779"/>
            <a:ext cx="5985934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Trong đó: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 là nhiệt độ (theo thang Kelvin) tại đó phản ứng xảy ra;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94" name="Rectangle 33"/>
          <p:cNvSpPr>
            <a:spLocks noChangeArrowheads="1"/>
          </p:cNvSpPr>
          <p:nvPr/>
        </p:nvSpPr>
        <p:spPr bwMode="auto">
          <a:xfrm>
            <a:off x="1308318" y="2556463"/>
            <a:ext cx="752161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là biến thiên năng lượng tự do Gibbs chuẩn của phản ứng ở nhiệt độ T;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5" name="Rectangle 34"/>
          <p:cNvSpPr>
            <a:spLocks noChangeArrowheads="1"/>
          </p:cNvSpPr>
          <p:nvPr/>
        </p:nvSpPr>
        <p:spPr bwMode="auto">
          <a:xfrm>
            <a:off x="1423125" y="2981213"/>
            <a:ext cx="590257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 biến thiên enthalpy chuẩn của phản ứng ở nhiệt độ T;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6" name="Rectangle 35"/>
          <p:cNvSpPr>
            <a:spLocks noChangeArrowheads="1"/>
          </p:cNvSpPr>
          <p:nvPr/>
        </p:nvSpPr>
        <p:spPr bwMode="auto">
          <a:xfrm>
            <a:off x="1455425" y="3400258"/>
            <a:ext cx="647164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là biến thiên entropy chuẩn của phản ứng ở nhiệt độ T.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 ý: Đơn vị ΔG là kJ/mol thì ΔH là kJ/mol và ΔS kJ/mol·K.</a:t>
            </a:r>
            <a:endParaRPr kumimoji="0" lang="vi-V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7" name="4-Point Star 196"/>
          <p:cNvSpPr/>
          <p:nvPr/>
        </p:nvSpPr>
        <p:spPr>
          <a:xfrm>
            <a:off x="1635568" y="966983"/>
            <a:ext cx="387471" cy="310484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713119" y="131347"/>
            <a:ext cx="4657371" cy="4571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Google Shape;205;p20"/>
          <p:cNvSpPr txBox="1">
            <a:spLocks noGrp="1"/>
          </p:cNvSpPr>
          <p:nvPr>
            <p:ph type="ctrTitle" idx="4294967295"/>
          </p:nvPr>
        </p:nvSpPr>
        <p:spPr>
          <a:xfrm>
            <a:off x="-984677" y="35085"/>
            <a:ext cx="7611137" cy="57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vi-VN" sz="2000" dirty="0" smtClean="0">
                <a:solidFill>
                  <a:srgbClr val="FF0000"/>
                </a:solidFill>
                <a:latin typeface="+mj-lt"/>
              </a:rPr>
              <a:t>II. </a:t>
            </a:r>
            <a:r>
              <a:rPr lang="en-US" sz="2000" dirty="0" smtClean="0">
                <a:solidFill>
                  <a:srgbClr val="FF0000"/>
                </a:solidFill>
                <a:latin typeface="+mj-lt"/>
              </a:rPr>
              <a:t>NĂNG  LƯỢNG TỰ DO GIBBS:</a:t>
            </a:r>
            <a:endParaRPr sz="2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4294967295"/>
          </p:nvPr>
        </p:nvSpPr>
        <p:spPr>
          <a:xfrm>
            <a:off x="1561477" y="410825"/>
            <a:ext cx="5708499" cy="3636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u="sng" dirty="0" smtClean="0">
                <a:solidFill>
                  <a:srgbClr val="FF0000"/>
                </a:solidFill>
                <a:latin typeface="+mj-lt"/>
              </a:rPr>
              <a:t>CHÚ Ý</a:t>
            </a:r>
            <a:r>
              <a:rPr lang="vi-VN" sz="2400" u="sng" dirty="0" smtClean="0">
                <a:solidFill>
                  <a:srgbClr val="FF0000"/>
                </a:solidFill>
                <a:latin typeface="+mj-lt"/>
              </a:rPr>
              <a:t>:</a:t>
            </a:r>
            <a:endParaRPr lang="en-US" sz="2400" u="sng" dirty="0" smtClean="0">
              <a:solidFill>
                <a:srgbClr val="FF0000"/>
              </a:solidFill>
              <a:latin typeface="+mj-lt"/>
            </a:endParaRPr>
          </a:p>
          <a:p>
            <a:pPr marL="127000" indent="0">
              <a:buNone/>
            </a:pPr>
            <a:endParaRPr lang="en" sz="1400" dirty="0" smtClean="0">
              <a:latin typeface="+mj-lt"/>
            </a:endParaRPr>
          </a:p>
          <a:p>
            <a:endParaRPr lang="en-US" sz="1400" dirty="0" smtClean="0"/>
          </a:p>
          <a:p>
            <a:endParaRPr lang="en-US" sz="1400" dirty="0"/>
          </a:p>
          <a:p>
            <a:pPr marL="127000" lvl="0" indent="0">
              <a:buNone/>
            </a:pPr>
            <a:endParaRPr lang="en-US" altLang="en-US" sz="1400" dirty="0">
              <a:ea typeface="Calibri" panose="020F0502020204030204" pitchFamily="34" charset="0"/>
            </a:endParaRPr>
          </a:p>
          <a:p>
            <a:pPr marL="127000" lvl="0" indent="0">
              <a:buNone/>
            </a:pPr>
            <a:r>
              <a:rPr lang="vi-VN" alt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 nhiệt độ T, một phản ứng có </a:t>
            </a:r>
            <a:endParaRPr lang="vi-VN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</p:txBody>
      </p:sp>
      <p:grpSp>
        <p:nvGrpSpPr>
          <p:cNvPr id="207" name="Google Shape;207;p20"/>
          <p:cNvGrpSpPr/>
          <p:nvPr/>
        </p:nvGrpSpPr>
        <p:grpSpPr>
          <a:xfrm>
            <a:off x="6026896" y="3001325"/>
            <a:ext cx="1738561" cy="1738545"/>
            <a:chOff x="6643075" y="3664250"/>
            <a:chExt cx="407950" cy="407975"/>
          </a:xfrm>
        </p:grpSpPr>
        <p:sp>
          <p:nvSpPr>
            <p:cNvPr id="208" name="Google Shape;208;p20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20"/>
          <p:cNvGrpSpPr/>
          <p:nvPr/>
        </p:nvGrpSpPr>
        <p:grpSpPr>
          <a:xfrm rot="472129">
            <a:off x="55556" y="3782172"/>
            <a:ext cx="714809" cy="714768"/>
            <a:chOff x="576250" y="4319400"/>
            <a:chExt cx="442075" cy="442050"/>
          </a:xfrm>
        </p:grpSpPr>
        <p:sp>
          <p:nvSpPr>
            <p:cNvPr id="211" name="Google Shape;211;p20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" name="Google Shape;215;p20"/>
          <p:cNvSpPr/>
          <p:nvPr/>
        </p:nvSpPr>
        <p:spPr>
          <a:xfrm>
            <a:off x="5944012" y="185863"/>
            <a:ext cx="271742" cy="259470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"/>
          <p:cNvSpPr/>
          <p:nvPr/>
        </p:nvSpPr>
        <p:spPr>
          <a:xfrm rot="2697553">
            <a:off x="5408376" y="4630665"/>
            <a:ext cx="412519" cy="393888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7038058" y="1961585"/>
            <a:ext cx="165205" cy="157816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"/>
          <p:cNvSpPr/>
          <p:nvPr/>
        </p:nvSpPr>
        <p:spPr>
          <a:xfrm rot="1280074">
            <a:off x="7738823" y="944089"/>
            <a:ext cx="165200" cy="157799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-80682" y="2512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7" name="4-Point Star 196"/>
          <p:cNvSpPr/>
          <p:nvPr/>
        </p:nvSpPr>
        <p:spPr>
          <a:xfrm flipV="1">
            <a:off x="1739793" y="1126532"/>
            <a:ext cx="46996" cy="45719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134488"/>
              </p:ext>
            </p:extLst>
          </p:nvPr>
        </p:nvGraphicFramePr>
        <p:xfrm>
          <a:off x="1848430" y="1034378"/>
          <a:ext cx="37147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3" name="Equation" r:id="rId4" imgW="368140" imgH="253890" progId="Equation.DSMT4">
                  <p:embed/>
                </p:oleObj>
              </mc:Choice>
              <mc:Fallback>
                <p:oleObj name="Equation" r:id="rId4" imgW="368140" imgH="25389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430" y="1034378"/>
                        <a:ext cx="371475" cy="25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61513" y="971507"/>
            <a:ext cx="5759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 0: phản ứng tự xảy ra ở điều kiện chuẩn, nhiệt độ T.</a:t>
            </a:r>
            <a:endParaRPr kumimoji="0" lang="vi-V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578963"/>
              </p:ext>
            </p:extLst>
          </p:nvPr>
        </p:nvGraphicFramePr>
        <p:xfrm>
          <a:off x="1811817" y="1343780"/>
          <a:ext cx="37147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4" name="Equation" r:id="rId6" imgW="368140" imgH="253890" progId="Equation.DSMT4">
                  <p:embed/>
                </p:oleObj>
              </mc:Choice>
              <mc:Fallback>
                <p:oleObj name="Equation" r:id="rId6" imgW="368140" imgH="25389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817" y="1343780"/>
                        <a:ext cx="371475" cy="25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020111" y="1296393"/>
            <a:ext cx="65357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 0: phản ứng không tự xảy ra ở điều kiện chuẩn, nhiệt độ T.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25518" y="-8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348921"/>
              </p:ext>
            </p:extLst>
          </p:nvPr>
        </p:nvGraphicFramePr>
        <p:xfrm>
          <a:off x="1682985" y="1713436"/>
          <a:ext cx="452865" cy="315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5" name="Equation" r:id="rId7" imgW="368140" imgH="253890" progId="Equation.DSMT4">
                  <p:embed/>
                </p:oleObj>
              </mc:Choice>
              <mc:Fallback>
                <p:oleObj name="Equation" r:id="rId7" imgW="368140" imgH="25389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985" y="1713436"/>
                        <a:ext cx="452865" cy="3151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2076628" y="1701343"/>
            <a:ext cx="41456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0: phản ứng đạt trạng thái cân bằng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986410"/>
              </p:ext>
            </p:extLst>
          </p:nvPr>
        </p:nvGraphicFramePr>
        <p:xfrm>
          <a:off x="1670247" y="2543742"/>
          <a:ext cx="654613" cy="453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6" name="Equation" r:id="rId8" imgW="368140" imgH="253890" progId="Equation.DSMT4">
                  <p:embed/>
                </p:oleObj>
              </mc:Choice>
              <mc:Fallback>
                <p:oleObj name="Equation" r:id="rId8" imgW="368140" imgH="25389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247" y="2543742"/>
                        <a:ext cx="654613" cy="45319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2241722" y="2598564"/>
            <a:ext cx="609254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càng âm thì phản ứng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 xảy ra ở điều kiện chuẩn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càng thuận lợi và ngược lại.</a:t>
            </a:r>
            <a:endParaRPr kumimoji="0" lang="vi-V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4-Point Star 30"/>
          <p:cNvSpPr/>
          <p:nvPr/>
        </p:nvSpPr>
        <p:spPr>
          <a:xfrm flipH="1">
            <a:off x="1694073" y="2247410"/>
            <a:ext cx="45719" cy="60625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1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2327988" y="563279"/>
            <a:ext cx="6587305" cy="1802207"/>
          </a:xfrm>
          <a:prstGeom prst="rect">
            <a:avLst/>
          </a:prstGeom>
          <a:solidFill>
            <a:srgbClr val="008CF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rgbClr val="FFFF00"/>
              </a:solidFill>
              <a:latin typeface="Calibri" panose="020F0502020204030204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2114983" y="473599"/>
            <a:ext cx="290843" cy="2343457"/>
            <a:chOff x="1322576" y="181189"/>
            <a:chExt cx="387790" cy="2666783"/>
          </a:xfrm>
        </p:grpSpPr>
        <p:grpSp>
          <p:nvGrpSpPr>
            <p:cNvPr id="53" name="Group 52"/>
            <p:cNvGrpSpPr/>
            <p:nvPr/>
          </p:nvGrpSpPr>
          <p:grpSpPr>
            <a:xfrm>
              <a:off x="1322576" y="1379570"/>
              <a:ext cx="286946" cy="286946"/>
              <a:chOff x="505017" y="3662327"/>
              <a:chExt cx="286946" cy="286946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505017" y="3662327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87032" y="3741662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7" name="Left Bracket 56"/>
            <p:cNvSpPr/>
            <p:nvPr/>
          </p:nvSpPr>
          <p:spPr>
            <a:xfrm>
              <a:off x="1461286" y="181189"/>
              <a:ext cx="249080" cy="2666783"/>
            </a:xfrm>
            <a:prstGeom prst="leftBracket">
              <a:avLst/>
            </a:prstGeom>
            <a:ln w="38100">
              <a:solidFill>
                <a:srgbClr val="008C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8" name="Left Bracket 57"/>
          <p:cNvSpPr/>
          <p:nvPr/>
        </p:nvSpPr>
        <p:spPr>
          <a:xfrm flipH="1">
            <a:off x="8915294" y="532685"/>
            <a:ext cx="160628" cy="2343457"/>
          </a:xfrm>
          <a:prstGeom prst="leftBracket">
            <a:avLst/>
          </a:prstGeom>
          <a:ln w="38100">
            <a:solidFill>
              <a:srgbClr val="008C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437760" y="1031230"/>
            <a:ext cx="341961" cy="2441389"/>
            <a:chOff x="393013" y="1032069"/>
            <a:chExt cx="455948" cy="3255185"/>
          </a:xfrm>
        </p:grpSpPr>
        <p:cxnSp>
          <p:nvCxnSpPr>
            <p:cNvPr id="13" name="Straight Connector 12"/>
            <p:cNvCxnSpPr>
              <a:stCxn id="29" idx="4"/>
              <a:endCxn id="64" idx="0"/>
            </p:cNvCxnSpPr>
            <p:nvPr/>
          </p:nvCxnSpPr>
          <p:spPr>
            <a:xfrm flipH="1">
              <a:off x="620987" y="1032069"/>
              <a:ext cx="14515" cy="2799237"/>
            </a:xfrm>
            <a:prstGeom prst="line">
              <a:avLst/>
            </a:prstGeom>
            <a:ln w="12700"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393013" y="3831306"/>
              <a:ext cx="455948" cy="455948"/>
              <a:chOff x="268476" y="3198923"/>
              <a:chExt cx="286946" cy="286946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268476" y="3198923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50491" y="3278258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1" name="Group 30"/>
          <p:cNvGrpSpPr/>
          <p:nvPr/>
        </p:nvGrpSpPr>
        <p:grpSpPr>
          <a:xfrm>
            <a:off x="1434297" y="2444004"/>
            <a:ext cx="8058880" cy="2487448"/>
            <a:chOff x="388397" y="2887191"/>
            <a:chExt cx="10745171" cy="3316598"/>
          </a:xfrm>
        </p:grpSpPr>
        <p:grpSp>
          <p:nvGrpSpPr>
            <p:cNvPr id="23" name="Group 22"/>
            <p:cNvGrpSpPr/>
            <p:nvPr/>
          </p:nvGrpSpPr>
          <p:grpSpPr>
            <a:xfrm>
              <a:off x="620986" y="2887191"/>
              <a:ext cx="9049486" cy="3316598"/>
              <a:chOff x="1139780" y="1997242"/>
              <a:chExt cx="5638415" cy="3076474"/>
            </a:xfrm>
          </p:grpSpPr>
          <p:sp>
            <p:nvSpPr>
              <p:cNvPr id="18" name="Parallelogram 17"/>
              <p:cNvSpPr/>
              <p:nvPr/>
            </p:nvSpPr>
            <p:spPr>
              <a:xfrm>
                <a:off x="1139780" y="2661679"/>
                <a:ext cx="5638415" cy="2314998"/>
              </a:xfrm>
              <a:prstGeom prst="parallelogram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5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Parallelogram 6"/>
              <p:cNvSpPr/>
              <p:nvPr/>
            </p:nvSpPr>
            <p:spPr>
              <a:xfrm flipH="1">
                <a:off x="1200625" y="1997242"/>
                <a:ext cx="1403156" cy="534468"/>
              </a:xfrm>
              <a:prstGeom prst="parallelogram">
                <a:avLst/>
              </a:prstGeom>
              <a:solidFill>
                <a:srgbClr val="00FF4E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ĐÁP ÁN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418483" y="4847084"/>
                <a:ext cx="3113455" cy="226632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cxnSp>
          <p:nvCxnSpPr>
            <p:cNvPr id="75" name="Straight Connector 74"/>
            <p:cNvCxnSpPr/>
            <p:nvPr/>
          </p:nvCxnSpPr>
          <p:spPr>
            <a:xfrm>
              <a:off x="4419896" y="3819614"/>
              <a:ext cx="4997005" cy="0"/>
            </a:xfrm>
            <a:prstGeom prst="line">
              <a:avLst/>
            </a:prstGeom>
            <a:ln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878650" y="6032145"/>
              <a:ext cx="5519746" cy="0"/>
            </a:xfrm>
            <a:prstGeom prst="line">
              <a:avLst/>
            </a:prstGeom>
            <a:ln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Parallelogram 29"/>
                <p:cNvSpPr/>
                <p:nvPr/>
              </p:nvSpPr>
              <p:spPr>
                <a:xfrm>
                  <a:off x="388397" y="3525515"/>
                  <a:ext cx="10745171" cy="2651633"/>
                </a:xfrm>
                <a:prstGeom prst="parallelogram">
                  <a:avLst/>
                </a:prstGeom>
                <a:solidFill>
                  <a:srgbClr val="008CF5">
                    <a:alpha val="2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vi-VN" b="1" dirty="0">
                      <a:latin typeface="+mj-lt"/>
                    </a:rPr>
                    <a:t>Phương trình phản ứng: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KClO</a:t>
                  </a:r>
                  <a:r>
                    <a:rPr lang="vi-VN" b="1" baseline="-25000" dirty="0">
                      <a:latin typeface="+mj-lt"/>
                    </a:rPr>
                    <a:t>3</a:t>
                  </a:r>
                  <a:r>
                    <a:rPr lang="vi-VN" b="1" dirty="0">
                      <a:latin typeface="+mj-lt"/>
                    </a:rPr>
                    <a:t>(s) → KCl(s) + 3232O</a:t>
                  </a:r>
                  <a:r>
                    <a:rPr lang="vi-VN" b="1" baseline="-25000" dirty="0">
                      <a:latin typeface="+mj-lt"/>
                    </a:rPr>
                    <a:t>2</a:t>
                  </a:r>
                  <a:r>
                    <a:rPr lang="vi-VN" b="1" dirty="0">
                      <a:latin typeface="+mj-lt"/>
                    </a:rPr>
                    <a:t>(g)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Tại 25 </a:t>
                  </a:r>
                  <a:r>
                    <a:rPr lang="vi-VN" b="1" baseline="30000" dirty="0">
                      <a:latin typeface="+mj-lt"/>
                    </a:rPr>
                    <a:t>o</a:t>
                  </a:r>
                  <a:r>
                    <a:rPr lang="vi-VN" b="1" dirty="0">
                      <a:latin typeface="+mj-lt"/>
                    </a:rPr>
                    <a:t>C (hay 298K). Biến thiên entropy của phản ứng là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Δr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𝑺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dirty="0">
                      <a:latin typeface="+mj-lt"/>
                    </a:rPr>
                    <a:t>=∑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𝑺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baseline="-25000" dirty="0">
                      <a:latin typeface="+mj-lt"/>
                    </a:rPr>
                    <a:t>(sp)</a:t>
                  </a:r>
                  <a:r>
                    <a:rPr lang="vi-VN" b="1" dirty="0">
                      <a:latin typeface="+mj-lt"/>
                    </a:rPr>
                    <a:t>−∑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𝑺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baseline="-25000" dirty="0">
                      <a:latin typeface="+mj-lt"/>
                    </a:rPr>
                    <a:t>(cd)</a:t>
                  </a:r>
                  <a:r>
                    <a:rPr lang="vi-VN" b="1" dirty="0">
                      <a:latin typeface="+mj-lt"/>
                    </a:rPr>
                    <a:t>= (82,6 + 3232.205,0) – (1.143,1) = 247 (J/K)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Biến thiên enthalpy của phản ứng là: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Δr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𝑯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dirty="0">
                      <a:latin typeface="+mj-lt"/>
                    </a:rPr>
                    <a:t>=∑Δ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𝑯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baseline="-25000" dirty="0">
                      <a:latin typeface="+mj-lt"/>
                    </a:rPr>
                    <a:t>(sp)</a:t>
                  </a:r>
                  <a:r>
                    <a:rPr lang="vi-VN" b="1" dirty="0">
                      <a:latin typeface="+mj-lt"/>
                    </a:rPr>
                    <a:t>−∑Δ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𝑯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baseline="-25000" dirty="0">
                      <a:latin typeface="+mj-lt"/>
                    </a:rPr>
                    <a:t>(cd</a:t>
                  </a:r>
                  <a:r>
                    <a:rPr lang="vi-VN" b="1" dirty="0">
                      <a:latin typeface="+mj-lt"/>
                    </a:rPr>
                    <a:t>= [1.(-436,7) + 3232.0] – [1.(-397,7)] = -39 kJ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⇒ Δr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𝑮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dirty="0">
                      <a:latin typeface="+mj-lt"/>
                    </a:rPr>
                    <a:t>=Δr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𝑯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dirty="0">
                      <a:latin typeface="+mj-lt"/>
                    </a:rPr>
                    <a:t>−298.Δr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𝑺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dirty="0">
                      <a:latin typeface="+mj-lt"/>
                    </a:rPr>
                    <a:t> = –39.10</a:t>
                  </a:r>
                  <a:r>
                    <a:rPr lang="vi-VN" b="1" baseline="30000" dirty="0">
                      <a:latin typeface="+mj-lt"/>
                    </a:rPr>
                    <a:t>3</a:t>
                  </a:r>
                  <a:r>
                    <a:rPr lang="vi-VN" b="1" dirty="0">
                      <a:latin typeface="+mj-lt"/>
                    </a:rPr>
                    <a:t> – 298. 247 = – 112 606 J &lt; 0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⇒ Ở điều kiện 25</a:t>
                  </a:r>
                  <a:r>
                    <a:rPr lang="vi-VN" b="1" baseline="30000" dirty="0">
                      <a:latin typeface="+mj-lt"/>
                    </a:rPr>
                    <a:t>o</a:t>
                  </a:r>
                  <a:r>
                    <a:rPr lang="vi-VN" b="1" dirty="0">
                      <a:latin typeface="+mj-lt"/>
                    </a:rPr>
                    <a:t>C, phản ứng tự xảy ra được</a:t>
                  </a:r>
                  <a:endParaRPr lang="en-US" b="1" dirty="0">
                    <a:latin typeface="+mj-lt"/>
                  </a:endParaRPr>
                </a:p>
              </p:txBody>
            </p:sp>
          </mc:Choice>
          <mc:Fallback>
            <p:sp>
              <p:nvSpPr>
                <p:cNvPr id="30" name="Parallelogram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397" y="3525515"/>
                  <a:ext cx="10745171" cy="2651633"/>
                </a:xfrm>
                <a:prstGeom prst="parallelogram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/>
          <p:cNvGrpSpPr/>
          <p:nvPr/>
        </p:nvGrpSpPr>
        <p:grpSpPr>
          <a:xfrm>
            <a:off x="1216632" y="228299"/>
            <a:ext cx="811716" cy="811716"/>
            <a:chOff x="83662" y="159259"/>
            <a:chExt cx="1082288" cy="1082288"/>
          </a:xfrm>
        </p:grpSpPr>
        <p:sp>
          <p:nvSpPr>
            <p:cNvPr id="29" name="Oval 28"/>
            <p:cNvSpPr/>
            <p:nvPr/>
          </p:nvSpPr>
          <p:spPr>
            <a:xfrm>
              <a:off x="91433" y="170721"/>
              <a:ext cx="1059109" cy="1059109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8CF5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0" b="1" dirty="0">
                <a:solidFill>
                  <a:srgbClr val="008CF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662" y="159259"/>
              <a:ext cx="1082288" cy="1082288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0649" y="240741"/>
              <a:ext cx="757177" cy="937456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323241" y="277250"/>
              <a:ext cx="603156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750" b="1" dirty="0" smtClean="0">
                  <a:solidFill>
                    <a:srgbClr val="00FF4E"/>
                  </a:solidFill>
                  <a:effectLst>
                    <a:glow rad="88900">
                      <a:srgbClr val="00FF4E">
                        <a:alpha val="60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3750" b="1" dirty="0">
                <a:solidFill>
                  <a:srgbClr val="00FF4E"/>
                </a:solidFill>
                <a:effectLst>
                  <a:glow rad="88900">
                    <a:srgbClr val="00FF4E">
                      <a:alpha val="60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8" name="Picture 115" descr="ALRMCLOK"/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236" y="1665655"/>
            <a:ext cx="648320" cy="78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Oval 176"/>
          <p:cNvSpPr>
            <a:spLocks noChangeArrowheads="1"/>
          </p:cNvSpPr>
          <p:nvPr/>
        </p:nvSpPr>
        <p:spPr bwMode="auto">
          <a:xfrm>
            <a:off x="1434543" y="189053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10</a:t>
            </a:r>
          </a:p>
        </p:txBody>
      </p:sp>
      <p:sp>
        <p:nvSpPr>
          <p:cNvPr id="45" name="Oval 176"/>
          <p:cNvSpPr>
            <a:spLocks noChangeArrowheads="1"/>
          </p:cNvSpPr>
          <p:nvPr/>
        </p:nvSpPr>
        <p:spPr bwMode="auto">
          <a:xfrm>
            <a:off x="1437617" y="1869956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9</a:t>
            </a:r>
          </a:p>
        </p:txBody>
      </p:sp>
      <p:sp>
        <p:nvSpPr>
          <p:cNvPr id="46" name="Oval 176"/>
          <p:cNvSpPr>
            <a:spLocks noChangeArrowheads="1"/>
          </p:cNvSpPr>
          <p:nvPr/>
        </p:nvSpPr>
        <p:spPr bwMode="auto">
          <a:xfrm>
            <a:off x="1434297" y="190065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8</a:t>
            </a:r>
          </a:p>
        </p:txBody>
      </p:sp>
      <p:sp>
        <p:nvSpPr>
          <p:cNvPr id="47" name="Oval 176"/>
          <p:cNvSpPr>
            <a:spLocks noChangeArrowheads="1"/>
          </p:cNvSpPr>
          <p:nvPr/>
        </p:nvSpPr>
        <p:spPr bwMode="auto">
          <a:xfrm>
            <a:off x="1447185" y="188258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7</a:t>
            </a:r>
          </a:p>
        </p:txBody>
      </p:sp>
      <p:sp>
        <p:nvSpPr>
          <p:cNvPr id="48" name="Oval 176"/>
          <p:cNvSpPr>
            <a:spLocks noChangeArrowheads="1"/>
          </p:cNvSpPr>
          <p:nvPr/>
        </p:nvSpPr>
        <p:spPr bwMode="auto">
          <a:xfrm>
            <a:off x="1437617" y="189301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6</a:t>
            </a:r>
          </a:p>
        </p:txBody>
      </p:sp>
      <p:sp>
        <p:nvSpPr>
          <p:cNvPr id="49" name="Oval 176"/>
          <p:cNvSpPr>
            <a:spLocks noChangeArrowheads="1"/>
          </p:cNvSpPr>
          <p:nvPr/>
        </p:nvSpPr>
        <p:spPr bwMode="auto">
          <a:xfrm>
            <a:off x="1446172" y="189032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5</a:t>
            </a:r>
          </a:p>
        </p:txBody>
      </p:sp>
      <p:sp>
        <p:nvSpPr>
          <p:cNvPr id="50" name="Oval 176"/>
          <p:cNvSpPr>
            <a:spLocks noChangeArrowheads="1"/>
          </p:cNvSpPr>
          <p:nvPr/>
        </p:nvSpPr>
        <p:spPr bwMode="auto">
          <a:xfrm>
            <a:off x="1419799" y="189200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4</a:t>
            </a:r>
          </a:p>
        </p:txBody>
      </p:sp>
      <p:sp>
        <p:nvSpPr>
          <p:cNvPr id="51" name="Oval 176"/>
          <p:cNvSpPr>
            <a:spLocks noChangeArrowheads="1"/>
          </p:cNvSpPr>
          <p:nvPr/>
        </p:nvSpPr>
        <p:spPr bwMode="auto">
          <a:xfrm>
            <a:off x="1424975" y="187247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3</a:t>
            </a:r>
          </a:p>
        </p:txBody>
      </p:sp>
      <p:sp>
        <p:nvSpPr>
          <p:cNvPr id="52" name="Oval 176"/>
          <p:cNvSpPr>
            <a:spLocks noChangeArrowheads="1"/>
          </p:cNvSpPr>
          <p:nvPr/>
        </p:nvSpPr>
        <p:spPr bwMode="auto">
          <a:xfrm>
            <a:off x="1438390" y="188606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2</a:t>
            </a:r>
          </a:p>
        </p:txBody>
      </p:sp>
      <p:sp>
        <p:nvSpPr>
          <p:cNvPr id="56" name="Oval 176"/>
          <p:cNvSpPr>
            <a:spLocks noChangeArrowheads="1"/>
          </p:cNvSpPr>
          <p:nvPr/>
        </p:nvSpPr>
        <p:spPr bwMode="auto">
          <a:xfrm>
            <a:off x="1446172" y="185474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</a:t>
            </a:r>
          </a:p>
        </p:txBody>
      </p:sp>
      <p:sp>
        <p:nvSpPr>
          <p:cNvPr id="59" name="Oval 176"/>
          <p:cNvSpPr>
            <a:spLocks noChangeArrowheads="1"/>
          </p:cNvSpPr>
          <p:nvPr/>
        </p:nvSpPr>
        <p:spPr bwMode="auto">
          <a:xfrm>
            <a:off x="1414741" y="1876741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100" dirty="0">
                <a:solidFill>
                  <a:srgbClr val="DC2608"/>
                </a:solidFill>
                <a:latin typeface=".VnBlack" pitchFamily="34" charset="0"/>
              </a:rPr>
              <a:t>0</a:t>
            </a:r>
          </a:p>
        </p:txBody>
      </p:sp>
      <p:pic>
        <p:nvPicPr>
          <p:cNvPr id="42" name="Picture 41">
            <a:hlinkHover r:id="rId11" highlightClick="1">
              <a:snd r:embed="rId10" name="applause.wav"/>
            </a:hlinkHover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268" y="3306668"/>
            <a:ext cx="1018050" cy="974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27989" y="611160"/>
            <a:ext cx="65873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(</a:t>
            </a:r>
            <a:r>
              <a:rPr lang="vi-VN" sz="1800" b="1" dirty="0" smtClean="0">
                <a:latin typeface="Times New Roman" pitchFamily="18" charset="0"/>
                <a:cs typeface="Times New Roman" pitchFamily="18" charset="0"/>
              </a:rPr>
              <a:t>Câu </a:t>
            </a:r>
            <a:r>
              <a:rPr lang="vi-VN" sz="1800" b="1" dirty="0">
                <a:latin typeface="Times New Roman" pitchFamily="18" charset="0"/>
                <a:cs typeface="Times New Roman" pitchFamily="18" charset="0"/>
              </a:rPr>
              <a:t>hỏi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vi-VN" sz="1800" b="1" dirty="0" smtClean="0">
                <a:latin typeface="Times New Roman" pitchFamily="18" charset="0"/>
                <a:cs typeface="Times New Roman" pitchFamily="18" charset="0"/>
              </a:rPr>
              <a:t>trang 2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vi-VN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1800" b="1" dirty="0">
                <a:latin typeface="Times New Roman" pitchFamily="18" charset="0"/>
                <a:cs typeface="Times New Roman" pitchFamily="18" charset="0"/>
              </a:rPr>
              <a:t>Chuyên đề Hóa </a:t>
            </a:r>
            <a:r>
              <a:rPr lang="vi-VN" sz="1800" b="1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vi-VN" altLang="en-US" sz="1800" dirty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Phản ứng phân huỷ của potassium chlorate: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KClO</a:t>
            </a:r>
            <a:r>
              <a:rPr lang="vi-VN" sz="18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(s) → KCl(s) + 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2O</a:t>
            </a:r>
            <a:r>
              <a:rPr lang="vi-VN" sz="1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(g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Dựa vào các giá trị của 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ΔfH</a:t>
            </a:r>
            <a:r>
              <a:rPr lang="vi-VN" sz="18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vi-VN" sz="1800" baseline="-25000" dirty="0" smtClean="0">
                <a:latin typeface="Times New Roman" pitchFamily="18" charset="0"/>
                <a:cs typeface="Times New Roman" pitchFamily="18" charset="0"/>
              </a:rPr>
              <a:t>298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,S</a:t>
            </a:r>
            <a:r>
              <a:rPr lang="vi-VN" sz="18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vi-VN" sz="1800" baseline="-25000" dirty="0" smtClean="0">
                <a:latin typeface="Times New Roman" pitchFamily="18" charset="0"/>
                <a:cs typeface="Times New Roman" pitchFamily="18" charset="0"/>
              </a:rPr>
              <a:t>298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 ,  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ΔfH</a:t>
            </a:r>
            <a:r>
              <a:rPr lang="vi-VN" sz="1800" baseline="-25000" dirty="0" smtClean="0">
                <a:latin typeface="Times New Roman" pitchFamily="18" charset="0"/>
                <a:cs typeface="Times New Roman" pitchFamily="18" charset="0"/>
              </a:rPr>
              <a:t>298</a:t>
            </a:r>
            <a:r>
              <a:rPr lang="vi-VN" sz="18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 S</a:t>
            </a:r>
            <a:r>
              <a:rPr lang="vi-VN" sz="1800" baseline="-25000" dirty="0">
                <a:latin typeface="Times New Roman" pitchFamily="18" charset="0"/>
                <a:cs typeface="Times New Roman" pitchFamily="18" charset="0"/>
              </a:rPr>
              <a:t>298</a:t>
            </a:r>
            <a:r>
              <a:rPr lang="vi-VN" sz="1800" baseline="300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 ở Bảng 4.1 để tính toán và cho biết ở điều kiện chuẩn phản ứng có khả năng tự xảy ra ở 25 °C không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3119718" y="42267"/>
            <a:ext cx="3505200" cy="389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VẬN DỤNG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(PHT </a:t>
            </a:r>
            <a:r>
              <a:rPr lang="en-US" dirty="0" err="1" smtClean="0">
                <a:solidFill>
                  <a:srgbClr val="FF0000"/>
                </a:solidFill>
              </a:rPr>
              <a:t>Số</a:t>
            </a:r>
            <a:r>
              <a:rPr lang="en-US" dirty="0" smtClean="0">
                <a:solidFill>
                  <a:srgbClr val="FF0000"/>
                </a:solidFill>
              </a:rPr>
              <a:t> 2.2)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2" name="AutoShape 1" descr="C:\Users\Admin\AppData\Local\Temp\msohtmlclip1\01\clip_image006.png"/>
          <p:cNvSpPr>
            <a:spLocks noChangeAspect="1" noChangeArrowheads="1"/>
          </p:cNvSpPr>
          <p:nvPr/>
        </p:nvSpPr>
        <p:spPr bwMode="auto">
          <a:xfrm>
            <a:off x="1" y="0"/>
            <a:ext cx="64994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8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3beep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GU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8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2327989" y="563279"/>
            <a:ext cx="6474916" cy="1537401"/>
          </a:xfrm>
          <a:prstGeom prst="rect">
            <a:avLst/>
          </a:prstGeom>
          <a:solidFill>
            <a:srgbClr val="008CF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rgbClr val="FFFF00"/>
              </a:solidFill>
              <a:latin typeface="Calibri" panose="020F0502020204030204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2114983" y="473599"/>
            <a:ext cx="290843" cy="2343457"/>
            <a:chOff x="1322576" y="181189"/>
            <a:chExt cx="387790" cy="2666783"/>
          </a:xfrm>
        </p:grpSpPr>
        <p:grpSp>
          <p:nvGrpSpPr>
            <p:cNvPr id="53" name="Group 52"/>
            <p:cNvGrpSpPr/>
            <p:nvPr/>
          </p:nvGrpSpPr>
          <p:grpSpPr>
            <a:xfrm>
              <a:off x="1322576" y="1379570"/>
              <a:ext cx="286946" cy="286946"/>
              <a:chOff x="505017" y="3662327"/>
              <a:chExt cx="286946" cy="286946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505017" y="3662327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87032" y="3741662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7" name="Left Bracket 56"/>
            <p:cNvSpPr/>
            <p:nvPr/>
          </p:nvSpPr>
          <p:spPr>
            <a:xfrm>
              <a:off x="1461286" y="181189"/>
              <a:ext cx="249080" cy="2666783"/>
            </a:xfrm>
            <a:prstGeom prst="leftBracket">
              <a:avLst/>
            </a:prstGeom>
            <a:ln w="38100">
              <a:solidFill>
                <a:srgbClr val="008C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8" name="Left Bracket 57"/>
          <p:cNvSpPr/>
          <p:nvPr/>
        </p:nvSpPr>
        <p:spPr>
          <a:xfrm flipH="1">
            <a:off x="8722591" y="495163"/>
            <a:ext cx="160628" cy="2343457"/>
          </a:xfrm>
          <a:prstGeom prst="leftBracket">
            <a:avLst/>
          </a:prstGeom>
          <a:ln w="38100">
            <a:solidFill>
              <a:srgbClr val="008C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437760" y="1031230"/>
            <a:ext cx="341961" cy="2441389"/>
            <a:chOff x="393013" y="1032069"/>
            <a:chExt cx="455948" cy="3255185"/>
          </a:xfrm>
        </p:grpSpPr>
        <p:cxnSp>
          <p:nvCxnSpPr>
            <p:cNvPr id="13" name="Straight Connector 12"/>
            <p:cNvCxnSpPr>
              <a:stCxn id="29" idx="4"/>
              <a:endCxn id="64" idx="0"/>
            </p:cNvCxnSpPr>
            <p:nvPr/>
          </p:nvCxnSpPr>
          <p:spPr>
            <a:xfrm flipH="1">
              <a:off x="620987" y="1032069"/>
              <a:ext cx="14515" cy="2799237"/>
            </a:xfrm>
            <a:prstGeom prst="line">
              <a:avLst/>
            </a:prstGeom>
            <a:ln w="12700"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393013" y="3831306"/>
              <a:ext cx="455948" cy="455948"/>
              <a:chOff x="268476" y="3198923"/>
              <a:chExt cx="286946" cy="286946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268476" y="3198923"/>
                <a:ext cx="286946" cy="286946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50491" y="3278258"/>
                <a:ext cx="122915" cy="122915"/>
              </a:xfrm>
              <a:prstGeom prst="ellipse">
                <a:avLst/>
              </a:prstGeom>
              <a:solidFill>
                <a:srgbClr val="008C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1" name="Group 30"/>
          <p:cNvGrpSpPr/>
          <p:nvPr/>
        </p:nvGrpSpPr>
        <p:grpSpPr>
          <a:xfrm>
            <a:off x="1238675" y="2165533"/>
            <a:ext cx="8064507" cy="2751035"/>
            <a:chOff x="-590802" y="3033668"/>
            <a:chExt cx="9407083" cy="3668046"/>
          </a:xfrm>
        </p:grpSpPr>
        <p:grpSp>
          <p:nvGrpSpPr>
            <p:cNvPr id="23" name="Group 22"/>
            <p:cNvGrpSpPr/>
            <p:nvPr/>
          </p:nvGrpSpPr>
          <p:grpSpPr>
            <a:xfrm>
              <a:off x="-159128" y="3033668"/>
              <a:ext cx="8377935" cy="3668046"/>
              <a:chOff x="653719" y="2133114"/>
              <a:chExt cx="5219996" cy="3402477"/>
            </a:xfrm>
          </p:grpSpPr>
          <p:sp>
            <p:nvSpPr>
              <p:cNvPr id="18" name="Parallelogram 17"/>
              <p:cNvSpPr/>
              <p:nvPr/>
            </p:nvSpPr>
            <p:spPr>
              <a:xfrm>
                <a:off x="653719" y="2652519"/>
                <a:ext cx="5219996" cy="2883072"/>
              </a:xfrm>
              <a:prstGeom prst="parallelogram">
                <a:avLst/>
              </a:prstGeom>
              <a:solidFill>
                <a:srgbClr val="212121"/>
              </a:solidFill>
              <a:ln>
                <a:noFill/>
              </a:ln>
              <a:effectLst>
                <a:glow rad="127000">
                  <a:srgbClr val="008CF5"/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5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Parallelogram 6"/>
              <p:cNvSpPr/>
              <p:nvPr/>
            </p:nvSpPr>
            <p:spPr>
              <a:xfrm flipH="1">
                <a:off x="1058581" y="2133114"/>
                <a:ext cx="1403156" cy="534468"/>
              </a:xfrm>
              <a:prstGeom prst="parallelogram">
                <a:avLst/>
              </a:prstGeom>
              <a:solidFill>
                <a:srgbClr val="00FF4E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ĐÁP ÁN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418483" y="4847084"/>
                <a:ext cx="3113455" cy="226632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cxnSp>
          <p:nvCxnSpPr>
            <p:cNvPr id="75" name="Straight Connector 74"/>
            <p:cNvCxnSpPr/>
            <p:nvPr/>
          </p:nvCxnSpPr>
          <p:spPr>
            <a:xfrm>
              <a:off x="3401748" y="3724562"/>
              <a:ext cx="4997003" cy="0"/>
            </a:xfrm>
            <a:prstGeom prst="line">
              <a:avLst/>
            </a:prstGeom>
            <a:ln>
              <a:solidFill>
                <a:srgbClr val="008CF5"/>
              </a:solidFill>
            </a:ln>
            <a:effectLst>
              <a:glow rad="127000">
                <a:srgbClr val="008CF5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Parallelogram 29"/>
                <p:cNvSpPr/>
                <p:nvPr/>
              </p:nvSpPr>
              <p:spPr>
                <a:xfrm>
                  <a:off x="-590802" y="3648241"/>
                  <a:ext cx="9407083" cy="3002586"/>
                </a:xfrm>
                <a:prstGeom prst="parallelogram">
                  <a:avLst/>
                </a:prstGeom>
                <a:solidFill>
                  <a:srgbClr val="008CF5">
                    <a:alpha val="2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vi-VN" b="1" dirty="0">
                      <a:latin typeface="+mj-lt"/>
                    </a:rPr>
                    <a:t>Phương trình phản ứng: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3C</a:t>
                  </a:r>
                  <a:r>
                    <a:rPr lang="vi-VN" b="1" baseline="-25000" dirty="0">
                      <a:latin typeface="+mj-lt"/>
                    </a:rPr>
                    <a:t>(graphite)</a:t>
                  </a:r>
                  <a:r>
                    <a:rPr lang="vi-VN" b="1" dirty="0">
                      <a:latin typeface="+mj-lt"/>
                    </a:rPr>
                    <a:t> + 2Fe</a:t>
                  </a:r>
                  <a:r>
                    <a:rPr lang="vi-VN" b="1" baseline="-25000" dirty="0">
                      <a:latin typeface="+mj-lt"/>
                    </a:rPr>
                    <a:t>2</a:t>
                  </a:r>
                  <a:r>
                    <a:rPr lang="vi-VN" b="1" dirty="0">
                      <a:latin typeface="+mj-lt"/>
                    </a:rPr>
                    <a:t>O</a:t>
                  </a:r>
                  <a:r>
                    <a:rPr lang="vi-VN" b="1" baseline="-25000" dirty="0">
                      <a:latin typeface="+mj-lt"/>
                    </a:rPr>
                    <a:t>3</a:t>
                  </a:r>
                  <a:r>
                    <a:rPr lang="vi-VN" b="1" dirty="0">
                      <a:latin typeface="+mj-lt"/>
                    </a:rPr>
                    <a:t>(s) ⟶ 4Fe(s) + 3CO</a:t>
                  </a:r>
                  <a:r>
                    <a:rPr lang="vi-VN" b="1" baseline="-25000" dirty="0">
                      <a:latin typeface="+mj-lt"/>
                    </a:rPr>
                    <a:t>2</a:t>
                  </a:r>
                  <a:r>
                    <a:rPr lang="vi-VN" b="1" dirty="0">
                      <a:latin typeface="+mj-lt"/>
                    </a:rPr>
                    <a:t>(g)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Tại 25 </a:t>
                  </a:r>
                  <a:r>
                    <a:rPr lang="vi-VN" b="1" baseline="30000" dirty="0">
                      <a:latin typeface="+mj-lt"/>
                    </a:rPr>
                    <a:t>o</a:t>
                  </a:r>
                  <a:r>
                    <a:rPr lang="vi-VN" b="1" dirty="0">
                      <a:latin typeface="+mj-lt"/>
                    </a:rPr>
                    <a:t>C (hay 298K). Biến thiên entropy của phản ứng là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Δr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𝑺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dirty="0">
                      <a:latin typeface="+mj-lt"/>
                    </a:rPr>
                    <a:t>=∑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𝑺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baseline="-25000" dirty="0">
                      <a:latin typeface="+mj-lt"/>
                    </a:rPr>
                    <a:t>(sp)</a:t>
                  </a:r>
                  <a:r>
                    <a:rPr lang="vi-VN" b="1" dirty="0">
                      <a:latin typeface="+mj-lt"/>
                    </a:rPr>
                    <a:t>−∑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𝑺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baseline="-25000" dirty="0">
                      <a:latin typeface="+mj-lt"/>
                    </a:rPr>
                    <a:t>(cd)</a:t>
                  </a:r>
                  <a:r>
                    <a:rPr lang="vi-VN" b="1" dirty="0">
                      <a:latin typeface="+mj-lt"/>
                    </a:rPr>
                    <a:t>= (4.27,3 + 3.213,7) – (3.5,7 + 2.87,4) = 558,4 (J/K)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Biến thiên enthalpy của phản ứng là: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Δr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𝑯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baseline="30000" dirty="0">
                      <a:latin typeface="+mj-lt"/>
                    </a:rPr>
                    <a:t> </a:t>
                  </a:r>
                  <a:r>
                    <a:rPr lang="vi-VN" b="1" dirty="0">
                      <a:latin typeface="+mj-lt"/>
                    </a:rPr>
                    <a:t>=∑Δ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𝑯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baseline="-25000" dirty="0">
                      <a:latin typeface="+mj-lt"/>
                    </a:rPr>
                    <a:t>(sp)</a:t>
                  </a:r>
                  <a:r>
                    <a:rPr lang="vi-VN" b="1" dirty="0">
                      <a:latin typeface="+mj-lt"/>
                    </a:rPr>
                    <a:t>−∑Δ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𝑯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baseline="-25000" dirty="0">
                      <a:latin typeface="+mj-lt"/>
                    </a:rPr>
                    <a:t>(cd) </a:t>
                  </a:r>
                  <a:r>
                    <a:rPr lang="vi-VN" b="1" dirty="0">
                      <a:latin typeface="+mj-lt"/>
                    </a:rPr>
                    <a:t>= [4.0 + 3.(-393,5)] – [3.0 + 2.(-825,5)] = 470,5 kJ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⇒ Δr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𝑮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dirty="0">
                      <a:latin typeface="+mj-lt"/>
                    </a:rPr>
                    <a:t>=Δr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𝑯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dirty="0">
                      <a:latin typeface="+mj-lt"/>
                    </a:rPr>
                    <a:t>−298.Δr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+mj-lt"/>
                            </a:rPr>
                          </m:ctrlPr>
                        </m:sSubSupPr>
                        <m:e>
                          <m:r>
                            <a:rPr lang="vi-VN" b="1" i="1">
                              <a:latin typeface="+mj-lt"/>
                            </a:rPr>
                            <m:t>𝑺</m:t>
                          </m:r>
                        </m:e>
                        <m:sub>
                          <m:r>
                            <a:rPr lang="vi-VN" b="1" i="1">
                              <a:latin typeface="+mj-lt"/>
                            </a:rPr>
                            <m:t>𝟐𝟗𝟖</m:t>
                          </m:r>
                        </m:sub>
                        <m:sup>
                          <m:r>
                            <a:rPr lang="vi-VN" b="1" i="1">
                              <a:latin typeface="+mj-lt"/>
                            </a:rPr>
                            <m:t>𝟎</m:t>
                          </m:r>
                        </m:sup>
                      </m:sSubSup>
                    </m:oMath>
                  </a14:m>
                  <a:r>
                    <a:rPr lang="vi-VN" b="1" dirty="0">
                      <a:latin typeface="+mj-lt"/>
                    </a:rPr>
                    <a:t> = 470,5.10</a:t>
                  </a:r>
                  <a:r>
                    <a:rPr lang="vi-VN" b="1" baseline="30000" dirty="0">
                      <a:latin typeface="+mj-lt"/>
                    </a:rPr>
                    <a:t>3</a:t>
                  </a:r>
                  <a:r>
                    <a:rPr lang="vi-VN" b="1" dirty="0">
                      <a:latin typeface="+mj-lt"/>
                    </a:rPr>
                    <a:t> – 298. 558,4 = 304 096,8 J &gt; 0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⇒ Phản ứng không tự xảy ra.</a:t>
                  </a:r>
                  <a:endParaRPr lang="en-US" b="1" dirty="0">
                    <a:latin typeface="+mj-lt"/>
                  </a:endParaRPr>
                </a:p>
                <a:p>
                  <a:r>
                    <a:rPr lang="vi-VN" b="1" dirty="0">
                      <a:latin typeface="+mj-lt"/>
                    </a:rPr>
                    <a:t>⇒ Ở điều kiện 25</a:t>
                  </a:r>
                  <a:r>
                    <a:rPr lang="vi-VN" b="1" baseline="30000" dirty="0">
                      <a:latin typeface="+mj-lt"/>
                    </a:rPr>
                    <a:t>o</a:t>
                  </a:r>
                  <a:r>
                    <a:rPr lang="vi-VN" b="1" dirty="0">
                      <a:latin typeface="+mj-lt"/>
                    </a:rPr>
                    <a:t>C, không thể dùng C (graphite) để khử Fe</a:t>
                  </a:r>
                  <a:r>
                    <a:rPr lang="vi-VN" b="1" baseline="-25000" dirty="0">
                      <a:latin typeface="+mj-lt"/>
                    </a:rPr>
                    <a:t>2</a:t>
                  </a:r>
                  <a:r>
                    <a:rPr lang="vi-VN" b="1" dirty="0">
                      <a:latin typeface="+mj-lt"/>
                    </a:rPr>
                    <a:t>O</a:t>
                  </a:r>
                  <a:r>
                    <a:rPr lang="vi-VN" b="1" baseline="-25000" dirty="0">
                      <a:latin typeface="+mj-lt"/>
                    </a:rPr>
                    <a:t>3</a:t>
                  </a:r>
                  <a:r>
                    <a:rPr lang="vi-VN" b="1" dirty="0">
                      <a:latin typeface="+mj-lt"/>
                    </a:rPr>
                    <a:t> thành Fe được.</a:t>
                  </a:r>
                  <a:endParaRPr lang="en-US" b="1" dirty="0">
                    <a:latin typeface="+mj-lt"/>
                  </a:endParaRPr>
                </a:p>
              </p:txBody>
            </p:sp>
          </mc:Choice>
          <mc:Fallback>
            <p:sp>
              <p:nvSpPr>
                <p:cNvPr id="30" name="Parallelogram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90802" y="3648241"/>
                  <a:ext cx="9407083" cy="3002586"/>
                </a:xfrm>
                <a:prstGeom prst="parallelogram">
                  <a:avLst/>
                </a:prstGeom>
                <a:blipFill rotWithShape="1">
                  <a:blip r:embed="rId6"/>
                  <a:stretch>
                    <a:fillRect t="-1084" b="-352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3566795" y="3395377"/>
              <a:ext cx="4997005" cy="303749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1216632" y="228299"/>
            <a:ext cx="811716" cy="811716"/>
            <a:chOff x="83662" y="159259"/>
            <a:chExt cx="1082288" cy="1082288"/>
          </a:xfrm>
        </p:grpSpPr>
        <p:sp>
          <p:nvSpPr>
            <p:cNvPr id="29" name="Oval 28"/>
            <p:cNvSpPr/>
            <p:nvPr/>
          </p:nvSpPr>
          <p:spPr>
            <a:xfrm>
              <a:off x="91433" y="170721"/>
              <a:ext cx="1059109" cy="1059109"/>
            </a:xfrm>
            <a:prstGeom prst="ellipse">
              <a:avLst/>
            </a:prstGeom>
            <a:solidFill>
              <a:srgbClr val="212121"/>
            </a:solidFill>
            <a:ln>
              <a:noFill/>
            </a:ln>
            <a:effectLst>
              <a:glow rad="127000">
                <a:srgbClr val="008CF5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0" b="1" dirty="0">
                <a:solidFill>
                  <a:srgbClr val="008CF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662" y="159259"/>
              <a:ext cx="1082288" cy="1082288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0649" y="240741"/>
              <a:ext cx="757177" cy="937456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323241" y="277250"/>
              <a:ext cx="603157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750" b="1" dirty="0">
                  <a:solidFill>
                    <a:srgbClr val="00FF4E"/>
                  </a:solidFill>
                  <a:effectLst>
                    <a:glow rad="88900">
                      <a:srgbClr val="00FF4E">
                        <a:alpha val="60000"/>
                      </a:srgb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  <p:pic>
        <p:nvPicPr>
          <p:cNvPr id="38" name="Picture 115" descr="ALRMCLOK"/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236" y="1665655"/>
            <a:ext cx="648320" cy="78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Oval 176"/>
          <p:cNvSpPr>
            <a:spLocks noChangeArrowheads="1"/>
          </p:cNvSpPr>
          <p:nvPr/>
        </p:nvSpPr>
        <p:spPr bwMode="auto">
          <a:xfrm>
            <a:off x="1434543" y="189053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10</a:t>
            </a:r>
          </a:p>
        </p:txBody>
      </p:sp>
      <p:sp>
        <p:nvSpPr>
          <p:cNvPr id="45" name="Oval 176"/>
          <p:cNvSpPr>
            <a:spLocks noChangeArrowheads="1"/>
          </p:cNvSpPr>
          <p:nvPr/>
        </p:nvSpPr>
        <p:spPr bwMode="auto">
          <a:xfrm>
            <a:off x="1437617" y="1869956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9</a:t>
            </a:r>
          </a:p>
        </p:txBody>
      </p:sp>
      <p:sp>
        <p:nvSpPr>
          <p:cNvPr id="46" name="Oval 176"/>
          <p:cNvSpPr>
            <a:spLocks noChangeArrowheads="1"/>
          </p:cNvSpPr>
          <p:nvPr/>
        </p:nvSpPr>
        <p:spPr bwMode="auto">
          <a:xfrm>
            <a:off x="1434297" y="190065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8</a:t>
            </a:r>
          </a:p>
        </p:txBody>
      </p:sp>
      <p:sp>
        <p:nvSpPr>
          <p:cNvPr id="47" name="Oval 176"/>
          <p:cNvSpPr>
            <a:spLocks noChangeArrowheads="1"/>
          </p:cNvSpPr>
          <p:nvPr/>
        </p:nvSpPr>
        <p:spPr bwMode="auto">
          <a:xfrm>
            <a:off x="1447185" y="188258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7</a:t>
            </a:r>
          </a:p>
        </p:txBody>
      </p:sp>
      <p:sp>
        <p:nvSpPr>
          <p:cNvPr id="48" name="Oval 176"/>
          <p:cNvSpPr>
            <a:spLocks noChangeArrowheads="1"/>
          </p:cNvSpPr>
          <p:nvPr/>
        </p:nvSpPr>
        <p:spPr bwMode="auto">
          <a:xfrm>
            <a:off x="1437617" y="1893010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6</a:t>
            </a:r>
          </a:p>
        </p:txBody>
      </p:sp>
      <p:sp>
        <p:nvSpPr>
          <p:cNvPr id="49" name="Oval 176"/>
          <p:cNvSpPr>
            <a:spLocks noChangeArrowheads="1"/>
          </p:cNvSpPr>
          <p:nvPr/>
        </p:nvSpPr>
        <p:spPr bwMode="auto">
          <a:xfrm>
            <a:off x="1446172" y="189032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5</a:t>
            </a:r>
          </a:p>
        </p:txBody>
      </p:sp>
      <p:sp>
        <p:nvSpPr>
          <p:cNvPr id="50" name="Oval 176"/>
          <p:cNvSpPr>
            <a:spLocks noChangeArrowheads="1"/>
          </p:cNvSpPr>
          <p:nvPr/>
        </p:nvSpPr>
        <p:spPr bwMode="auto">
          <a:xfrm>
            <a:off x="1419799" y="189200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4</a:t>
            </a:r>
          </a:p>
        </p:txBody>
      </p:sp>
      <p:sp>
        <p:nvSpPr>
          <p:cNvPr id="51" name="Oval 176"/>
          <p:cNvSpPr>
            <a:spLocks noChangeArrowheads="1"/>
          </p:cNvSpPr>
          <p:nvPr/>
        </p:nvSpPr>
        <p:spPr bwMode="auto">
          <a:xfrm>
            <a:off x="1424975" y="1872478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3</a:t>
            </a:r>
          </a:p>
        </p:txBody>
      </p:sp>
      <p:sp>
        <p:nvSpPr>
          <p:cNvPr id="52" name="Oval 176"/>
          <p:cNvSpPr>
            <a:spLocks noChangeArrowheads="1"/>
          </p:cNvSpPr>
          <p:nvPr/>
        </p:nvSpPr>
        <p:spPr bwMode="auto">
          <a:xfrm>
            <a:off x="1438390" y="1886063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2</a:t>
            </a:r>
          </a:p>
        </p:txBody>
      </p:sp>
      <p:sp>
        <p:nvSpPr>
          <p:cNvPr id="56" name="Oval 176"/>
          <p:cNvSpPr>
            <a:spLocks noChangeArrowheads="1"/>
          </p:cNvSpPr>
          <p:nvPr/>
        </p:nvSpPr>
        <p:spPr bwMode="auto">
          <a:xfrm>
            <a:off x="1446172" y="1854745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2100" dirty="0">
                <a:solidFill>
                  <a:srgbClr val="DC2608"/>
                </a:solidFill>
                <a:latin typeface=".VnBlack" pitchFamily="34" charset="0"/>
              </a:rPr>
              <a:t>1</a:t>
            </a:r>
          </a:p>
        </p:txBody>
      </p:sp>
      <p:sp>
        <p:nvSpPr>
          <p:cNvPr id="59" name="Oval 176"/>
          <p:cNvSpPr>
            <a:spLocks noChangeArrowheads="1"/>
          </p:cNvSpPr>
          <p:nvPr/>
        </p:nvSpPr>
        <p:spPr bwMode="auto">
          <a:xfrm>
            <a:off x="1414741" y="1876741"/>
            <a:ext cx="400050" cy="4000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bg1">
                  <a:gamma/>
                  <a:tint val="60392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100" dirty="0" smtClean="0">
                <a:solidFill>
                  <a:srgbClr val="DC2608"/>
                </a:solidFill>
                <a:latin typeface=".VnBlack" pitchFamily="34" charset="0"/>
              </a:rPr>
              <a:t>0</a:t>
            </a:r>
          </a:p>
        </p:txBody>
      </p:sp>
      <p:pic>
        <p:nvPicPr>
          <p:cNvPr id="42" name="Picture 41">
            <a:hlinkHover r:id="rId12" highlightClick="1">
              <a:snd r:embed="rId11" name="applause.wav"/>
            </a:hlinkHover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893" y="3337713"/>
            <a:ext cx="1018050" cy="974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27988" y="611160"/>
            <a:ext cx="64749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6: (</a:t>
            </a:r>
            <a:r>
              <a:rPr lang="vi-VN" b="1" dirty="0" smtClean="0"/>
              <a:t>Câu </a:t>
            </a:r>
            <a:r>
              <a:rPr lang="vi-VN" b="1" dirty="0"/>
              <a:t>hỏi </a:t>
            </a:r>
            <a:r>
              <a:rPr lang="en-US" b="1" dirty="0" smtClean="0"/>
              <a:t>5 </a:t>
            </a:r>
            <a:r>
              <a:rPr lang="vi-VN" b="1" dirty="0" smtClean="0"/>
              <a:t>trang 2</a:t>
            </a:r>
            <a:r>
              <a:rPr lang="en-US" b="1" dirty="0" smtClean="0"/>
              <a:t>7</a:t>
            </a:r>
            <a:r>
              <a:rPr lang="vi-VN" b="1" dirty="0" smtClean="0"/>
              <a:t> </a:t>
            </a:r>
            <a:r>
              <a:rPr lang="vi-VN" b="1" dirty="0"/>
              <a:t>Chuyên đề Hóa </a:t>
            </a:r>
            <a:r>
              <a:rPr lang="vi-VN" b="1" dirty="0" smtClean="0"/>
              <a:t>10</a:t>
            </a:r>
            <a:r>
              <a:rPr lang="en-US" b="1" dirty="0" smtClean="0"/>
              <a:t>)</a:t>
            </a:r>
            <a:endParaRPr lang="en-US" dirty="0"/>
          </a:p>
          <a:p>
            <a:r>
              <a:rPr lang="vi-VN" altLang="en-US" sz="1800" dirty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Dựa vào các giá trị của </a:t>
            </a:r>
            <a:r>
              <a:rPr lang="vi-VN" sz="1800" baseline="-25000" dirty="0" smtClean="0">
                <a:latin typeface="Times New Roman" pitchFamily="18" charset="0"/>
                <a:cs typeface="Times New Roman" pitchFamily="18" charset="0"/>
              </a:rPr>
              <a:t>Δf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vi-VN" sz="18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vi-VN" sz="1800" baseline="-25000" dirty="0" smtClean="0">
                <a:latin typeface="Times New Roman" pitchFamily="18" charset="0"/>
                <a:cs typeface="Times New Roman" pitchFamily="18" charset="0"/>
              </a:rPr>
              <a:t>298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vi-VN" sz="1800" baseline="30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vi-VN" sz="1800" baseline="-25000" dirty="0" smtClean="0">
                <a:latin typeface="Times New Roman" pitchFamily="18" charset="0"/>
                <a:cs typeface="Times New Roman" pitchFamily="18" charset="0"/>
              </a:rPr>
              <a:t>298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ở 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Bảng 4.1, hãy cho biết có thể dùng C (graphite) để khử Fe</a:t>
            </a:r>
            <a:r>
              <a:rPr lang="vi-VN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vi-VN" sz="18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 thành Fe ở điều kiện chuẩn theo phương trình sau được không?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3C(graphite) + 2Fe</a:t>
            </a:r>
            <a:r>
              <a:rPr lang="vi-VN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vi-VN" sz="18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(s) ⟶ 4Fe(s) + 3CO</a:t>
            </a:r>
            <a:r>
              <a:rPr lang="vi-VN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vi-VN" sz="1800" dirty="0">
                <a:latin typeface="Times New Roman" pitchFamily="18" charset="0"/>
                <a:cs typeface="Times New Roman" pitchFamily="18" charset="0"/>
              </a:rPr>
              <a:t>(g</a:t>
            </a:r>
            <a:r>
              <a:rPr lang="vi-VN" sz="1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3119718" y="42267"/>
            <a:ext cx="3505200" cy="389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VẬN DỤNG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(PHT </a:t>
            </a:r>
            <a:r>
              <a:rPr lang="en-US" dirty="0" err="1" smtClean="0">
                <a:solidFill>
                  <a:srgbClr val="FF0000"/>
                </a:solidFill>
              </a:rPr>
              <a:t>Số</a:t>
            </a:r>
            <a:r>
              <a:rPr lang="en-US" dirty="0" smtClean="0">
                <a:solidFill>
                  <a:srgbClr val="FF0000"/>
                </a:solidFill>
              </a:rPr>
              <a:t> 2.2)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2" name="AutoShape 1" descr="C:\Users\Admin\AppData\Local\Temp\msohtmlclip1\01\clip_image006.png"/>
          <p:cNvSpPr>
            <a:spLocks noChangeAspect="1" noChangeArrowheads="1"/>
          </p:cNvSpPr>
          <p:nvPr/>
        </p:nvSpPr>
        <p:spPr bwMode="auto">
          <a:xfrm>
            <a:off x="1" y="0"/>
            <a:ext cx="64994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9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3beep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GU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8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grpSp>
        <p:nvGrpSpPr>
          <p:cNvPr id="431" name="Google Shape;431;p35"/>
          <p:cNvGrpSpPr/>
          <p:nvPr/>
        </p:nvGrpSpPr>
        <p:grpSpPr>
          <a:xfrm>
            <a:off x="627918" y="352412"/>
            <a:ext cx="7605616" cy="4791088"/>
            <a:chOff x="2300899" y="1241129"/>
            <a:chExt cx="4542205" cy="2661224"/>
          </a:xfrm>
        </p:grpSpPr>
        <p:sp>
          <p:nvSpPr>
            <p:cNvPr id="432" name="Google Shape;432;p35"/>
            <p:cNvSpPr/>
            <p:nvPr/>
          </p:nvSpPr>
          <p:spPr>
            <a:xfrm>
              <a:off x="2672349" y="1241129"/>
              <a:ext cx="3797910" cy="2542169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35"/>
            <p:cNvSpPr/>
            <p:nvPr/>
          </p:nvSpPr>
          <p:spPr>
            <a:xfrm>
              <a:off x="2300899" y="3832321"/>
              <a:ext cx="4542205" cy="70032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5"/>
            <p:cNvSpPr/>
            <p:nvPr/>
          </p:nvSpPr>
          <p:spPr>
            <a:xfrm>
              <a:off x="2300899" y="3776295"/>
              <a:ext cx="4541505" cy="56025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5"/>
            <p:cNvSpPr/>
            <p:nvPr/>
          </p:nvSpPr>
          <p:spPr>
            <a:xfrm>
              <a:off x="4235243" y="3776295"/>
              <a:ext cx="665106" cy="35016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6" name="Google Shape;436;p35"/>
          <p:cNvPicPr preferRelativeResize="0"/>
          <p:nvPr/>
        </p:nvPicPr>
        <p:blipFill rotWithShape="1">
          <a:blip r:embed="rId3">
            <a:alphaModFix/>
          </a:blip>
          <a:srcRect b="6620"/>
          <a:stretch/>
        </p:blipFill>
        <p:spPr>
          <a:xfrm>
            <a:off x="2808075" y="1387850"/>
            <a:ext cx="3530550" cy="224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40" t="51596" r="17308" b="5074"/>
          <a:stretch/>
        </p:blipFill>
        <p:spPr bwMode="auto">
          <a:xfrm>
            <a:off x="1485234" y="595986"/>
            <a:ext cx="5889811" cy="408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7-Point Star 2"/>
          <p:cNvSpPr/>
          <p:nvPr/>
        </p:nvSpPr>
        <p:spPr>
          <a:xfrm>
            <a:off x="3119718" y="1272988"/>
            <a:ext cx="2958353" cy="1505291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8" name="Google Shape;428;p3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grpSp>
        <p:nvGrpSpPr>
          <p:cNvPr id="431" name="Google Shape;431;p35"/>
          <p:cNvGrpSpPr/>
          <p:nvPr/>
        </p:nvGrpSpPr>
        <p:grpSpPr>
          <a:xfrm>
            <a:off x="2439944" y="735106"/>
            <a:ext cx="4266811" cy="3160619"/>
            <a:chOff x="2300899" y="1241129"/>
            <a:chExt cx="4542205" cy="2661224"/>
          </a:xfrm>
        </p:grpSpPr>
        <p:sp>
          <p:nvSpPr>
            <p:cNvPr id="432" name="Google Shape;432;p35"/>
            <p:cNvSpPr/>
            <p:nvPr/>
          </p:nvSpPr>
          <p:spPr>
            <a:xfrm>
              <a:off x="2672349" y="1241129"/>
              <a:ext cx="3797910" cy="2542169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35"/>
            <p:cNvSpPr/>
            <p:nvPr/>
          </p:nvSpPr>
          <p:spPr>
            <a:xfrm>
              <a:off x="2300899" y="3832321"/>
              <a:ext cx="4542205" cy="70032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5"/>
            <p:cNvSpPr/>
            <p:nvPr/>
          </p:nvSpPr>
          <p:spPr>
            <a:xfrm>
              <a:off x="2300899" y="3776295"/>
              <a:ext cx="4541505" cy="56025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5"/>
            <p:cNvSpPr/>
            <p:nvPr/>
          </p:nvSpPr>
          <p:spPr>
            <a:xfrm>
              <a:off x="4235243" y="3776295"/>
              <a:ext cx="665106" cy="35016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211246" y="1734054"/>
            <a:ext cx="2716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CỦNG CỐ</a:t>
            </a:r>
            <a:endParaRPr 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33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0223" y="546314"/>
            <a:ext cx="8281555" cy="2678431"/>
            <a:chOff x="100445" y="304800"/>
            <a:chExt cx="8281555" cy="3571241"/>
          </a:xfrm>
        </p:grpSpPr>
        <p:sp>
          <p:nvSpPr>
            <p:cNvPr id="4" name="Rectangle 3"/>
            <p:cNvSpPr/>
            <p:nvPr/>
          </p:nvSpPr>
          <p:spPr>
            <a:xfrm>
              <a:off x="1981200" y="304800"/>
              <a:ext cx="6400800" cy="1371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tabLst>
                  <a:tab pos="257175" algn="l"/>
                  <a:tab pos="1285875" algn="l"/>
                  <a:tab pos="2363153" algn="l"/>
                </a:tabLst>
              </a:pPr>
              <a:r>
                <a:rPr lang="pt-BR" sz="2100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	</a:t>
              </a:r>
              <a:endParaRPr lang="x-none" sz="21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00445" y="462002"/>
              <a:ext cx="8128598" cy="3414039"/>
              <a:chOff x="100445" y="462002"/>
              <a:chExt cx="8128598" cy="3414039"/>
            </a:xfrm>
          </p:grpSpPr>
          <p:pic>
            <p:nvPicPr>
              <p:cNvPr id="5" name="Picture 4" descr="D:\liên kết CHT\question-mark-300x300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57014">
                <a:off x="6487159" y="2134157"/>
                <a:ext cx="1741884" cy="17418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Oval 10"/>
              <p:cNvSpPr/>
              <p:nvPr/>
            </p:nvSpPr>
            <p:spPr>
              <a:xfrm>
                <a:off x="100445" y="462002"/>
                <a:ext cx="1676400" cy="8382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b="1" dirty="0" err="1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Câu</a:t>
                </a:r>
                <a:r>
                  <a:rPr lang="en-US" sz="21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1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1371600" y="1600200"/>
            <a:ext cx="4648200" cy="514350"/>
            <a:chOff x="1371600" y="2133600"/>
            <a:chExt cx="4648200" cy="685800"/>
          </a:xfrm>
        </p:grpSpPr>
        <p:sp>
          <p:nvSpPr>
            <p:cNvPr id="6" name="Rounded Rectangle 5"/>
            <p:cNvSpPr/>
            <p:nvPr/>
          </p:nvSpPr>
          <p:spPr>
            <a:xfrm>
              <a:off x="2362200" y="21336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dirty="0" smtClean="0">
                  <a:solidFill>
                    <a:schemeClr val="tx1"/>
                  </a:solidFill>
                  <a:latin typeface="+mj-lt"/>
                </a:rPr>
                <a:t>Enthalpy</a:t>
              </a:r>
              <a:r>
                <a:rPr lang="vi-VN" sz="2000" dirty="0">
                  <a:solidFill>
                    <a:schemeClr val="tx1"/>
                  </a:solidFill>
                  <a:latin typeface="+mj-lt"/>
                </a:rPr>
                <a:t>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371600" y="21336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371600" y="2343150"/>
            <a:ext cx="4648200" cy="514350"/>
            <a:chOff x="1371600" y="3124200"/>
            <a:chExt cx="4648200" cy="685800"/>
          </a:xfrm>
        </p:grpSpPr>
        <p:sp>
          <p:nvSpPr>
            <p:cNvPr id="9" name="Rounded Rectangle 8"/>
            <p:cNvSpPr/>
            <p:nvPr/>
          </p:nvSpPr>
          <p:spPr>
            <a:xfrm>
              <a:off x="2362200" y="31242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dirty="0">
                  <a:solidFill>
                    <a:schemeClr val="tx1"/>
                  </a:solidFill>
                  <a:latin typeface="+mj-lt"/>
                </a:rPr>
                <a:t>Năng lượng tự do Gibbs.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371600" y="31242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371600" y="3086100"/>
            <a:ext cx="4572000" cy="514350"/>
            <a:chOff x="1371600" y="4114800"/>
            <a:chExt cx="4572000" cy="685800"/>
          </a:xfrm>
        </p:grpSpPr>
        <p:sp>
          <p:nvSpPr>
            <p:cNvPr id="7" name="Rounded Rectangle 6"/>
            <p:cNvSpPr/>
            <p:nvPr/>
          </p:nvSpPr>
          <p:spPr>
            <a:xfrm>
              <a:off x="2362200" y="41148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dirty="0">
                  <a:solidFill>
                    <a:schemeClr val="tx1"/>
                  </a:solidFill>
                  <a:latin typeface="+mj-lt"/>
                </a:rPr>
                <a:t>Entropy.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371600" y="3829050"/>
            <a:ext cx="4572000" cy="514350"/>
            <a:chOff x="1371600" y="5105400"/>
            <a:chExt cx="4572000" cy="685800"/>
          </a:xfrm>
        </p:grpSpPr>
        <p:sp>
          <p:nvSpPr>
            <p:cNvPr id="8" name="Rounded Rectangle 7"/>
            <p:cNvSpPr/>
            <p:nvPr/>
          </p:nvSpPr>
          <p:spPr>
            <a:xfrm>
              <a:off x="2438400" y="5105400"/>
              <a:ext cx="35052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2000" dirty="0">
                  <a:solidFill>
                    <a:schemeClr val="tx1"/>
                  </a:solidFill>
                  <a:latin typeface="+mj-lt"/>
                </a:rPr>
                <a:t>Năng lượng hoạt hóa.</a:t>
              </a:r>
              <a:endParaRPr lang="en-US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6781800" y="4457701"/>
            <a:ext cx="1066800" cy="585891"/>
            <a:chOff x="4875" y="3187"/>
            <a:chExt cx="885" cy="914"/>
          </a:xfrm>
        </p:grpSpPr>
        <p:pic>
          <p:nvPicPr>
            <p:cNvPr id="43" name="Picture 8" descr="Ketqua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037" y="3187"/>
              <a:ext cx="396" cy="492"/>
            </a:xfrm>
            <a:prstGeom prst="rect">
              <a:avLst/>
            </a:prstGeom>
            <a:noFill/>
          </p:spPr>
        </p:pic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875" y="3705"/>
              <a:ext cx="885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Đáp</a:t>
              </a:r>
              <a:r>
                <a:rPr lang="en-US" sz="1050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án</a:t>
              </a:r>
              <a:endParaRPr lang="en-US" sz="105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sp>
        <p:nvSpPr>
          <p:cNvPr id="30" name="Rectangle 1">
            <a:extLst>
              <a:ext uri="{FF2B5EF4-FFF2-40B4-BE49-F238E27FC236}">
                <a16:creationId xmlns:a16="http://schemas.microsoft.com/office/drawing/2014/main" xmlns="" id="{9F29BFE4-BB63-4640-9E8E-01F593A19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529" y="61560"/>
            <a:ext cx="2151530" cy="4385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anchor="ctr">
            <a:spAutoFit/>
          </a:bodyPr>
          <a:lstStyle>
            <a:lvl1pPr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25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CỦNG CỐ</a:t>
            </a:r>
            <a:endParaRPr lang="en-US" altLang="en-US" sz="225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86591" y="546313"/>
            <a:ext cx="63590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dirty="0" smtClean="0">
                <a:latin typeface="+mj-lt"/>
              </a:rPr>
              <a:t>Đại </a:t>
            </a:r>
            <a:r>
              <a:rPr lang="vi-VN" sz="2000" dirty="0">
                <a:latin typeface="+mj-lt"/>
              </a:rPr>
              <a:t>lượng đặc trưng cho độ mất trật tự của một hệ ở trạng thái và điều kiện xác định gọi là</a:t>
            </a:r>
            <a:endParaRPr lang="en-US" sz="2000" dirty="0">
              <a:latin typeface="+mj-lt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389529" y="3086100"/>
            <a:ext cx="4572000" cy="514350"/>
            <a:chOff x="1371600" y="4114800"/>
            <a:chExt cx="4572000" cy="685800"/>
          </a:xfrm>
        </p:grpSpPr>
        <p:sp>
          <p:nvSpPr>
            <p:cNvPr id="32" name="Rounded Rectangle 31"/>
            <p:cNvSpPr/>
            <p:nvPr/>
          </p:nvSpPr>
          <p:spPr>
            <a:xfrm>
              <a:off x="2362200" y="41148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dirty="0">
                  <a:solidFill>
                    <a:schemeClr val="tx1"/>
                  </a:solidFill>
                  <a:latin typeface="+mj-lt"/>
                </a:rPr>
                <a:t>Entropy.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389529" y="3086100"/>
            <a:ext cx="4572000" cy="514350"/>
            <a:chOff x="1371600" y="4114800"/>
            <a:chExt cx="4572000" cy="685800"/>
          </a:xfrm>
        </p:grpSpPr>
        <p:sp>
          <p:nvSpPr>
            <p:cNvPr id="41" name="Rounded Rectangle 40"/>
            <p:cNvSpPr/>
            <p:nvPr/>
          </p:nvSpPr>
          <p:spPr>
            <a:xfrm>
              <a:off x="2362200" y="41148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dirty="0">
                  <a:solidFill>
                    <a:srgbClr val="FF0000"/>
                  </a:solidFill>
                  <a:latin typeface="+mj-lt"/>
                </a:rPr>
                <a:t>Entropy.</a:t>
              </a:r>
              <a:endParaRPr lang="en-US" sz="2000" b="1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243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0223" y="546314"/>
            <a:ext cx="8281555" cy="2678431"/>
            <a:chOff x="100445" y="304800"/>
            <a:chExt cx="8281555" cy="3571241"/>
          </a:xfrm>
        </p:grpSpPr>
        <p:sp>
          <p:nvSpPr>
            <p:cNvPr id="4" name="Rectangle 3"/>
            <p:cNvSpPr/>
            <p:nvPr/>
          </p:nvSpPr>
          <p:spPr>
            <a:xfrm>
              <a:off x="1981200" y="304800"/>
              <a:ext cx="6400800" cy="1371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tabLst>
                  <a:tab pos="257175" algn="l"/>
                  <a:tab pos="1285875" algn="l"/>
                  <a:tab pos="2363153" algn="l"/>
                </a:tabLst>
              </a:pPr>
              <a:r>
                <a:rPr lang="pt-BR" sz="2100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	</a:t>
              </a:r>
              <a:endParaRPr lang="x-none" sz="21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00445" y="462002"/>
              <a:ext cx="8128598" cy="3414039"/>
              <a:chOff x="100445" y="462002"/>
              <a:chExt cx="8128598" cy="3414039"/>
            </a:xfrm>
          </p:grpSpPr>
          <p:pic>
            <p:nvPicPr>
              <p:cNvPr id="5" name="Picture 4" descr="D:\liên kết CHT\question-mark-300x300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57014">
                <a:off x="6487159" y="2134157"/>
                <a:ext cx="1741884" cy="17418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Oval 10"/>
              <p:cNvSpPr/>
              <p:nvPr/>
            </p:nvSpPr>
            <p:spPr>
              <a:xfrm>
                <a:off x="100445" y="462002"/>
                <a:ext cx="1676400" cy="8382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b="1" dirty="0" err="1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Câu</a:t>
                </a:r>
                <a:r>
                  <a:rPr lang="en-US" sz="21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100" b="1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1371600" y="1600200"/>
            <a:ext cx="4648200" cy="514350"/>
            <a:chOff x="1371600" y="2133600"/>
            <a:chExt cx="4648200" cy="685800"/>
          </a:xfrm>
        </p:grpSpPr>
        <p:sp>
          <p:nvSpPr>
            <p:cNvPr id="6" name="Rounded Rectangle 5"/>
            <p:cNvSpPr/>
            <p:nvPr/>
          </p:nvSpPr>
          <p:spPr>
            <a:xfrm>
              <a:off x="2362200" y="21336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2000" b="1" dirty="0">
                  <a:solidFill>
                    <a:schemeClr val="tx1"/>
                  </a:solidFill>
                  <a:latin typeface="+mj-lt"/>
                </a:rPr>
                <a:t>S (khí) &lt; S (rắn) &lt; S (lỏng).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371600" y="21336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371600" y="2343150"/>
            <a:ext cx="4724400" cy="514350"/>
            <a:chOff x="1371600" y="3124200"/>
            <a:chExt cx="4724400" cy="685800"/>
          </a:xfrm>
        </p:grpSpPr>
        <p:sp>
          <p:nvSpPr>
            <p:cNvPr id="9" name="Rounded Rectangle 8"/>
            <p:cNvSpPr/>
            <p:nvPr/>
          </p:nvSpPr>
          <p:spPr>
            <a:xfrm>
              <a:off x="2438400" y="31242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>
                  <a:solidFill>
                    <a:schemeClr val="tx1"/>
                  </a:solidFill>
                  <a:latin typeface="+mj-lt"/>
                </a:rPr>
                <a:t>S (rắn) &lt; S (lỏng) &lt; S (khí).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371600" y="31242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371600" y="3086100"/>
            <a:ext cx="4572000" cy="514350"/>
            <a:chOff x="1371600" y="4114800"/>
            <a:chExt cx="4572000" cy="685800"/>
          </a:xfrm>
        </p:grpSpPr>
        <p:sp>
          <p:nvSpPr>
            <p:cNvPr id="7" name="Rounded Rectangle 6"/>
            <p:cNvSpPr/>
            <p:nvPr/>
          </p:nvSpPr>
          <p:spPr>
            <a:xfrm>
              <a:off x="2362200" y="41148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dirty="0">
                  <a:solidFill>
                    <a:schemeClr val="tx1"/>
                  </a:solidFill>
                  <a:latin typeface="+mj-lt"/>
                </a:rPr>
                <a:t>Entropy.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371600" y="3829050"/>
            <a:ext cx="4572000" cy="514350"/>
            <a:chOff x="1371600" y="5105400"/>
            <a:chExt cx="4572000" cy="685800"/>
          </a:xfrm>
        </p:grpSpPr>
        <p:sp>
          <p:nvSpPr>
            <p:cNvPr id="8" name="Rounded Rectangle 7"/>
            <p:cNvSpPr/>
            <p:nvPr/>
          </p:nvSpPr>
          <p:spPr>
            <a:xfrm>
              <a:off x="2438400" y="5105400"/>
              <a:ext cx="35052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2000" b="1" dirty="0">
                  <a:solidFill>
                    <a:schemeClr val="tx1"/>
                  </a:solidFill>
                  <a:latin typeface="+mj-lt"/>
                </a:rPr>
                <a:t>S (khí) &lt; S (lỏng) &lt; S (rắn).</a:t>
              </a:r>
              <a:endParaRPr lang="en-US" sz="20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6781800" y="4457701"/>
            <a:ext cx="1066800" cy="585891"/>
            <a:chOff x="4875" y="3187"/>
            <a:chExt cx="885" cy="914"/>
          </a:xfrm>
        </p:grpSpPr>
        <p:pic>
          <p:nvPicPr>
            <p:cNvPr id="43" name="Picture 8" descr="Ketqua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037" y="3187"/>
              <a:ext cx="396" cy="492"/>
            </a:xfrm>
            <a:prstGeom prst="rect">
              <a:avLst/>
            </a:prstGeom>
            <a:noFill/>
          </p:spPr>
        </p:pic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875" y="3705"/>
              <a:ext cx="885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Đáp</a:t>
              </a:r>
              <a:r>
                <a:rPr lang="en-US" sz="1050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án</a:t>
              </a:r>
              <a:endParaRPr lang="en-US" sz="105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sp>
        <p:nvSpPr>
          <p:cNvPr id="30" name="Rectangle 1">
            <a:extLst>
              <a:ext uri="{FF2B5EF4-FFF2-40B4-BE49-F238E27FC236}">
                <a16:creationId xmlns:a16="http://schemas.microsoft.com/office/drawing/2014/main" xmlns="" id="{9F29BFE4-BB63-4640-9E8E-01F593A19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529" y="61560"/>
            <a:ext cx="2151530" cy="4385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anchor="ctr">
            <a:spAutoFit/>
          </a:bodyPr>
          <a:lstStyle>
            <a:lvl1pPr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25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CỦNG CỐ</a:t>
            </a:r>
            <a:endParaRPr lang="en-US" altLang="en-US" sz="225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86591" y="546313"/>
            <a:ext cx="63590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dirty="0" smtClean="0">
                <a:latin typeface="+mj-lt"/>
              </a:rPr>
              <a:t> </a:t>
            </a:r>
            <a:r>
              <a:rPr lang="vi-VN" sz="2000" dirty="0">
                <a:latin typeface="+mj-lt"/>
              </a:rPr>
              <a:t>Khi so sánh entropy của cùng một chất ở ba trạng thái khác nhau, cùng điều kiện, kết quả nào dưới đây là đúng?</a:t>
            </a:r>
            <a:endParaRPr lang="en-US" sz="2000" dirty="0">
              <a:latin typeface="+mj-lt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389529" y="3086100"/>
            <a:ext cx="4572000" cy="514350"/>
            <a:chOff x="1371600" y="4114800"/>
            <a:chExt cx="4572000" cy="685800"/>
          </a:xfrm>
        </p:grpSpPr>
        <p:sp>
          <p:nvSpPr>
            <p:cNvPr id="32" name="Rounded Rectangle 31"/>
            <p:cNvSpPr/>
            <p:nvPr/>
          </p:nvSpPr>
          <p:spPr>
            <a:xfrm>
              <a:off x="2362200" y="41148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>
                  <a:solidFill>
                    <a:schemeClr val="tx1"/>
                  </a:solidFill>
                  <a:latin typeface="+mj-lt"/>
                </a:rPr>
                <a:t>S (lỏng) &lt; S (rắn) &lt; S (khí).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371600" y="2354085"/>
            <a:ext cx="4724400" cy="514350"/>
            <a:chOff x="1371600" y="3124200"/>
            <a:chExt cx="4724400" cy="685800"/>
          </a:xfrm>
        </p:grpSpPr>
        <p:sp>
          <p:nvSpPr>
            <p:cNvPr id="34" name="Rounded Rectangle 33"/>
            <p:cNvSpPr/>
            <p:nvPr/>
          </p:nvSpPr>
          <p:spPr>
            <a:xfrm>
              <a:off x="2438400" y="31242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>
                  <a:solidFill>
                    <a:srgbClr val="FF0000"/>
                  </a:solidFill>
                  <a:latin typeface="+mj-lt"/>
                </a:rPr>
                <a:t>S (rắn) &lt; S (lỏng) &lt; S (khí).</a:t>
              </a:r>
              <a:endParaRPr lang="en-US" sz="2000" b="1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371600" y="31242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79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0223" y="546314"/>
            <a:ext cx="8281555" cy="2678431"/>
            <a:chOff x="100445" y="304800"/>
            <a:chExt cx="8281555" cy="3571241"/>
          </a:xfrm>
        </p:grpSpPr>
        <p:sp>
          <p:nvSpPr>
            <p:cNvPr id="4" name="Rectangle 3"/>
            <p:cNvSpPr/>
            <p:nvPr/>
          </p:nvSpPr>
          <p:spPr>
            <a:xfrm>
              <a:off x="1981200" y="304800"/>
              <a:ext cx="6400800" cy="1371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tabLst>
                  <a:tab pos="257175" algn="l"/>
                  <a:tab pos="1285875" algn="l"/>
                  <a:tab pos="2363153" algn="l"/>
                </a:tabLst>
              </a:pPr>
              <a:r>
                <a:rPr lang="pt-BR" sz="2100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	</a:t>
              </a:r>
              <a:endParaRPr lang="x-none" sz="21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00445" y="462002"/>
              <a:ext cx="8128598" cy="3414039"/>
              <a:chOff x="100445" y="462002"/>
              <a:chExt cx="8128598" cy="3414039"/>
            </a:xfrm>
          </p:grpSpPr>
          <p:pic>
            <p:nvPicPr>
              <p:cNvPr id="5" name="Picture 4" descr="D:\liên kết CHT\question-mark-300x300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57014">
                <a:off x="6487159" y="2134157"/>
                <a:ext cx="1741884" cy="17418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Oval 10"/>
              <p:cNvSpPr/>
              <p:nvPr/>
            </p:nvSpPr>
            <p:spPr>
              <a:xfrm>
                <a:off x="100445" y="462002"/>
                <a:ext cx="1676400" cy="8382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b="1" dirty="0" err="1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Câu</a:t>
                </a:r>
                <a:r>
                  <a:rPr lang="en-US" sz="21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3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1371600" y="1600200"/>
            <a:ext cx="4724400" cy="514350"/>
            <a:chOff x="1371600" y="2133600"/>
            <a:chExt cx="4724400" cy="685800"/>
          </a:xfrm>
        </p:grpSpPr>
        <p:sp>
          <p:nvSpPr>
            <p:cNvPr id="6" name="Rounded Rectangle 5"/>
            <p:cNvSpPr/>
            <p:nvPr/>
          </p:nvSpPr>
          <p:spPr>
            <a:xfrm>
              <a:off x="2362200" y="2133600"/>
              <a:ext cx="37338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1900" b="1" dirty="0">
                  <a:solidFill>
                    <a:schemeClr val="tx1"/>
                  </a:solidFill>
                  <a:latin typeface="+mj-lt"/>
                </a:rPr>
                <a:t>Entropy càng lớn thì hệ càng ổn định</a:t>
              </a:r>
              <a:endParaRPr lang="en-US" sz="19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371600" y="21336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371600" y="2343150"/>
            <a:ext cx="4724400" cy="514350"/>
            <a:chOff x="1371600" y="3124200"/>
            <a:chExt cx="4724400" cy="685800"/>
          </a:xfrm>
        </p:grpSpPr>
        <p:sp>
          <p:nvSpPr>
            <p:cNvPr id="9" name="Rounded Rectangle 8"/>
            <p:cNvSpPr/>
            <p:nvPr/>
          </p:nvSpPr>
          <p:spPr>
            <a:xfrm>
              <a:off x="2438400" y="31242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900" b="1" dirty="0">
                  <a:solidFill>
                    <a:schemeClr val="tx1"/>
                  </a:solidFill>
                  <a:latin typeface="+mj-lt"/>
                </a:rPr>
                <a:t>Khi tăng nhiệt độ thì entropy của chất tăng.</a:t>
              </a:r>
              <a:endParaRPr lang="en-US" sz="19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371600" y="31242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371600" y="3086100"/>
            <a:ext cx="4572000" cy="514350"/>
            <a:chOff x="1371600" y="4114800"/>
            <a:chExt cx="4572000" cy="685800"/>
          </a:xfrm>
        </p:grpSpPr>
        <p:sp>
          <p:nvSpPr>
            <p:cNvPr id="7" name="Rounded Rectangle 6"/>
            <p:cNvSpPr/>
            <p:nvPr/>
          </p:nvSpPr>
          <p:spPr>
            <a:xfrm>
              <a:off x="2362200" y="41148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dirty="0">
                  <a:solidFill>
                    <a:schemeClr val="tx1"/>
                  </a:solidFill>
                  <a:latin typeface="+mj-lt"/>
                </a:rPr>
                <a:t>Entropy.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371600" y="3829051"/>
            <a:ext cx="4572000" cy="628651"/>
            <a:chOff x="1371600" y="5105399"/>
            <a:chExt cx="4572000" cy="838201"/>
          </a:xfrm>
        </p:grpSpPr>
        <p:sp>
          <p:nvSpPr>
            <p:cNvPr id="8" name="Rounded Rectangle 7"/>
            <p:cNvSpPr/>
            <p:nvPr/>
          </p:nvSpPr>
          <p:spPr>
            <a:xfrm>
              <a:off x="2438400" y="5105399"/>
              <a:ext cx="3505200" cy="83820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2000" b="1" dirty="0">
                  <a:solidFill>
                    <a:schemeClr val="tx1"/>
                  </a:solidFill>
                  <a:latin typeface="+mj-lt"/>
                </a:rPr>
                <a:t>Entropy của chất lỏng lớn hơn entropy của chất khí.</a:t>
              </a:r>
              <a:endParaRPr lang="en-US" sz="20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6781800" y="4457701"/>
            <a:ext cx="1066800" cy="585891"/>
            <a:chOff x="4875" y="3187"/>
            <a:chExt cx="885" cy="914"/>
          </a:xfrm>
        </p:grpSpPr>
        <p:pic>
          <p:nvPicPr>
            <p:cNvPr id="43" name="Picture 8" descr="Ketqua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037" y="3187"/>
              <a:ext cx="396" cy="492"/>
            </a:xfrm>
            <a:prstGeom prst="rect">
              <a:avLst/>
            </a:prstGeom>
            <a:noFill/>
          </p:spPr>
        </p:pic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875" y="3705"/>
              <a:ext cx="885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Đáp</a:t>
              </a:r>
              <a:r>
                <a:rPr lang="en-US" sz="1050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án</a:t>
              </a:r>
              <a:endParaRPr lang="en-US" sz="105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sp>
        <p:nvSpPr>
          <p:cNvPr id="30" name="Rectangle 1">
            <a:extLst>
              <a:ext uri="{FF2B5EF4-FFF2-40B4-BE49-F238E27FC236}">
                <a16:creationId xmlns:a16="http://schemas.microsoft.com/office/drawing/2014/main" xmlns="" id="{9F29BFE4-BB63-4640-9E8E-01F593A19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529" y="61560"/>
            <a:ext cx="2151530" cy="4385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anchor="ctr">
            <a:spAutoFit/>
          </a:bodyPr>
          <a:lstStyle>
            <a:lvl1pPr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25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CỦNG CỐ</a:t>
            </a:r>
            <a:endParaRPr lang="en-US" altLang="en-US" sz="225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86591" y="546313"/>
            <a:ext cx="63590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latin typeface="+mj-lt"/>
              </a:rPr>
              <a:t> </a:t>
            </a:r>
            <a:r>
              <a:rPr lang="vi-VN" sz="2400" dirty="0">
                <a:latin typeface="+mj-lt"/>
              </a:rPr>
              <a:t>Phát biểu nào sau đây đúng?</a:t>
            </a:r>
            <a:endParaRPr lang="en-US" sz="2400" dirty="0">
              <a:latin typeface="+mj-lt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389529" y="3086100"/>
            <a:ext cx="4572000" cy="514350"/>
            <a:chOff x="1371600" y="4114800"/>
            <a:chExt cx="4572000" cy="685800"/>
          </a:xfrm>
        </p:grpSpPr>
        <p:sp>
          <p:nvSpPr>
            <p:cNvPr id="32" name="Rounded Rectangle 31"/>
            <p:cNvSpPr/>
            <p:nvPr/>
          </p:nvSpPr>
          <p:spPr>
            <a:xfrm>
              <a:off x="2362200" y="41148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>
                  <a:solidFill>
                    <a:schemeClr val="tx1"/>
                  </a:solidFill>
                  <a:latin typeface="+mj-lt"/>
                </a:rPr>
                <a:t>Một phản ứng có ΔH &lt; 0 thì ΔS &gt; 0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389529" y="2337546"/>
            <a:ext cx="4679212" cy="514350"/>
            <a:chOff x="1237129" y="2913528"/>
            <a:chExt cx="4679212" cy="685800"/>
          </a:xfrm>
        </p:grpSpPr>
        <p:sp>
          <p:nvSpPr>
            <p:cNvPr id="41" name="Rounded Rectangle 40"/>
            <p:cNvSpPr/>
            <p:nvPr/>
          </p:nvSpPr>
          <p:spPr>
            <a:xfrm>
              <a:off x="2258741" y="2913528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900" b="1" dirty="0">
                  <a:solidFill>
                    <a:srgbClr val="FF0000"/>
                  </a:solidFill>
                  <a:latin typeface="+mj-lt"/>
                </a:rPr>
                <a:t>Khi tăng nhiệt độ thì entropy của chất tăng.</a:t>
              </a:r>
              <a:endParaRPr lang="en-US" sz="1900" b="1" dirty="0">
                <a:solidFill>
                  <a:srgbClr val="FF0000"/>
                </a:solidFill>
                <a:latin typeface="+mj-lt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237129" y="2913528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68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0223" y="546314"/>
            <a:ext cx="8281555" cy="2678431"/>
            <a:chOff x="100445" y="304800"/>
            <a:chExt cx="8281555" cy="3571241"/>
          </a:xfrm>
        </p:grpSpPr>
        <p:sp>
          <p:nvSpPr>
            <p:cNvPr id="4" name="Rectangle 3"/>
            <p:cNvSpPr/>
            <p:nvPr/>
          </p:nvSpPr>
          <p:spPr>
            <a:xfrm>
              <a:off x="1981200" y="304800"/>
              <a:ext cx="6400800" cy="1371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tabLst>
                  <a:tab pos="257175" algn="l"/>
                  <a:tab pos="1285875" algn="l"/>
                  <a:tab pos="2363153" algn="l"/>
                </a:tabLst>
              </a:pPr>
              <a:r>
                <a:rPr lang="pt-BR" sz="2100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	</a:t>
              </a:r>
              <a:endParaRPr lang="x-none" sz="21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00445" y="462002"/>
              <a:ext cx="8128598" cy="3414039"/>
              <a:chOff x="100445" y="462002"/>
              <a:chExt cx="8128598" cy="3414039"/>
            </a:xfrm>
          </p:grpSpPr>
          <p:pic>
            <p:nvPicPr>
              <p:cNvPr id="5" name="Picture 4" descr="D:\liên kết CHT\question-mark-300x300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57014">
                <a:off x="6487159" y="2134157"/>
                <a:ext cx="1741884" cy="17418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Oval 10"/>
              <p:cNvSpPr/>
              <p:nvPr/>
            </p:nvSpPr>
            <p:spPr>
              <a:xfrm>
                <a:off x="100445" y="462002"/>
                <a:ext cx="1676400" cy="8382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b="1" dirty="0" err="1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Câu</a:t>
                </a:r>
                <a:r>
                  <a:rPr lang="en-US" sz="21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100" b="1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4</a:t>
                </a:r>
                <a:endPara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1371600" y="1600200"/>
            <a:ext cx="4724400" cy="514350"/>
            <a:chOff x="1371600" y="2133600"/>
            <a:chExt cx="4724400" cy="685800"/>
          </a:xfrm>
        </p:grpSpPr>
        <p:sp>
          <p:nvSpPr>
            <p:cNvPr id="6" name="Rounded Rectangle 5"/>
            <p:cNvSpPr/>
            <p:nvPr/>
          </p:nvSpPr>
          <p:spPr>
            <a:xfrm>
              <a:off x="2362200" y="2133600"/>
              <a:ext cx="37338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2000" b="1" dirty="0">
                  <a:solidFill>
                    <a:schemeClr val="tx1"/>
                  </a:solidFill>
                  <a:latin typeface="+mj-lt"/>
                </a:rPr>
                <a:t>Quá trình ngưng tụ hơi nước thành nước mưa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371600" y="21336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371600" y="2343150"/>
            <a:ext cx="4724400" cy="514350"/>
            <a:chOff x="1371600" y="3124200"/>
            <a:chExt cx="4724400" cy="685800"/>
          </a:xfrm>
        </p:grpSpPr>
        <p:sp>
          <p:nvSpPr>
            <p:cNvPr id="9" name="Rounded Rectangle 8"/>
            <p:cNvSpPr/>
            <p:nvPr/>
          </p:nvSpPr>
          <p:spPr>
            <a:xfrm>
              <a:off x="2438400" y="31242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2000" b="1" dirty="0">
                  <a:solidFill>
                    <a:schemeClr val="tx1"/>
                  </a:solidFill>
                  <a:latin typeface="+mj-lt"/>
                </a:rPr>
                <a:t>Quá trình nấu chảy sắt thép phế liệu.</a:t>
              </a:r>
              <a:endParaRPr lang="en-US" sz="20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371600" y="31242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371600" y="3086100"/>
            <a:ext cx="4572000" cy="514350"/>
            <a:chOff x="1371600" y="4114800"/>
            <a:chExt cx="4572000" cy="685800"/>
          </a:xfrm>
        </p:grpSpPr>
        <p:sp>
          <p:nvSpPr>
            <p:cNvPr id="7" name="Rounded Rectangle 6"/>
            <p:cNvSpPr/>
            <p:nvPr/>
          </p:nvSpPr>
          <p:spPr>
            <a:xfrm>
              <a:off x="2362200" y="41148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dirty="0">
                  <a:solidFill>
                    <a:schemeClr val="tx1"/>
                  </a:solidFill>
                  <a:latin typeface="+mj-lt"/>
                </a:rPr>
                <a:t>Entropy.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371600" y="3829051"/>
            <a:ext cx="4572000" cy="628651"/>
            <a:chOff x="1371600" y="5105399"/>
            <a:chExt cx="4572000" cy="838201"/>
          </a:xfrm>
        </p:grpSpPr>
        <p:sp>
          <p:nvSpPr>
            <p:cNvPr id="8" name="Rounded Rectangle 7"/>
            <p:cNvSpPr/>
            <p:nvPr/>
          </p:nvSpPr>
          <p:spPr>
            <a:xfrm>
              <a:off x="2438400" y="5105399"/>
              <a:ext cx="3505200" cy="83820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2000" b="1" dirty="0">
                  <a:solidFill>
                    <a:schemeClr val="tx1"/>
                  </a:solidFill>
                  <a:latin typeface="+mj-lt"/>
                </a:rPr>
                <a:t>Quá trình tiêu hóa thức ăn ở dạ dày.</a:t>
              </a:r>
              <a:endParaRPr lang="en-US" sz="20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6781800" y="4457701"/>
            <a:ext cx="1066800" cy="585891"/>
            <a:chOff x="4875" y="3187"/>
            <a:chExt cx="885" cy="914"/>
          </a:xfrm>
        </p:grpSpPr>
        <p:pic>
          <p:nvPicPr>
            <p:cNvPr id="43" name="Picture 8" descr="Ketqua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037" y="3187"/>
              <a:ext cx="396" cy="492"/>
            </a:xfrm>
            <a:prstGeom prst="rect">
              <a:avLst/>
            </a:prstGeom>
            <a:noFill/>
          </p:spPr>
        </p:pic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875" y="3705"/>
              <a:ext cx="885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Đáp</a:t>
              </a:r>
              <a:r>
                <a:rPr lang="en-US" sz="1050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án</a:t>
              </a:r>
              <a:endParaRPr lang="en-US" sz="105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sp>
        <p:nvSpPr>
          <p:cNvPr id="30" name="Rectangle 1">
            <a:extLst>
              <a:ext uri="{FF2B5EF4-FFF2-40B4-BE49-F238E27FC236}">
                <a16:creationId xmlns:a16="http://schemas.microsoft.com/office/drawing/2014/main" xmlns="" id="{9F29BFE4-BB63-4640-9E8E-01F593A19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529" y="61560"/>
            <a:ext cx="2151530" cy="4385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anchor="ctr">
            <a:spAutoFit/>
          </a:bodyPr>
          <a:lstStyle>
            <a:lvl1pPr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25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CỦNG CỐ</a:t>
            </a:r>
            <a:endParaRPr lang="en-US" altLang="en-US" sz="225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86591" y="546313"/>
            <a:ext cx="63590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latin typeface="+mj-lt"/>
              </a:rPr>
              <a:t> </a:t>
            </a:r>
            <a:r>
              <a:rPr lang="vi-VN" sz="2400" dirty="0">
                <a:latin typeface="+mj-lt"/>
              </a:rPr>
              <a:t>Quá trình nào sau đây có biến thiên entropy âm?</a:t>
            </a:r>
            <a:endParaRPr lang="en-US" sz="2400" dirty="0">
              <a:latin typeface="+mj-lt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389529" y="3086100"/>
            <a:ext cx="4572000" cy="514351"/>
            <a:chOff x="1371600" y="4114799"/>
            <a:chExt cx="4572000" cy="685801"/>
          </a:xfrm>
        </p:grpSpPr>
        <p:sp>
          <p:nvSpPr>
            <p:cNvPr id="32" name="Rounded Rectangle 31"/>
            <p:cNvSpPr/>
            <p:nvPr/>
          </p:nvSpPr>
          <p:spPr>
            <a:xfrm>
              <a:off x="2362200" y="4114799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>
                  <a:solidFill>
                    <a:schemeClr val="tx1"/>
                  </a:solidFill>
                  <a:latin typeface="+mj-lt"/>
                </a:rPr>
                <a:t>Nước đá tan ra ở nhiệt độ thường</a:t>
              </a:r>
              <a:r>
                <a:rPr lang="vi-VN" dirty="0"/>
                <a:t>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2362200" y="1618503"/>
            <a:ext cx="3733800" cy="5143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vi-VN" sz="2000" b="1" dirty="0">
                <a:solidFill>
                  <a:srgbClr val="FF0000"/>
                </a:solidFill>
                <a:latin typeface="+mj-lt"/>
              </a:rPr>
              <a:t>Quá trình ngưng tụ hơi nước thành nước mưa</a:t>
            </a:r>
            <a:endParaRPr lang="en-US" sz="2000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371600" y="1612073"/>
            <a:ext cx="685800" cy="5143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1616421"/>
            <a:ext cx="685800" cy="5143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4770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27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64120" y="391000"/>
            <a:ext cx="8281555" cy="2678431"/>
            <a:chOff x="100445" y="304800"/>
            <a:chExt cx="8281555" cy="3571241"/>
          </a:xfrm>
        </p:grpSpPr>
        <p:sp>
          <p:nvSpPr>
            <p:cNvPr id="4" name="Rectangle 3"/>
            <p:cNvSpPr/>
            <p:nvPr/>
          </p:nvSpPr>
          <p:spPr>
            <a:xfrm>
              <a:off x="1981200" y="304800"/>
              <a:ext cx="6400800" cy="1371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tabLst>
                  <a:tab pos="257175" algn="l"/>
                  <a:tab pos="1285875" algn="l"/>
                  <a:tab pos="2363153" algn="l"/>
                </a:tabLst>
              </a:pPr>
              <a:r>
                <a:rPr lang="pt-BR" sz="2100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	</a:t>
              </a:r>
              <a:endParaRPr lang="x-none" sz="21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00445" y="462002"/>
              <a:ext cx="8128598" cy="3414039"/>
              <a:chOff x="100445" y="462002"/>
              <a:chExt cx="8128598" cy="3414039"/>
            </a:xfrm>
          </p:grpSpPr>
          <p:pic>
            <p:nvPicPr>
              <p:cNvPr id="5" name="Picture 4" descr="D:\liên kết CHT\question-mark-300x300.pn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57014">
                <a:off x="6487159" y="2134157"/>
                <a:ext cx="1741884" cy="17418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Oval 10"/>
              <p:cNvSpPr/>
              <p:nvPr/>
            </p:nvSpPr>
            <p:spPr>
              <a:xfrm>
                <a:off x="100445" y="462002"/>
                <a:ext cx="1676400" cy="8382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b="1" dirty="0" err="1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Câu</a:t>
                </a:r>
                <a:r>
                  <a:rPr lang="en-US" sz="21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100" b="1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5</a:t>
                </a:r>
                <a:endPara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1371600" y="1600200"/>
            <a:ext cx="4724400" cy="514350"/>
            <a:chOff x="1371600" y="2133600"/>
            <a:chExt cx="4724400" cy="685800"/>
          </a:xfrm>
        </p:grpSpPr>
        <p:sp>
          <p:nvSpPr>
            <p:cNvPr id="6" name="Rounded Rectangle 5"/>
            <p:cNvSpPr/>
            <p:nvPr/>
          </p:nvSpPr>
          <p:spPr>
            <a:xfrm>
              <a:off x="2362200" y="2133600"/>
              <a:ext cx="37338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195,66 J/K</a:t>
              </a:r>
              <a:endParaRPr lang="en-US" sz="19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371600" y="21336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371600" y="2343150"/>
            <a:ext cx="4724400" cy="514350"/>
            <a:chOff x="1371600" y="3124200"/>
            <a:chExt cx="4724400" cy="685800"/>
          </a:xfrm>
        </p:grpSpPr>
        <p:sp>
          <p:nvSpPr>
            <p:cNvPr id="9" name="Rounded Rectangle 8"/>
            <p:cNvSpPr/>
            <p:nvPr/>
          </p:nvSpPr>
          <p:spPr>
            <a:xfrm>
              <a:off x="2438400" y="31242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       </a:t>
              </a:r>
              <a:r>
                <a:rPr lang="vi-VN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93,09 </a:t>
              </a:r>
              <a:r>
                <a:rPr lang="vi-V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J/K</a:t>
              </a:r>
              <a:endParaRPr lang="en-US" sz="19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371600" y="31242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371600" y="3086100"/>
            <a:ext cx="4572000" cy="514350"/>
            <a:chOff x="1371600" y="4114800"/>
            <a:chExt cx="4572000" cy="685800"/>
          </a:xfrm>
        </p:grpSpPr>
        <p:sp>
          <p:nvSpPr>
            <p:cNvPr id="7" name="Rounded Rectangle 6"/>
            <p:cNvSpPr/>
            <p:nvPr/>
          </p:nvSpPr>
          <p:spPr>
            <a:xfrm>
              <a:off x="2362200" y="41148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dirty="0">
                  <a:solidFill>
                    <a:schemeClr val="tx1"/>
                  </a:solidFill>
                  <a:latin typeface="+mj-lt"/>
                </a:rPr>
                <a:t>Entropy.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371600" y="3829051"/>
            <a:ext cx="4572000" cy="628651"/>
            <a:chOff x="1371600" y="5105399"/>
            <a:chExt cx="4572000" cy="838201"/>
          </a:xfrm>
        </p:grpSpPr>
        <p:sp>
          <p:nvSpPr>
            <p:cNvPr id="8" name="Rounded Rectangle 7"/>
            <p:cNvSpPr/>
            <p:nvPr/>
          </p:nvSpPr>
          <p:spPr>
            <a:xfrm>
              <a:off x="2438400" y="5105399"/>
              <a:ext cx="3505200" cy="83820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-93,09 J/K</a:t>
              </a:r>
              <a:endParaRPr lang="en-US" sz="20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6781800" y="4457701"/>
            <a:ext cx="1066800" cy="585891"/>
            <a:chOff x="4875" y="3187"/>
            <a:chExt cx="885" cy="914"/>
          </a:xfrm>
        </p:grpSpPr>
        <p:pic>
          <p:nvPicPr>
            <p:cNvPr id="43" name="Picture 8" descr="Ketqua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037" y="3187"/>
              <a:ext cx="396" cy="492"/>
            </a:xfrm>
            <a:prstGeom prst="rect">
              <a:avLst/>
            </a:prstGeom>
            <a:noFill/>
          </p:spPr>
        </p:pic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875" y="3705"/>
              <a:ext cx="885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Đáp</a:t>
              </a:r>
              <a:r>
                <a:rPr lang="en-US" sz="1050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án</a:t>
              </a:r>
              <a:endParaRPr lang="en-US" sz="105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sp>
        <p:nvSpPr>
          <p:cNvPr id="30" name="Rectangle 1">
            <a:extLst>
              <a:ext uri="{FF2B5EF4-FFF2-40B4-BE49-F238E27FC236}">
                <a16:creationId xmlns:a16="http://schemas.microsoft.com/office/drawing/2014/main" xmlns="" id="{9F29BFE4-BB63-4640-9E8E-01F593A19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529" y="61560"/>
            <a:ext cx="2151530" cy="4385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anchor="ctr">
            <a:spAutoFit/>
          </a:bodyPr>
          <a:lstStyle>
            <a:lvl1pPr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25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CỦNG CỐ</a:t>
            </a:r>
            <a:endParaRPr lang="en-US" altLang="en-US" sz="225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389529" y="3086098"/>
            <a:ext cx="4572000" cy="514353"/>
            <a:chOff x="1371600" y="4114796"/>
            <a:chExt cx="4572000" cy="685804"/>
          </a:xfrm>
        </p:grpSpPr>
        <p:sp>
          <p:nvSpPr>
            <p:cNvPr id="32" name="Rounded Rectangle 31"/>
            <p:cNvSpPr/>
            <p:nvPr/>
          </p:nvSpPr>
          <p:spPr>
            <a:xfrm>
              <a:off x="2362200" y="4114796"/>
              <a:ext cx="3581400" cy="68579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-195,66 J/K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1884829" y="591205"/>
            <a:ext cx="646084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b="1" dirty="0" smtClean="0">
                <a:latin typeface="+mj-lt"/>
                <a:ea typeface="Calibri" panose="020F0502020204030204" pitchFamily="34" charset="0"/>
              </a:rPr>
              <a:t> </a:t>
            </a:r>
            <a:r>
              <a:rPr lang="vi-VN" dirty="0">
                <a:latin typeface="+mj-lt"/>
                <a:ea typeface="Calibri" panose="020F0502020204030204" pitchFamily="34" charset="0"/>
              </a:rPr>
              <a:t>Cho phản ứng hóa học sau: Cu (s) + ½ O</a:t>
            </a:r>
            <a:r>
              <a:rPr lang="vi-VN" baseline="-25000" dirty="0">
                <a:latin typeface="+mj-lt"/>
                <a:ea typeface="Calibri" panose="020F0502020204030204" pitchFamily="34" charset="0"/>
              </a:rPr>
              <a:t>2</a:t>
            </a:r>
            <a:r>
              <a:rPr lang="vi-VN" dirty="0">
                <a:latin typeface="+mj-lt"/>
                <a:ea typeface="Calibri" panose="020F0502020204030204" pitchFamily="34" charset="0"/>
              </a:rPr>
              <a:t> (g) → CuO (s</a:t>
            </a:r>
            <a:r>
              <a:rPr lang="vi-VN" dirty="0" smtClean="0">
                <a:latin typeface="+mj-lt"/>
                <a:ea typeface="Calibri" panose="020F0502020204030204" pitchFamily="34" charset="0"/>
              </a:rPr>
              <a:t>).</a:t>
            </a:r>
            <a:r>
              <a:rPr lang="vi-VN" dirty="0">
                <a:latin typeface="+mj-lt"/>
              </a:rPr>
              <a:t> Biết rằng entropy chuẩn của các chất ở 298K như sau: </a:t>
            </a:r>
            <a:r>
              <a:rPr lang="en-US" dirty="0" smtClean="0">
                <a:latin typeface="+mj-lt"/>
              </a:rPr>
              <a:t>     </a:t>
            </a:r>
            <a:r>
              <a:rPr lang="vi-VN" dirty="0" smtClean="0">
                <a:latin typeface="+mj-lt"/>
                <a:ea typeface="Calibri" panose="020F0502020204030204" pitchFamily="34" charset="0"/>
              </a:rPr>
              <a:t> </a:t>
            </a:r>
            <a:r>
              <a:rPr lang="en-US" dirty="0" smtClean="0">
                <a:latin typeface="+mj-lt"/>
                <a:ea typeface="Calibri" panose="020F0502020204030204" pitchFamily="34" charset="0"/>
              </a:rPr>
              <a:t>(</a:t>
            </a:r>
            <a:r>
              <a:rPr lang="vi-VN" dirty="0" smtClean="0">
                <a:latin typeface="+mj-lt"/>
              </a:rPr>
              <a:t>Cu,s</a:t>
            </a:r>
            <a:r>
              <a:rPr lang="vi-VN" dirty="0">
                <a:latin typeface="+mj-lt"/>
              </a:rPr>
              <a:t>) = 33,15 J/mol·K</a:t>
            </a:r>
            <a:r>
              <a:rPr lang="vi-VN" dirty="0" smtClean="0">
                <a:latin typeface="+mj-lt"/>
              </a:rPr>
              <a:t>;</a:t>
            </a:r>
            <a:r>
              <a:rPr lang="en-US" dirty="0" smtClean="0">
                <a:latin typeface="+mj-lt"/>
              </a:rPr>
              <a:t>     </a:t>
            </a:r>
            <a:r>
              <a:rPr lang="vi-VN" dirty="0" smtClean="0">
                <a:latin typeface="+mj-lt"/>
              </a:rPr>
              <a:t> </a:t>
            </a:r>
            <a:r>
              <a:rPr lang="vi-VN" altLang="en-US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(O</a:t>
            </a:r>
            <a:r>
              <a:rPr lang="vi-VN" altLang="en-US" baseline="-30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vi-VN" altLang="en-US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,g) = 205,14 J/mol·K; </a:t>
            </a:r>
            <a:endParaRPr lang="vi-VN" altLang="en-US" sz="2000" dirty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  <p:sp>
        <p:nvSpPr>
          <p:cNvPr id="27" name="Rectangle 9"/>
          <p:cNvSpPr>
            <a:spLocks noChangeArrowheads="1"/>
          </p:cNvSpPr>
          <p:nvPr/>
        </p:nvSpPr>
        <p:spPr bwMode="auto">
          <a:xfrm>
            <a:off x="4939553" y="87153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030380"/>
              </p:ext>
            </p:extLst>
          </p:nvPr>
        </p:nvGraphicFramePr>
        <p:xfrm>
          <a:off x="3838528" y="865156"/>
          <a:ext cx="25717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1" name="Equation" r:id="rId6" imgW="253890" imgH="241195" progId="Equation.DSMT4">
                  <p:embed/>
                </p:oleObj>
              </mc:Choice>
              <mc:Fallback>
                <p:oleObj name="Equation" r:id="rId6" imgW="253890" imgH="24119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28" y="865156"/>
                        <a:ext cx="257175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658809"/>
              </p:ext>
            </p:extLst>
          </p:nvPr>
        </p:nvGraphicFramePr>
        <p:xfrm>
          <a:off x="5833781" y="799254"/>
          <a:ext cx="31115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Equation" r:id="rId8" imgW="253800" imgH="241200" progId="Equation.DSMT4">
                  <p:embed/>
                </p:oleObj>
              </mc:Choice>
              <mc:Fallback>
                <p:oleObj name="Equation" r:id="rId8" imgW="253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33781" y="799254"/>
                        <a:ext cx="311150" cy="295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443507"/>
              </p:ext>
            </p:extLst>
          </p:nvPr>
        </p:nvGraphicFramePr>
        <p:xfrm>
          <a:off x="2560675" y="1084348"/>
          <a:ext cx="25717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3" name="Equation" r:id="rId10" imgW="253890" imgH="241195" progId="Equation.DSMT4">
                  <p:embed/>
                </p:oleObj>
              </mc:Choice>
              <mc:Fallback>
                <p:oleObj name="Equation" r:id="rId10" imgW="253890" imgH="24119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675" y="1084348"/>
                        <a:ext cx="257175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2781009" y="12090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(CuO,s) = 42,63 J/mol·K. Biến thiên entropy của phản ứng trên là</a:t>
            </a:r>
            <a:endParaRPr kumimoji="0" lang="vi-V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1371600" y="3829050"/>
            <a:ext cx="4572000" cy="628651"/>
            <a:chOff x="1371600" y="5105399"/>
            <a:chExt cx="4572000" cy="838201"/>
          </a:xfrm>
        </p:grpSpPr>
        <p:sp>
          <p:nvSpPr>
            <p:cNvPr id="53" name="Rounded Rectangle 52"/>
            <p:cNvSpPr/>
            <p:nvPr/>
          </p:nvSpPr>
          <p:spPr>
            <a:xfrm>
              <a:off x="2438400" y="5105399"/>
              <a:ext cx="3505200" cy="83820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-93,09 J/K</a:t>
              </a:r>
              <a:endParaRPr lang="en-US" sz="20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389529" y="3829050"/>
            <a:ext cx="4572000" cy="628651"/>
            <a:chOff x="1371600" y="5105399"/>
            <a:chExt cx="4572000" cy="838201"/>
          </a:xfrm>
        </p:grpSpPr>
        <p:sp>
          <p:nvSpPr>
            <p:cNvPr id="56" name="Rounded Rectangle 55"/>
            <p:cNvSpPr/>
            <p:nvPr/>
          </p:nvSpPr>
          <p:spPr>
            <a:xfrm>
              <a:off x="2438400" y="5105399"/>
              <a:ext cx="3505200" cy="83820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-93,09 J/K</a:t>
              </a:r>
              <a:endParaRPr lang="en-US" sz="2000" b="1" dirty="0">
                <a:solidFill>
                  <a:srgbClr val="FF0000"/>
                </a:solidFill>
                <a:latin typeface="+mj-lt"/>
              </a:endParaRP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26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362174"/>
            <a:ext cx="8281555" cy="2678431"/>
            <a:chOff x="100445" y="304800"/>
            <a:chExt cx="8281555" cy="3571241"/>
          </a:xfrm>
        </p:grpSpPr>
        <p:sp>
          <p:nvSpPr>
            <p:cNvPr id="4" name="Rectangle 3"/>
            <p:cNvSpPr/>
            <p:nvPr/>
          </p:nvSpPr>
          <p:spPr>
            <a:xfrm>
              <a:off x="1981200" y="304800"/>
              <a:ext cx="6400800" cy="1371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tabLst>
                  <a:tab pos="257175" algn="l"/>
                  <a:tab pos="1285875" algn="l"/>
                  <a:tab pos="2363153" algn="l"/>
                </a:tabLst>
              </a:pPr>
              <a:r>
                <a:rPr lang="pt-BR" sz="2100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	</a:t>
              </a:r>
              <a:endParaRPr lang="x-none" sz="21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00445" y="462002"/>
              <a:ext cx="8128598" cy="3414039"/>
              <a:chOff x="100445" y="462002"/>
              <a:chExt cx="8128598" cy="3414039"/>
            </a:xfrm>
          </p:grpSpPr>
          <p:pic>
            <p:nvPicPr>
              <p:cNvPr id="5" name="Picture 4" descr="D:\liên kết CHT\question-mark-300x300.pn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57014">
                <a:off x="6487159" y="2134157"/>
                <a:ext cx="1741884" cy="17418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Oval 10"/>
              <p:cNvSpPr/>
              <p:nvPr/>
            </p:nvSpPr>
            <p:spPr>
              <a:xfrm>
                <a:off x="100445" y="462002"/>
                <a:ext cx="1676400" cy="8382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b="1" dirty="0" err="1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Câu</a:t>
                </a:r>
                <a:r>
                  <a:rPr lang="en-US" sz="21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 6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1371600" y="1600200"/>
            <a:ext cx="4724400" cy="514350"/>
            <a:chOff x="1371600" y="2133600"/>
            <a:chExt cx="4724400" cy="685800"/>
          </a:xfrm>
        </p:grpSpPr>
        <p:sp>
          <p:nvSpPr>
            <p:cNvPr id="6" name="Rounded Rectangle 5"/>
            <p:cNvSpPr/>
            <p:nvPr/>
          </p:nvSpPr>
          <p:spPr>
            <a:xfrm>
              <a:off x="2362200" y="2133600"/>
              <a:ext cx="37338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-252,6</a:t>
              </a:r>
              <a:r>
                <a:rPr lang="vi-VN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J/K</a:t>
              </a:r>
              <a:endParaRPr lang="en-US" sz="19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371600" y="21336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371600" y="2343150"/>
            <a:ext cx="4724400" cy="514350"/>
            <a:chOff x="1371600" y="3124200"/>
            <a:chExt cx="4724400" cy="685800"/>
          </a:xfrm>
        </p:grpSpPr>
        <p:sp>
          <p:nvSpPr>
            <p:cNvPr id="9" name="Rounded Rectangle 8"/>
            <p:cNvSpPr/>
            <p:nvPr/>
          </p:nvSpPr>
          <p:spPr>
            <a:xfrm>
              <a:off x="2438400" y="3124200"/>
              <a:ext cx="36576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       -13,4</a:t>
              </a:r>
              <a:r>
                <a:rPr lang="vi-VN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vi-V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J/K</a:t>
              </a:r>
              <a:endParaRPr lang="en-US" sz="19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371600" y="31242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371600" y="3086100"/>
            <a:ext cx="4572000" cy="514350"/>
            <a:chOff x="1371600" y="4114800"/>
            <a:chExt cx="4572000" cy="685800"/>
          </a:xfrm>
        </p:grpSpPr>
        <p:sp>
          <p:nvSpPr>
            <p:cNvPr id="7" name="Rounded Rectangle 6"/>
            <p:cNvSpPr/>
            <p:nvPr/>
          </p:nvSpPr>
          <p:spPr>
            <a:xfrm>
              <a:off x="2362200" y="4114800"/>
              <a:ext cx="3581400" cy="6858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dirty="0">
                  <a:solidFill>
                    <a:schemeClr val="tx1"/>
                  </a:solidFill>
                  <a:latin typeface="+mj-lt"/>
                </a:rPr>
                <a:t>Entropy.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371600" y="3829051"/>
            <a:ext cx="4572000" cy="628651"/>
            <a:chOff x="1371600" y="5105399"/>
            <a:chExt cx="4572000" cy="838201"/>
          </a:xfrm>
        </p:grpSpPr>
        <p:sp>
          <p:nvSpPr>
            <p:cNvPr id="8" name="Rounded Rectangle 7"/>
            <p:cNvSpPr/>
            <p:nvPr/>
          </p:nvSpPr>
          <p:spPr>
            <a:xfrm>
              <a:off x="2438400" y="5105399"/>
              <a:ext cx="3505200" cy="83820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vi-V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-93,09 J/K</a:t>
              </a:r>
              <a:endParaRPr lang="en-US" sz="20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6781800" y="4457701"/>
            <a:ext cx="1066800" cy="585891"/>
            <a:chOff x="4875" y="3187"/>
            <a:chExt cx="885" cy="914"/>
          </a:xfrm>
        </p:grpSpPr>
        <p:pic>
          <p:nvPicPr>
            <p:cNvPr id="43" name="Picture 8" descr="Ketqua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037" y="3187"/>
              <a:ext cx="396" cy="492"/>
            </a:xfrm>
            <a:prstGeom prst="rect">
              <a:avLst/>
            </a:prstGeom>
            <a:noFill/>
          </p:spPr>
        </p:pic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4875" y="3705"/>
              <a:ext cx="885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Đáp</a:t>
              </a:r>
              <a:r>
                <a:rPr lang="en-US" sz="1050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sz="1050" b="1" dirty="0" err="1">
                  <a:solidFill>
                    <a:srgbClr val="0000FF"/>
                  </a:solidFill>
                  <a:latin typeface="Times New Roman" pitchFamily="18" charset="0"/>
                </a:rPr>
                <a:t>án</a:t>
              </a:r>
              <a:endParaRPr lang="en-US" sz="105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sp>
        <p:nvSpPr>
          <p:cNvPr id="30" name="Rectangle 1">
            <a:extLst>
              <a:ext uri="{FF2B5EF4-FFF2-40B4-BE49-F238E27FC236}">
                <a16:creationId xmlns:a16="http://schemas.microsoft.com/office/drawing/2014/main" xmlns="" id="{9F29BFE4-BB63-4640-9E8E-01F593A19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317" y="8261"/>
            <a:ext cx="2151530" cy="4385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anchor="ctr">
            <a:spAutoFit/>
          </a:bodyPr>
          <a:lstStyle>
            <a:lvl1pPr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25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CỦNG CỐ</a:t>
            </a:r>
            <a:endParaRPr lang="en-US" altLang="en-US" sz="225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389529" y="3086098"/>
            <a:ext cx="4572000" cy="514353"/>
            <a:chOff x="1371600" y="4114796"/>
            <a:chExt cx="4572000" cy="685804"/>
          </a:xfrm>
        </p:grpSpPr>
        <p:sp>
          <p:nvSpPr>
            <p:cNvPr id="32" name="Rounded Rectangle 31"/>
            <p:cNvSpPr/>
            <p:nvPr/>
          </p:nvSpPr>
          <p:spPr>
            <a:xfrm>
              <a:off x="2362200" y="4114796"/>
              <a:ext cx="3581400" cy="68579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13,4</a:t>
              </a:r>
              <a:r>
                <a:rPr lang="vi-VN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vi-V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J/K</a:t>
              </a:r>
              <a:endParaRPr lang="en-US" sz="2000" b="1" dirty="0">
                <a:solidFill>
                  <a:schemeClr val="tx1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1884829" y="591205"/>
            <a:ext cx="646084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b="1" dirty="0" smtClean="0">
                <a:latin typeface="+mj-lt"/>
                <a:ea typeface="Calibri" panose="020F0502020204030204" pitchFamily="34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</a:rPr>
              <a:t>Cho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phản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</a:rPr>
              <a:t>ứng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</a:rPr>
              <a:t>hóa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</a:rPr>
              <a:t>học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</a:rPr>
              <a:t>sau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</a:rPr>
              <a:t>xảy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</a:rPr>
              <a:t> ra ở 25</a:t>
            </a:r>
            <a:r>
              <a:rPr lang="fr-FR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℃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</a:rPr>
              <a:t>: SnCl</a:t>
            </a:r>
            <a:r>
              <a:rPr lang="fr-FR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</a:rPr>
              <a:t> (l) + 2H</a:t>
            </a:r>
            <a:r>
              <a:rPr lang="fr-FR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</a:rPr>
              <a:t>O (l) → SnO</a:t>
            </a:r>
            <a:r>
              <a:rPr lang="fr-FR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</a:rPr>
              <a:t> (s) + 4HCl (g) </a:t>
            </a:r>
            <a:r>
              <a:rPr lang="fr-FR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fr-FR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vi-VN" altLang="en-US" sz="2000" dirty="0">
              <a:solidFill>
                <a:schemeClr val="tx1"/>
              </a:solidFill>
              <a:latin typeface="+mj-lt"/>
            </a:endParaRPr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7" name="Rectangle 9"/>
          <p:cNvSpPr>
            <a:spLocks noChangeArrowheads="1"/>
          </p:cNvSpPr>
          <p:nvPr/>
        </p:nvSpPr>
        <p:spPr bwMode="auto">
          <a:xfrm>
            <a:off x="4939553" y="87153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52" name="Group 51"/>
          <p:cNvGrpSpPr/>
          <p:nvPr/>
        </p:nvGrpSpPr>
        <p:grpSpPr>
          <a:xfrm>
            <a:off x="1371600" y="3829050"/>
            <a:ext cx="4572000" cy="628651"/>
            <a:chOff x="1371600" y="5105399"/>
            <a:chExt cx="4572000" cy="838201"/>
          </a:xfrm>
        </p:grpSpPr>
        <p:sp>
          <p:nvSpPr>
            <p:cNvPr id="53" name="Rounded Rectangle 52"/>
            <p:cNvSpPr/>
            <p:nvPr/>
          </p:nvSpPr>
          <p:spPr>
            <a:xfrm>
              <a:off x="2438400" y="5105399"/>
              <a:ext cx="3505200" cy="83820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b="1" dirty="0" smtClean="0">
                  <a:solidFill>
                    <a:schemeClr val="tx1"/>
                  </a:solidFill>
                  <a:latin typeface="+mj-lt"/>
                </a:rPr>
                <a:t> </a:t>
              </a:r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252,6</a:t>
              </a:r>
              <a:r>
                <a:rPr lang="vi-VN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vi-V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J/K</a:t>
              </a:r>
              <a:endParaRPr lang="en-US" sz="20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371600" y="51054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88422"/>
              </p:ext>
            </p:extLst>
          </p:nvPr>
        </p:nvGraphicFramePr>
        <p:xfrm>
          <a:off x="2348502" y="853619"/>
          <a:ext cx="40005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Equation" r:id="rId6" imgW="393529" imgH="241195" progId="Equation.DSMT4">
                  <p:embed/>
                </p:oleObj>
              </mc:Choice>
              <mc:Fallback>
                <p:oleObj name="Equation" r:id="rId6" imgW="393529" imgH="24119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8502" y="853619"/>
                        <a:ext cx="400050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234183"/>
              </p:ext>
            </p:extLst>
          </p:nvPr>
        </p:nvGraphicFramePr>
        <p:xfrm>
          <a:off x="3729317" y="831031"/>
          <a:ext cx="36195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name="Equation" r:id="rId8" imgW="355446" imgH="241195" progId="Equation.DSMT4">
                  <p:embed/>
                </p:oleObj>
              </mc:Choice>
              <mc:Fallback>
                <p:oleObj name="Equation" r:id="rId8" imgW="355446" imgH="24119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317" y="831031"/>
                        <a:ext cx="361950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613159"/>
              </p:ext>
            </p:extLst>
          </p:nvPr>
        </p:nvGraphicFramePr>
        <p:xfrm>
          <a:off x="2492188" y="1086981"/>
          <a:ext cx="38428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name="Equation" r:id="rId10" imgW="393480" imgH="241200" progId="Equation.DSMT4">
                  <p:embed/>
                </p:oleObj>
              </mc:Choice>
              <mc:Fallback>
                <p:oleObj name="Equation" r:id="rId10" imgW="393480" imgH="24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188" y="1086981"/>
                        <a:ext cx="384280" cy="238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2643753" y="98919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133,0 kJ; </a:t>
            </a:r>
            <a:endParaRPr kumimoji="0" lang="fr-F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4088116" y="786421"/>
            <a:ext cx="3448380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401,5 J/K. </a:t>
            </a:r>
            <a:r>
              <a:rPr kumimoji="0" lang="fr-FR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thiên</a:t>
            </a: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 Gibbs </a:t>
            </a:r>
            <a:endParaRPr kumimoji="0" lang="fr-F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2380129" y="1042436"/>
            <a:ext cx="2029723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       ) </a:t>
            </a:r>
            <a:r>
              <a:rPr kumimoji="0" lang="fr-FR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</a:t>
            </a: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en-US" sz="13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kumimoji="0" lang="fr-FR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là</a:t>
            </a:r>
            <a:endParaRPr kumimoji="0" lang="fr-F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1389530" y="3086094"/>
            <a:ext cx="4572000" cy="514353"/>
            <a:chOff x="1371600" y="4114796"/>
            <a:chExt cx="4572000" cy="685804"/>
          </a:xfrm>
        </p:grpSpPr>
        <p:sp>
          <p:nvSpPr>
            <p:cNvPr id="51" name="Rounded Rectangle 50"/>
            <p:cNvSpPr/>
            <p:nvPr/>
          </p:nvSpPr>
          <p:spPr>
            <a:xfrm>
              <a:off x="2362200" y="4114796"/>
              <a:ext cx="3581400" cy="68579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13,4</a:t>
              </a:r>
              <a:r>
                <a:rPr lang="vi-V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vi-V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J/K</a:t>
              </a:r>
              <a:endParaRPr lang="en-US" sz="2000" b="1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1371600" y="4114800"/>
              <a:ext cx="685800" cy="68580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754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hững hình ảnh cảm ơn đẹp nhất">
            <a:extLst>
              <a:ext uri="{FF2B5EF4-FFF2-40B4-BE49-F238E27FC236}">
                <a16:creationId xmlns:a16="http://schemas.microsoft.com/office/drawing/2014/main" xmlns="" id="{3F4F8AF5-2F1A-16D5-EFEC-BCDC67555F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89"/>
          <a:stretch/>
        </p:blipFill>
        <p:spPr bwMode="auto">
          <a:xfrm>
            <a:off x="15" y="961"/>
            <a:ext cx="9143985" cy="514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91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Cymbel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EFEFEF"/>
      </a:lt2>
      <a:accent1>
        <a:srgbClr val="485364"/>
      </a:accent1>
      <a:accent2>
        <a:srgbClr val="63728A"/>
      </a:accent2>
      <a:accent3>
        <a:srgbClr val="8B9AB3"/>
      </a:accent3>
      <a:accent4>
        <a:srgbClr val="9E8473"/>
      </a:accent4>
      <a:accent5>
        <a:srgbClr val="CAAE9C"/>
      </a:accent5>
      <a:accent6>
        <a:srgbClr val="DFCEC3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1267</Words>
  <Application>Microsoft Office PowerPoint</Application>
  <PresentationFormat>On-screen Show (16:9)</PresentationFormat>
  <Paragraphs>331</Paragraphs>
  <Slides>26</Slides>
  <Notes>19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Poppins Light</vt:lpstr>
      <vt:lpstr>Poppins</vt:lpstr>
      <vt:lpstr>.VnBlack</vt:lpstr>
      <vt:lpstr>Calibri</vt:lpstr>
      <vt:lpstr>Times New Roman</vt:lpstr>
      <vt:lpstr>Cambria Math</vt:lpstr>
      <vt:lpstr>Cymbeline template</vt:lpstr>
      <vt:lpstr>Equation</vt:lpstr>
      <vt:lpstr>PowerPoint Presentation</vt:lpstr>
      <vt:lpstr>TRÒ CHƠI “GIẬT CỜ”</vt:lpstr>
      <vt:lpstr>PowerPoint Presentation</vt:lpstr>
      <vt:lpstr>PowerPoint Presentation</vt:lpstr>
      <vt:lpstr>Bài 4.  ENTROPY  VÀ BIẾN THIÊN NĂNG LƯỢNG  TỰ DO GIBBS </vt:lpstr>
      <vt:lpstr>QUAN SÁT MỘT SỐ HÌNH ẢNH </vt:lpstr>
      <vt:lpstr>1. Entropy và mức dộ mất trật tự trong hệ vĩ mô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II. NĂNG  LƯỢNG TỰ DO GIBBS:</vt:lpstr>
      <vt:lpstr>II. NĂNG  LƯỢNG TỰ DO GIBBS: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60</cp:revision>
  <dcterms:modified xsi:type="dcterms:W3CDTF">2022-09-14T12:14:49Z</dcterms:modified>
</cp:coreProperties>
</file>