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  <p:sldMasterId id="2147483830" r:id="rId2"/>
  </p:sldMasterIdLst>
  <p:notesMasterIdLst>
    <p:notesMasterId r:id="rId34"/>
  </p:notesMasterIdLst>
  <p:sldIdLst>
    <p:sldId id="257" r:id="rId3"/>
    <p:sldId id="295" r:id="rId4"/>
    <p:sldId id="347" r:id="rId5"/>
    <p:sldId id="364" r:id="rId6"/>
    <p:sldId id="365" r:id="rId7"/>
    <p:sldId id="366" r:id="rId8"/>
    <p:sldId id="354" r:id="rId9"/>
    <p:sldId id="367" r:id="rId10"/>
    <p:sldId id="333" r:id="rId11"/>
    <p:sldId id="368" r:id="rId12"/>
    <p:sldId id="335" r:id="rId13"/>
    <p:sldId id="321" r:id="rId14"/>
    <p:sldId id="334" r:id="rId15"/>
    <p:sldId id="369" r:id="rId16"/>
    <p:sldId id="370" r:id="rId17"/>
    <p:sldId id="339" r:id="rId18"/>
    <p:sldId id="371" r:id="rId19"/>
    <p:sldId id="372" r:id="rId20"/>
    <p:sldId id="373" r:id="rId21"/>
    <p:sldId id="256" r:id="rId22"/>
    <p:sldId id="374" r:id="rId23"/>
    <p:sldId id="375" r:id="rId24"/>
    <p:sldId id="376" r:id="rId25"/>
    <p:sldId id="377" r:id="rId26"/>
    <p:sldId id="378" r:id="rId27"/>
    <p:sldId id="379" r:id="rId28"/>
    <p:sldId id="380" r:id="rId29"/>
    <p:sldId id="381" r:id="rId30"/>
    <p:sldId id="382" r:id="rId31"/>
    <p:sldId id="361" r:id="rId32"/>
    <p:sldId id="383" r:id="rId33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huong Nguyen" initials="PN" lastIdx="2" clrIdx="0">
    <p:extLst>
      <p:ext uri="{19B8F6BF-5375-455C-9EA6-DF929625EA0E}">
        <p15:presenceInfo xmlns="" xmlns:p15="http://schemas.microsoft.com/office/powerpoint/2012/main" userId="35c48fb555943a3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39" autoAdjust="0"/>
    <p:restoredTop sz="93792" autoAdjust="0"/>
  </p:normalViewPr>
  <p:slideViewPr>
    <p:cSldViewPr snapToGrid="0">
      <p:cViewPr varScale="1">
        <p:scale>
          <a:sx n="71" d="100"/>
          <a:sy n="71" d="100"/>
        </p:scale>
        <p:origin x="-102" y="-18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8-01T14:31:53.407" idx="2">
    <p:pos x="10" y="10"/>
    <p:text/>
    <p:extLst>
      <p:ext uri="{C676402C-5697-4E1C-873F-D02D1690AC5C}">
        <p15:threadingInfo xmlns="" xmlns:p15="http://schemas.microsoft.com/office/powerpoint/2012/main" timeZoneBias="-420"/>
      </p:ext>
    </p:extLst>
  </p:cm>
</p:cmLst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A23690-1A5A-419E-B266-0C94662BFEDE}" type="datetimeFigureOut">
              <a:rPr lang="en-US" smtClean="0"/>
              <a:t>9/14/2022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BE18F-53DF-460A-97F1-86DB1008B8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94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9575" y="1233488"/>
            <a:ext cx="5916613" cy="3328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BE18F-53DF-460A-97F1-86DB1008B80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425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5725-1DC6-8F4D-B151-B26A06295F82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8099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B8B9E-81C0-D54B-972D-1E34DD4E94DB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4697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CD441-28A0-644C-8C5D-D3D2EDC24C3A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41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779-4EEE-C44A-A15A-4CB3164465E7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33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29AF5-82B8-B14E-AC0C-982807BAC7C3}" type="datetime1">
              <a:rPr lang="en-US" smtClean="0"/>
              <a:t>9/14/2022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993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3BC75-F9A2-F54E-830A-ACD65E0C21EE}" type="datetime1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734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5FFD-5824-5342-8CF7-AA015061EA90}" type="datetime1">
              <a:rPr lang="en-US" smtClean="0"/>
              <a:t>9/14/2022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85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1C9A-2621-4E43-9E62-050B0302CA58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957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9B6885-D058-564F-A1F2-E3B08688D422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54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7886C4-B160-9F4E-95D0-1E5F4F5F8D06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2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958E1-7598-4341-AD17-01CBC4C8E422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04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56183-3DAF-B948-B345-217F875EA67F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1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13279-135A-5E4D-9F4B-07BEDF801D79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44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4C502-123C-A54D-B952-702BFACE025D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260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D9AD1-F511-264C-B82C-9FDDE601AAAC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067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F6A34-2E54-8B4E-A49E-A757BB26E6D6}" type="datetime1">
              <a:rPr lang="en-US" smtClean="0"/>
              <a:t>9/14/2022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0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FAA4A-0130-DC43-9AD2-BA5D76223D62}" type="datetime1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58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13E45-3255-F648-ADF0-05AF5170C9E7}" type="datetime1">
              <a:rPr lang="en-US" smtClean="0"/>
              <a:t>9/14/2022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57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0319D-4BBD-CD4E-B6C8-B23C54B3170E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54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F712C-A7DF-444A-BF32-59EB35540528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7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F025F-3608-9A45-8EBD-EB39ECFA784A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8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03BB9-6813-BB4D-AB80-B00BCC98B846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0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6DF3D-5184-6444-BBA8-2149D9B823C3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357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B84F0-31AB-054E-AE46-6A3BE69251C1}" type="datetime1">
              <a:rPr lang="en-US" smtClean="0"/>
              <a:t>9/14/2022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BD325-0540-424F-92D3-0B085F1685C9}" type="datetime1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66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2A00D-A612-CA43-93D9-ACC2A3748738}" type="datetime1">
              <a:rPr lang="en-US" smtClean="0"/>
              <a:t>9/14/2022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376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07551-A6CD-094B-BE7E-6F0B5D7981DD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429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3231D-A6E7-6548-8CB2-E207AEA3C56A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8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F4C87-E82F-6244-BF81-68068A43BA34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6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1D9B52-9B95-DC4B-AC05-1A821C720E0F}" type="datetime1">
              <a:rPr lang="en-US" smtClean="0"/>
              <a:t>9/14/2022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B101FEF4-1AE9-4F49-BE45-C740CEDE9FE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704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FAF3838-AEA5-1A43-87FD-19A585EBB698}" type="datetime1">
              <a:rPr lang="en-US" altLang="en-US" smtClean="0"/>
              <a:t>9/14/2022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1A1A293-387A-4430-B15A-2D233AB591B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08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13.bin"/><Relationship Id="rId18" Type="http://schemas.openxmlformats.org/officeDocument/2006/relationships/oleObject" Target="../embeddings/oleObject16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21.wmf"/><Relationship Id="rId17" Type="http://schemas.openxmlformats.org/officeDocument/2006/relationships/image" Target="../media/image23.wmf"/><Relationship Id="rId2" Type="http://schemas.openxmlformats.org/officeDocument/2006/relationships/slideLayout" Target="../slideLayouts/slideLayout19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image" Target="../media/image22.wmf"/><Relationship Id="rId10" Type="http://schemas.openxmlformats.org/officeDocument/2006/relationships/image" Target="../media/image20.wmf"/><Relationship Id="rId19" Type="http://schemas.openxmlformats.org/officeDocument/2006/relationships/image" Target="../media/image24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1.bin"/><Relationship Id="rId14" Type="http://schemas.openxmlformats.org/officeDocument/2006/relationships/oleObject" Target="../embeddings/oleObject14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5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6.bin"/><Relationship Id="rId2" Type="http://schemas.openxmlformats.org/officeDocument/2006/relationships/slideLayout" Target="../slideLayouts/slideLayout19.xml"/><Relationship Id="rId16" Type="http://schemas.openxmlformats.org/officeDocument/2006/relationships/image" Target="../media/image33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32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5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7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hyperlink" Target="https://vietnamnet.vn/nhung-dieu-chua-biet-ve-lo-hat-nhan-da-lat-86255.html" TargetMode="External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19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40.wmf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gif"/><Relationship Id="rId4" Type="http://schemas.openxmlformats.org/officeDocument/2006/relationships/image" Target="../media/image4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AAB57D5D-B39F-4EDC-AEE0-4C8EB07BEDB4}"/>
              </a:ext>
            </a:extLst>
          </p:cNvPr>
          <p:cNvSpPr/>
          <p:nvPr/>
        </p:nvSpPr>
        <p:spPr>
          <a:xfrm>
            <a:off x="2438400" y="685800"/>
            <a:ext cx="8229600" cy="548640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BEAB888-B2EB-4EFA-A4D2-C64240DB5C4F}"/>
              </a:ext>
            </a:extLst>
          </p:cNvPr>
          <p:cNvSpPr txBox="1"/>
          <p:nvPr/>
        </p:nvSpPr>
        <p:spPr>
          <a:xfrm>
            <a:off x="2438399" y="1092608"/>
            <a:ext cx="822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CHUYÊN ĐỀ 10.1: CƠ SỞ HÓA HỌC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0C9FD324-0EF0-4C4B-AFB8-099419DC9D5E}"/>
              </a:ext>
            </a:extLst>
          </p:cNvPr>
          <p:cNvSpPr txBox="1"/>
          <p:nvPr/>
        </p:nvSpPr>
        <p:spPr>
          <a:xfrm>
            <a:off x="2438399" y="2186494"/>
            <a:ext cx="8229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BÀI 2:</a:t>
            </a:r>
          </a:p>
          <a:p>
            <a:pPr algn="ctr"/>
            <a:r>
              <a:rPr lang="en-US" sz="4800" b="1" dirty="0" smtClean="0">
                <a:solidFill>
                  <a:srgbClr val="FF0000"/>
                </a:solidFill>
              </a:rPr>
              <a:t>NGUYÊN </a:t>
            </a:r>
            <a:r>
              <a:rPr lang="en-US" sz="4800" b="1" dirty="0">
                <a:solidFill>
                  <a:srgbClr val="FF0000"/>
                </a:solidFill>
              </a:rPr>
              <a:t>TỐ </a:t>
            </a:r>
            <a:r>
              <a:rPr lang="en-US" sz="4800" b="1" dirty="0" smtClean="0">
                <a:solidFill>
                  <a:srgbClr val="FF0000"/>
                </a:solidFill>
              </a:rPr>
              <a:t>HOÁ HỌC</a:t>
            </a:r>
            <a:endParaRPr lang="en-US" sz="4800" dirty="0">
              <a:solidFill>
                <a:srgbClr val="FF0000"/>
              </a:solidFill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="" xmlns:a16="http://schemas.microsoft.com/office/drawing/2014/main" id="{EC7489CA-D110-461F-AE24-F05EC963EF3B}"/>
              </a:ext>
            </a:extLst>
          </p:cNvPr>
          <p:cNvSpPr txBox="1"/>
          <p:nvPr/>
        </p:nvSpPr>
        <p:spPr>
          <a:xfrm>
            <a:off x="2438396" y="5180619"/>
            <a:ext cx="8229601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r"/>
            <a:endParaRPr lang="en-US" sz="3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5E08075-3BE2-4DD8-94E6-BEED7712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02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MỤC TIÊU BÀI HỌC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="" xmlns:mc="http://schemas.openxmlformats.org/markup-compatibility/2006" xmlns:a14="http://schemas.microsoft.com/office/drawing/2010/main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0" y="1155068"/>
            <a:ext cx="94615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itchFamily="2" charset="2"/>
              <a:buChar char="§"/>
            </a:pPr>
            <a:r>
              <a:rPr lang="en-US" sz="2800" dirty="0" err="1" smtClean="0"/>
              <a:t>Nêu</a:t>
            </a:r>
            <a:r>
              <a:rPr lang="en-US" sz="2800" dirty="0" smtClean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sơ</a:t>
            </a:r>
            <a:r>
              <a:rPr lang="en-US" sz="2800" dirty="0"/>
              <a:t> </a:t>
            </a:r>
            <a:r>
              <a:rPr lang="en-US" sz="2800" dirty="0" err="1"/>
              <a:t>lược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phóng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r>
              <a:rPr lang="en-US" sz="2800" dirty="0"/>
              <a:t>; </a:t>
            </a:r>
            <a:r>
              <a:rPr lang="en-US" sz="2800" dirty="0" err="1"/>
              <a:t>Lấy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ví</a:t>
            </a:r>
            <a:r>
              <a:rPr lang="en-US" sz="2800" dirty="0"/>
              <a:t> </a:t>
            </a:r>
            <a:r>
              <a:rPr lang="en-US" sz="2800" dirty="0" err="1"/>
              <a:t>dụ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phóng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r>
              <a:rPr lang="en-US" sz="2800" dirty="0"/>
              <a:t>. 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800" dirty="0" err="1" smtClean="0"/>
              <a:t>Vận</a:t>
            </a:r>
            <a:r>
              <a:rPr lang="en-US" sz="2800" dirty="0" smtClean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luật</a:t>
            </a:r>
            <a:r>
              <a:rPr lang="en-US" sz="2800" dirty="0"/>
              <a:t> </a:t>
            </a:r>
            <a:r>
              <a:rPr lang="en-US" sz="2800" dirty="0" err="1"/>
              <a:t>bảo</a:t>
            </a:r>
            <a:r>
              <a:rPr lang="en-US" sz="2800" dirty="0"/>
              <a:t> </a:t>
            </a:r>
            <a:r>
              <a:rPr lang="en-US" sz="2800" dirty="0" err="1"/>
              <a:t>toàn</a:t>
            </a:r>
            <a:r>
              <a:rPr lang="en-US" sz="2800" dirty="0"/>
              <a:t> </a:t>
            </a:r>
            <a:r>
              <a:rPr lang="en-US" sz="2800" dirty="0" err="1"/>
              <a:t>số</a:t>
            </a:r>
            <a:r>
              <a:rPr lang="en-US" sz="2800" dirty="0"/>
              <a:t> </a:t>
            </a:r>
            <a:r>
              <a:rPr lang="en-US" sz="2800" dirty="0" err="1"/>
              <a:t>khối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điện</a:t>
            </a:r>
            <a:r>
              <a:rPr lang="en-US" sz="2800" dirty="0"/>
              <a:t> </a:t>
            </a:r>
            <a:r>
              <a:rPr lang="en-US" sz="2800" dirty="0" err="1"/>
              <a:t>tích</a:t>
            </a:r>
            <a:r>
              <a:rPr lang="en-US" sz="2800" dirty="0"/>
              <a:t> </a:t>
            </a:r>
            <a:r>
              <a:rPr lang="en-US" sz="2800" dirty="0" err="1"/>
              <a:t>cho</a:t>
            </a:r>
            <a:r>
              <a:rPr lang="en-US" sz="2800" dirty="0"/>
              <a:t>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800" dirty="0" err="1" smtClean="0"/>
              <a:t>Nêu</a:t>
            </a:r>
            <a:r>
              <a:rPr lang="en-US" sz="2800" dirty="0" smtClean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sơ</a:t>
            </a:r>
            <a:r>
              <a:rPr lang="en-US" sz="2800" dirty="0"/>
              <a:t> </a:t>
            </a:r>
            <a:r>
              <a:rPr lang="en-US" sz="2800" dirty="0" err="1"/>
              <a:t>lược</a:t>
            </a:r>
            <a:r>
              <a:rPr lang="en-US" sz="2800" dirty="0"/>
              <a:t> </a:t>
            </a:r>
            <a:r>
              <a:rPr lang="en-US" sz="2800" dirty="0" err="1"/>
              <a:t>về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phóng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tạo</a:t>
            </a:r>
            <a:r>
              <a:rPr lang="en-US" sz="2800" dirty="0"/>
              <a:t>,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800" dirty="0" err="1" smtClean="0"/>
              <a:t>Nêu</a:t>
            </a:r>
            <a:r>
              <a:rPr lang="en-US" sz="2800" dirty="0" smtClean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phục</a:t>
            </a:r>
            <a:r>
              <a:rPr lang="en-US" sz="2800" dirty="0"/>
              <a:t> </a:t>
            </a:r>
            <a:r>
              <a:rPr lang="en-US" sz="2800" dirty="0" err="1"/>
              <a:t>vụ</a:t>
            </a:r>
            <a:r>
              <a:rPr lang="en-US" sz="2800" dirty="0"/>
              <a:t> </a:t>
            </a:r>
            <a:r>
              <a:rPr lang="en-US" sz="2800" dirty="0" err="1"/>
              <a:t>nghiên</a:t>
            </a:r>
            <a:r>
              <a:rPr lang="en-US" sz="2800" dirty="0"/>
              <a:t> </a:t>
            </a:r>
            <a:r>
              <a:rPr lang="en-US" sz="2800" dirty="0" err="1"/>
              <a:t>cứu</a:t>
            </a:r>
            <a:r>
              <a:rPr lang="en-US" sz="2800" dirty="0"/>
              <a:t> </a:t>
            </a:r>
            <a:r>
              <a:rPr lang="en-US" sz="2800" dirty="0" err="1"/>
              <a:t>khoa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, </a:t>
            </a:r>
            <a:r>
              <a:rPr lang="en-US" sz="2800" dirty="0" err="1"/>
              <a:t>đời</a:t>
            </a:r>
            <a:r>
              <a:rPr lang="en-US" sz="2800" dirty="0"/>
              <a:t> </a:t>
            </a:r>
            <a:r>
              <a:rPr lang="en-US" sz="2800" dirty="0" err="1"/>
              <a:t>sống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sản</a:t>
            </a:r>
            <a:r>
              <a:rPr lang="en-US" sz="2800" dirty="0"/>
              <a:t> </a:t>
            </a:r>
            <a:r>
              <a:rPr lang="en-US" sz="2800" dirty="0" err="1"/>
              <a:t>xuất</a:t>
            </a:r>
            <a:r>
              <a:rPr lang="en-US" sz="2800" dirty="0"/>
              <a:t>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err="1"/>
              <a:t>Nêu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điển</a:t>
            </a:r>
            <a:r>
              <a:rPr lang="en-US" sz="2800" dirty="0"/>
              <a:t> </a:t>
            </a:r>
            <a:r>
              <a:rPr lang="en-US" sz="2800" dirty="0" err="1"/>
              <a:t>hình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: </a:t>
            </a:r>
            <a:r>
              <a:rPr lang="en-US" sz="2800" dirty="0" err="1"/>
              <a:t>xác</a:t>
            </a:r>
            <a:r>
              <a:rPr lang="en-US" sz="2800" dirty="0"/>
              <a:t> </a:t>
            </a:r>
            <a:r>
              <a:rPr lang="en-US" sz="2800" dirty="0" err="1"/>
              <a:t>định</a:t>
            </a:r>
            <a:r>
              <a:rPr lang="en-US" sz="2800" dirty="0"/>
              <a:t> </a:t>
            </a:r>
            <a:r>
              <a:rPr lang="en-US" sz="2800" dirty="0" err="1"/>
              <a:t>niên</a:t>
            </a:r>
            <a:r>
              <a:rPr lang="en-US" sz="2800" dirty="0"/>
              <a:t> </a:t>
            </a:r>
            <a:r>
              <a:rPr lang="en-US" sz="2800" dirty="0" err="1"/>
              <a:t>đại</a:t>
            </a:r>
            <a:r>
              <a:rPr lang="en-US" sz="2800" dirty="0"/>
              <a:t> </a:t>
            </a:r>
            <a:r>
              <a:rPr lang="en-US" sz="2800" dirty="0" err="1"/>
              <a:t>cổ</a:t>
            </a:r>
            <a:r>
              <a:rPr lang="en-US" sz="2800" dirty="0"/>
              <a:t> </a:t>
            </a:r>
            <a:r>
              <a:rPr lang="en-US" sz="2800" dirty="0" err="1"/>
              <a:t>vật</a:t>
            </a:r>
            <a:r>
              <a:rPr lang="en-US" sz="2800" dirty="0"/>
              <a:t>, </a:t>
            </a:r>
            <a:r>
              <a:rPr lang="en-US" sz="2800" dirty="0" err="1"/>
              <a:t>các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dụng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err="1"/>
              <a:t>lĩnh</a:t>
            </a:r>
            <a:r>
              <a:rPr lang="en-US" sz="2800" dirty="0"/>
              <a:t> </a:t>
            </a:r>
            <a:r>
              <a:rPr lang="en-US" sz="2800" dirty="0" err="1"/>
              <a:t>vực</a:t>
            </a:r>
            <a:r>
              <a:rPr lang="en-US" sz="2800" dirty="0"/>
              <a:t> y </a:t>
            </a:r>
            <a:r>
              <a:rPr lang="en-US" sz="2800" dirty="0" err="1"/>
              <a:t>tế</a:t>
            </a:r>
            <a:r>
              <a:rPr lang="en-US" sz="2800" dirty="0"/>
              <a:t>, </a:t>
            </a:r>
            <a:r>
              <a:rPr lang="en-US" sz="2800" dirty="0" err="1"/>
              <a:t>năng</a:t>
            </a:r>
            <a:r>
              <a:rPr lang="en-US" sz="2800" dirty="0"/>
              <a:t> </a:t>
            </a:r>
            <a:r>
              <a:rPr lang="en-US" sz="2800" dirty="0" err="1"/>
              <a:t>lượng</a:t>
            </a:r>
            <a:r>
              <a:rPr lang="en-US" sz="2800" dirty="0"/>
              <a:t>,...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7A2E55E-8870-9D08-283E-C665FE67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11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>
                <a:latin typeface="Arial" panose="020B0604020202020204" pitchFamily="34" charset="0"/>
                <a:cs typeface="Arial" panose="020B0604020202020204" pitchFamily="34" charset="0"/>
              </a:rPr>
              <a:t>KHỞI ĐỘNG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="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2" y="-379801"/>
            <a:ext cx="8448676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 smtClean="0"/>
              <a:t>                                                 </a:t>
            </a:r>
          </a:p>
          <a:p>
            <a:r>
              <a:rPr lang="en-US" sz="2800" b="1" dirty="0" smtClean="0"/>
              <a:t> </a:t>
            </a:r>
          </a:p>
          <a:p>
            <a:r>
              <a:rPr lang="en-US" sz="2800" b="1" dirty="0"/>
              <a:t> </a:t>
            </a:r>
            <a:r>
              <a:rPr lang="en-US" sz="2800" b="1" dirty="0" smtClean="0"/>
              <a:t>                                                 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Thủy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ngân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Vàng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proton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Hg.       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Thêm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proton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Hg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electron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alpha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7999E2-ED33-8EC6-0312-C073883D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0" y="867026"/>
            <a:ext cx="93599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triển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trung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góp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người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ước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thuỷ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(Hg, Z = 80)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(Au, Z = 79).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họ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Tuy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ngày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nay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nhờ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mô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 </a:t>
            </a:r>
          </a:p>
        </p:txBody>
      </p:sp>
      <p:pic>
        <p:nvPicPr>
          <p:cNvPr id="14" name="Picture 13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2"/>
          <a:stretch/>
        </p:blipFill>
        <p:spPr bwMode="auto">
          <a:xfrm>
            <a:off x="7167245" y="2806018"/>
            <a:ext cx="2142490" cy="1092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Oval 6"/>
          <p:cNvSpPr/>
          <p:nvPr/>
        </p:nvSpPr>
        <p:spPr>
          <a:xfrm>
            <a:off x="1871662" y="4357316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2020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err="1"/>
              <a:t>Hoạt</a:t>
            </a:r>
            <a:r>
              <a:rPr lang="en-US" sz="3200" b="1" dirty="0"/>
              <a:t> </a:t>
            </a:r>
            <a:r>
              <a:rPr lang="en-US" sz="3200" b="1" dirty="0" err="1"/>
              <a:t>động</a:t>
            </a:r>
            <a:r>
              <a:rPr lang="en-US" sz="3200" b="1" dirty="0"/>
              <a:t> </a:t>
            </a:r>
            <a:r>
              <a:rPr lang="en-US" sz="3200" b="1" dirty="0" smtClean="0"/>
              <a:t> </a:t>
            </a:r>
            <a:r>
              <a:rPr lang="en-US" sz="3200" b="1" dirty="0"/>
              <a:t>H</a:t>
            </a:r>
            <a:r>
              <a:rPr lang="vi-VN" sz="3200" b="1" dirty="0"/>
              <a:t>ình thành kiến thức mới</a:t>
            </a:r>
            <a:endParaRPr lang="en-US" sz="3200" dirty="0"/>
          </a:p>
        </p:txBody>
      </p:sp>
      <p:sp>
        <p:nvSpPr>
          <p:cNvPr id="16" name="Rectangle 10">
            <a:extLst>
              <a:ext uri="{FF2B5EF4-FFF2-40B4-BE49-F238E27FC236}">
                <a16:creationId xmlns="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2" y="2456795"/>
            <a:ext cx="844867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 smtClean="0"/>
              <a:t>                                                 </a:t>
            </a:r>
          </a:p>
          <a:p>
            <a:r>
              <a:rPr lang="en-US" sz="2800" b="1" dirty="0" smtClean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7999E2-ED33-8EC6-0312-C073883D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4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524000" y="867026"/>
            <a:ext cx="9359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1. </a:t>
            </a:r>
            <a:r>
              <a:rPr lang="en-US" sz="2400" b="1" dirty="0" err="1"/>
              <a:t>T</a:t>
            </a:r>
            <a:r>
              <a:rPr lang="en-US" sz="2400" b="1" dirty="0" err="1" smtClean="0"/>
              <a:t>ìm</a:t>
            </a:r>
            <a:r>
              <a:rPr lang="en-US" sz="2400" b="1" dirty="0" smtClean="0"/>
              <a:t> </a:t>
            </a:r>
            <a:r>
              <a:rPr lang="en-US" sz="2400" b="1" dirty="0" err="1"/>
              <a:t>hiểu</a:t>
            </a:r>
            <a:r>
              <a:rPr lang="en-US" sz="2400" b="1" dirty="0"/>
              <a:t> </a:t>
            </a:r>
            <a:r>
              <a:rPr lang="en-US" sz="2400" b="1" dirty="0" err="1"/>
              <a:t>phản</a:t>
            </a:r>
            <a:r>
              <a:rPr lang="en-US" sz="2400" b="1" dirty="0"/>
              <a:t> </a:t>
            </a:r>
            <a:r>
              <a:rPr lang="en-US" sz="2400" b="1" dirty="0" err="1"/>
              <a:t>ứng</a:t>
            </a:r>
            <a:r>
              <a:rPr lang="en-US" sz="2400" b="1" dirty="0"/>
              <a:t> </a:t>
            </a:r>
            <a:r>
              <a:rPr lang="en-US" sz="2400" b="1" dirty="0" err="1"/>
              <a:t>hạt</a:t>
            </a:r>
            <a:r>
              <a:rPr lang="en-US" sz="2400" b="1" dirty="0"/>
              <a:t> </a:t>
            </a:r>
            <a:r>
              <a:rPr lang="en-US" sz="2400" b="1" dirty="0" err="1"/>
              <a:t>nhân</a:t>
            </a:r>
            <a:r>
              <a:rPr lang="en-US" sz="2400" b="1" dirty="0"/>
              <a:t> </a:t>
            </a:r>
            <a:endParaRPr lang="en-US" sz="2400" dirty="0"/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1605709" y="1698023"/>
                <a:ext cx="9626600" cy="45343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 dirty="0" err="1">
                    <a:solidFill>
                      <a:srgbClr val="FF0000"/>
                    </a:solidFill>
                  </a:rPr>
                  <a:t>Học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sinh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thảo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luận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nhóm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và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trả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lời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câu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hỏi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trong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phiếu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học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tập</a:t>
                </a:r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số</a:t>
                </a:r>
                <a:r>
                  <a:rPr lang="en-US" sz="2400" dirty="0">
                    <a:solidFill>
                      <a:srgbClr val="FF0000"/>
                    </a:solidFill>
                  </a:rPr>
                  <a:t> 1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trong</a:t>
                </a:r>
                <a:r>
                  <a:rPr lang="en-US" sz="2400" dirty="0">
                    <a:solidFill>
                      <a:srgbClr val="FF0000"/>
                    </a:solidFill>
                  </a:rPr>
                  <a:t> 5 </a:t>
                </a:r>
                <a:r>
                  <a:rPr lang="en-US" sz="2400" dirty="0" err="1">
                    <a:solidFill>
                      <a:srgbClr val="FF0000"/>
                    </a:solidFill>
                  </a:rPr>
                  <a:t>phút</a:t>
                </a:r>
                <a:r>
                  <a:rPr lang="en-US" sz="2400" dirty="0">
                    <a:solidFill>
                      <a:srgbClr val="FF0000"/>
                    </a:solidFill>
                  </a:rPr>
                  <a:t>.</a:t>
                </a:r>
                <a:endPara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  <a:p>
                <a:pPr algn="ctr"/>
                <a:r>
                  <a:rPr lang="en-US" sz="2400" b="1" dirty="0" smtClean="0"/>
                  <a:t>PHIẾU </a:t>
                </a:r>
                <a:r>
                  <a:rPr lang="en-US" sz="2400" b="1" dirty="0"/>
                  <a:t>HỌC TẬP SỐ 1</a:t>
                </a:r>
                <a:endParaRPr lang="en-US" sz="2400" dirty="0"/>
              </a:p>
              <a:p>
                <a:r>
                  <a:rPr lang="en-US" sz="2400" b="1" dirty="0" err="1"/>
                  <a:t>Câu</a:t>
                </a:r>
                <a:r>
                  <a:rPr lang="en-US" sz="2400" b="1" dirty="0"/>
                  <a:t> 1: </a:t>
                </a:r>
                <a:r>
                  <a:rPr lang="en-US" sz="2400" dirty="0" err="1"/>
                  <a:t>Phản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gì</a:t>
                </a:r>
                <a:r>
                  <a:rPr lang="en-US" sz="2400" dirty="0"/>
                  <a:t>? </a:t>
                </a:r>
                <a:r>
                  <a:rPr lang="en-US" sz="2400" dirty="0" err="1"/>
                  <a:t>Viết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biến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thủy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ngân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sz="2400" i="1">
                            <a:latin typeface="Cambria Math"/>
                          </a:rPr>
                          <m:t>80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198</m:t>
                        </m:r>
                      </m:sup>
                      <m:e>
                        <m:r>
                          <a:rPr lang="en-US" sz="2400" i="1">
                            <a:latin typeface="Cambria Math"/>
                          </a:rPr>
                          <m:t>𝐻𝑔</m:t>
                        </m:r>
                      </m:e>
                    </m:sPre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vàng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sz="2400" i="1">
                            <a:latin typeface="Cambria Math"/>
                          </a:rPr>
                          <m:t>79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198</m:t>
                        </m:r>
                      </m:sup>
                      <m:e>
                        <m:r>
                          <a:rPr lang="en-US" sz="2400" i="1">
                            <a:latin typeface="Cambria Math"/>
                          </a:rPr>
                          <m:t>𝐴𝑢</m:t>
                        </m:r>
                      </m:e>
                    </m:sPre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giấc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giả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kim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thuật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ngày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xưa</a:t>
                </a:r>
                <a:r>
                  <a:rPr lang="en-US" sz="2400" dirty="0"/>
                  <a:t>).</a:t>
                </a:r>
              </a:p>
              <a:p>
                <a:r>
                  <a:rPr lang="en-US" sz="2400" b="1" dirty="0" err="1"/>
                  <a:t>Câu</a:t>
                </a:r>
                <a:r>
                  <a:rPr lang="en-US" sz="2400" b="1" dirty="0"/>
                  <a:t> 2: </a:t>
                </a:r>
                <a:r>
                  <a:rPr lang="en-US" sz="2400" dirty="0" err="1"/>
                  <a:t>Nêu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nhau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với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hoá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học</a:t>
                </a:r>
                <a:r>
                  <a:rPr lang="en-US" sz="2400" dirty="0"/>
                  <a:t>?</a:t>
                </a:r>
              </a:p>
              <a:p>
                <a:r>
                  <a:rPr lang="en-US" sz="2400" b="1" dirty="0" err="1"/>
                  <a:t>Câu</a:t>
                </a:r>
                <a:r>
                  <a:rPr lang="en-US" sz="2400" b="1" dirty="0"/>
                  <a:t> 3: </a:t>
                </a:r>
                <a:r>
                  <a:rPr lang="en-US" sz="2400" dirty="0" err="1"/>
                  <a:t>Quan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nhận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xét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khối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điện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tích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các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trước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sau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- </a:t>
                </a:r>
                <a:r>
                  <a:rPr lang="en-US" sz="2400" dirty="0" err="1"/>
                  <a:t>Tách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α: </a:t>
                </a:r>
              </a:p>
              <a:p>
                <a:r>
                  <a:rPr lang="en-US" sz="2400" dirty="0"/>
                  <a:t>- </a:t>
                </a:r>
                <a:r>
                  <a:rPr lang="en-US" sz="2400" dirty="0" err="1"/>
                  <a:t>Tách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β: </a:t>
                </a:r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709" y="1698023"/>
                <a:ext cx="9626600" cy="4534318"/>
              </a:xfrm>
              <a:prstGeom prst="rect">
                <a:avLst/>
              </a:prstGeom>
              <a:blipFill rotWithShape="1">
                <a:blip r:embed="rId2"/>
                <a:stretch>
                  <a:fillRect l="-949" t="-942" b="-22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655762" y="1434924"/>
            <a:ext cx="9359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376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TRẢ LỜI PHIẾU HỌC TẬP SỐ 1</a:t>
            </a:r>
            <a:endParaRPr lang="en-US" sz="3200" dirty="0"/>
          </a:p>
        </p:txBody>
      </p:sp>
      <p:sp>
        <p:nvSpPr>
          <p:cNvPr id="16" name="Rectangle 10">
            <a:extLst>
              <a:ext uri="{FF2B5EF4-FFF2-40B4-BE49-F238E27FC236}">
                <a16:creationId xmlns="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2" y="2456795"/>
            <a:ext cx="844867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 smtClean="0"/>
              <a:t>                                                 </a:t>
            </a:r>
          </a:p>
          <a:p>
            <a:r>
              <a:rPr lang="en-US" sz="2800" b="1" dirty="0" smtClean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7999E2-ED33-8EC6-0312-C073883D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306332" y="867026"/>
                <a:ext cx="9856968" cy="20106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b="1" dirty="0" err="1"/>
                  <a:t>Câu</a:t>
                </a:r>
                <a:r>
                  <a:rPr lang="en-US" sz="2400" b="1" dirty="0"/>
                  <a:t> 1: </a:t>
                </a:r>
                <a:r>
                  <a:rPr lang="en-US" sz="2400" dirty="0" err="1"/>
                  <a:t>Phản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ứng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biến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đổi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nguyên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nguyên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này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hạt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nhân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nguyên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tử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nguyên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hóa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học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khác</a:t>
                </a:r>
                <a:r>
                  <a:rPr lang="en-US" sz="2400" dirty="0"/>
                  <a:t>. </a:t>
                </a:r>
              </a:p>
              <a:p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sz="2400" i="1">
                            <a:latin typeface="Cambria Math"/>
                          </a:rPr>
                          <m:t>80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198</m:t>
                        </m:r>
                      </m:sup>
                      <m:e>
                        <m:r>
                          <a:rPr lang="en-US" sz="2400" i="1">
                            <a:latin typeface="Cambria Math"/>
                          </a:rPr>
                          <m:t>𝐻𝑔</m:t>
                        </m:r>
                      </m:e>
                    </m:sPre>
                  </m:oMath>
                </a14:m>
                <a:r>
                  <a:rPr lang="en-US" sz="2400" dirty="0"/>
                  <a:t>   +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</m:e>
                    </m:sPre>
                  </m:oMath>
                </a14:m>
                <a:r>
                  <a:rPr lang="en-US" sz="2400" dirty="0"/>
                  <a:t>  →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sz="2400" i="1">
                            <a:latin typeface="Cambria Math"/>
                          </a:rPr>
                          <m:t>79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198</m:t>
                        </m:r>
                      </m:sup>
                      <m:e>
                        <m:r>
                          <a:rPr lang="en-US" sz="2400" i="1">
                            <a:latin typeface="Cambria Math"/>
                          </a:rPr>
                          <m:t>𝐴𝑢</m:t>
                        </m:r>
                      </m:e>
                    </m:sPre>
                  </m:oMath>
                </a14:m>
                <a:r>
                  <a:rPr lang="en-US" sz="2400" dirty="0"/>
                  <a:t>   +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/>
                          </a:rPr>
                        </m:ctrlPr>
                      </m:sPrePr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p>
                      <m:e>
                        <m:r>
                          <a:rPr lang="en-US" sz="2400" i="1">
                            <a:latin typeface="Cambria Math"/>
                          </a:rPr>
                          <m:t>𝐻</m:t>
                        </m:r>
                      </m:e>
                    </m:sPre>
                  </m:oMath>
                </a14:m>
                <a:endParaRPr lang="en-US" sz="2400" dirty="0"/>
              </a:p>
              <a:p>
                <a:endParaRPr lang="en-US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6332" y="867026"/>
                <a:ext cx="9856968" cy="2010615"/>
              </a:xfrm>
              <a:prstGeom prst="rect">
                <a:avLst/>
              </a:prstGeom>
              <a:blipFill rotWithShape="1">
                <a:blip r:embed="rId2"/>
                <a:stretch>
                  <a:fillRect l="-928" t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1655762" y="1434924"/>
            <a:ext cx="9359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2528598"/>
              </p:ext>
            </p:extLst>
          </p:nvPr>
        </p:nvGraphicFramePr>
        <p:xfrm>
          <a:off x="1384073" y="3322638"/>
          <a:ext cx="10122127" cy="25603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060559"/>
                <a:gridCol w="5061568"/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Phản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ứng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nhân</a:t>
                      </a:r>
                      <a:endParaRPr lang="en-US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Phản ứng hoá học</a:t>
                      </a:r>
                      <a:endParaRPr lang="en-US" sz="240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nhân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tử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thay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 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Làm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thay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thành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phần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n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uyên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tố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tham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giải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phóng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mức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năng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lượng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lớn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vận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dụng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định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luật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bảo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toàn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khối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lượng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Lớp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vỏ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electron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trong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tử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bị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thay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nhân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thay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Phản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ứng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tạo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sự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biến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giữa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các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chất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làm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thay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thành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phần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các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tố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tham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gia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vận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dụng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được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định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luật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bảo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toàn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khối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lượng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Times New Roman" pitchFamily="18" charset="0"/>
                        <a:ea typeface="Times New Roman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306332" y="1767250"/>
            <a:ext cx="1031961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Câu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2: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Sự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khác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nhau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cơ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bản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của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phản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ứng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hạt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nhân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với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phản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ứng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hoá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học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8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là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55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524000" y="0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TRẢ LỜI PHIẾU HỌC TẬP SỐ 1</a:t>
            </a:r>
            <a:endParaRPr lang="en-US" sz="3200" dirty="0"/>
          </a:p>
        </p:txBody>
      </p:sp>
      <p:sp>
        <p:nvSpPr>
          <p:cNvPr id="16" name="Rectangle 10">
            <a:extLst>
              <a:ext uri="{FF2B5EF4-FFF2-40B4-BE49-F238E27FC236}">
                <a16:creationId xmlns="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2" y="2456795"/>
            <a:ext cx="844867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 smtClean="0"/>
              <a:t>                                                 </a:t>
            </a:r>
          </a:p>
          <a:p>
            <a:r>
              <a:rPr lang="en-US" sz="2800" b="1" dirty="0" smtClean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7999E2-ED33-8EC6-0312-C073883D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306332" y="867026"/>
            <a:ext cx="985696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3: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α: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α,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giảm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β: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β,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762" y="1434924"/>
            <a:ext cx="9359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19253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="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2" y="2568596"/>
            <a:ext cx="8448676" cy="658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vi-VN" altLang="ko-KR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10">
            <a:extLst>
              <a:ext uri="{FF2B5EF4-FFF2-40B4-BE49-F238E27FC236}">
                <a16:creationId xmlns="" xmlns:a16="http://schemas.microsoft.com/office/drawing/2014/main" id="{0A42AFDE-6962-9D0A-327A-48FF2D6E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672" y="637714"/>
            <a:ext cx="10283687" cy="52322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i="1" dirty="0" err="1"/>
              <a:t>Kiến</a:t>
            </a:r>
            <a:r>
              <a:rPr lang="en-US" sz="2800" b="1" i="1" dirty="0"/>
              <a:t> </a:t>
            </a:r>
            <a:r>
              <a:rPr lang="en-US" sz="2800" b="1" i="1" dirty="0" err="1"/>
              <a:t>thức</a:t>
            </a:r>
            <a:r>
              <a:rPr lang="en-US" sz="2800" b="1" i="1" dirty="0"/>
              <a:t> </a:t>
            </a:r>
            <a:r>
              <a:rPr lang="en-US" sz="2800" b="1" i="1" dirty="0" err="1"/>
              <a:t>trọng</a:t>
            </a:r>
            <a:r>
              <a:rPr lang="en-US" sz="2800" b="1" i="1" dirty="0"/>
              <a:t> </a:t>
            </a:r>
            <a:r>
              <a:rPr lang="en-US" sz="2800" b="1" i="1" dirty="0" err="1"/>
              <a:t>tâm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="" xmlns:a16="http://schemas.microsoft.com/office/drawing/2014/main" id="{B53719EB-BABD-7D65-4724-70E9505BA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6627208"/>
                  </p:ext>
                </p:extLst>
              </p:nvPr>
            </p:nvGraphicFramePr>
            <p:xfrm>
              <a:off x="1060175" y="1536700"/>
              <a:ext cx="10283686" cy="505599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283686">
                      <a:extLst>
                        <a:ext uri="{9D8B030D-6E8A-4147-A177-3AD203B41FA5}">
                          <a16:colId xmlns="" xmlns:a16="http://schemas.microsoft.com/office/drawing/2014/main" val="3104471806"/>
                        </a:ext>
                      </a:extLst>
                    </a:gridCol>
                  </a:tblGrid>
                  <a:tr h="5055996">
                    <a:tc>
                      <a:txBody>
                        <a:bodyPr/>
                        <a:lstStyle/>
                        <a:p>
                          <a:r>
                            <a:rPr lang="en-US" sz="2800" b="1" kern="1200" dirty="0" smtClean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-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Phản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ứng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hạt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nhân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là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sự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biến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đổi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hạt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nhân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nguyên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tử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của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một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nguyên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tố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hóa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học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này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thành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hạt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nhân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nguyên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tử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của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một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nguyên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tố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hóa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học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khác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. </a:t>
                          </a:r>
                        </a:p>
                        <a:p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80</m:t>
                                  </m:r>
                                </m:sub>
                                <m:sup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198</m:t>
                                  </m:r>
                                </m:sup>
                                <m:e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𝐻𝑔</m:t>
                                  </m:r>
                                </m:e>
                              </m:sPre>
                            </m:oMath>
                          </a14:m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+ 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𝑛</m:t>
                                  </m:r>
                                </m:e>
                              </m:sPre>
                            </m:oMath>
                          </a14:m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→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79</m:t>
                                  </m:r>
                                </m:sub>
                                <m:sup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198</m:t>
                                  </m:r>
                                </m:sup>
                                <m:e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𝐴𝑢</m:t>
                                  </m:r>
                                </m:e>
                              </m:sPre>
                            </m:oMath>
                          </a14:m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  + </a:t>
                          </a: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</m:ctrlPr>
                                </m:sPrePr>
                                <m:sub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800" b="1" i="1" kern="1200">
                                      <a:solidFill>
                                        <a:srgbClr val="FF0000"/>
                                      </a:solidFill>
                                      <a:effectLst/>
                                      <a:latin typeface="Cambria Math"/>
                                      <a:ea typeface="+mn-ea"/>
                                      <a:cs typeface="+mn-cs"/>
                                    </a:rPr>
                                    <m:t>𝐻</m:t>
                                  </m:r>
                                </m:e>
                              </m:sPre>
                            </m:oMath>
                          </a14:m>
                          <a:endParaRPr lang="en-US" sz="2800" b="1" kern="1200" dirty="0">
                            <a:solidFill>
                              <a:srgbClr val="FF0000"/>
                            </a:solidFill>
                            <a:effectLst/>
                            <a:latin typeface="Times New Roman" pitchFamily="18" charset="0"/>
                            <a:ea typeface="+mn-ea"/>
                            <a:cs typeface="Times New Roman" pitchFamily="18" charset="0"/>
                          </a:endParaRPr>
                        </a:p>
                        <a:p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-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Phương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trình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biểu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diễn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phản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ứng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hạt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nhân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gọi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là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phương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trình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hạt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nhân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.</a:t>
                          </a:r>
                        </a:p>
                        <a:p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-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Định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luật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bảo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toàn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số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khối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và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bảo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toàn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điện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tích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:</a:t>
                          </a:r>
                        </a:p>
                        <a:p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Đối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với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phản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ứng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hạt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nhân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có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dạng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: .</a:t>
                          </a:r>
                        </a:p>
                        <a:p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	*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Bảo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toàn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số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khối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: A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1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+ A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2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= A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3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+ A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4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.</a:t>
                          </a:r>
                        </a:p>
                        <a:p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	*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Bảo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toàn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điện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</a:t>
                          </a:r>
                          <a:r>
                            <a:rPr lang="en-US" sz="2800" b="1" kern="1200" dirty="0" err="1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tích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: Z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1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+ Z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2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= Z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3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 + Z</a:t>
                          </a:r>
                          <a:r>
                            <a:rPr lang="en-US" sz="2800" b="1" kern="1200" baseline="-250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4</a:t>
                          </a:r>
                          <a:r>
                            <a:rPr lang="en-US" sz="2800" b="1" kern="1200" dirty="0">
                              <a:solidFill>
                                <a:srgbClr val="FF0000"/>
                              </a:solidFill>
                              <a:effectLst/>
                              <a:latin typeface="Times New Roman" pitchFamily="18" charset="0"/>
                              <a:ea typeface="+mn-ea"/>
                              <a:cs typeface="Times New Roman" pitchFamily="18" charset="0"/>
                            </a:rPr>
                            <a:t>.</a:t>
                          </a:r>
                          <a:r>
                            <a:rPr lang="en-US" sz="2800" b="0" dirty="0">
                              <a:solidFill>
                                <a:srgbClr val="FF0000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  <a:endParaRPr lang="en-US" sz="2800" b="0" dirty="0">
                            <a:solidFill>
                              <a:srgbClr val="FF0000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25525900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B53719EB-BABD-7D65-4724-70E9505BACE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36627208"/>
                  </p:ext>
                </p:extLst>
              </p:nvPr>
            </p:nvGraphicFramePr>
            <p:xfrm>
              <a:off x="1060175" y="1536700"/>
              <a:ext cx="10283686" cy="505599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283686">
                      <a:extLst>
                        <a:ext uri="{9D8B030D-6E8A-4147-A177-3AD203B41FA5}">
                          <a16:colId xmlns:a16="http://schemas.microsoft.com/office/drawing/2014/main" xmlns="" val="3104471806"/>
                        </a:ext>
                      </a:extLst>
                    </a:gridCol>
                  </a:tblGrid>
                  <a:tr h="5055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2"/>
                          <a:stretch>
                            <a:fillRect l="-59" t="-2051" b="-1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5525900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857AAA8F-EFF2-A15A-F145-A195684E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16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46200" y="0"/>
            <a:ext cx="93218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 err="1"/>
              <a:t>Hoạt</a:t>
            </a:r>
            <a:r>
              <a:rPr lang="en-US" sz="3200" b="1" dirty="0"/>
              <a:t> </a:t>
            </a:r>
            <a:r>
              <a:rPr lang="en-US" sz="3200" b="1" dirty="0" err="1"/>
              <a:t>động</a:t>
            </a:r>
            <a:r>
              <a:rPr lang="en-US" sz="3200" b="1" dirty="0"/>
              <a:t> 2: H</a:t>
            </a:r>
            <a:r>
              <a:rPr lang="vi-VN" sz="3200" b="1" dirty="0"/>
              <a:t>ình thành kiến thức mới</a:t>
            </a:r>
            <a:endParaRPr lang="en-US" sz="3200" dirty="0"/>
          </a:p>
        </p:txBody>
      </p:sp>
      <p:sp>
        <p:nvSpPr>
          <p:cNvPr id="16" name="Rectangle 10">
            <a:extLst>
              <a:ext uri="{FF2B5EF4-FFF2-40B4-BE49-F238E27FC236}">
                <a16:creationId xmlns="" xmlns:a16="http://schemas.microsoft.com/office/drawing/2014/main" id="{03FA69FC-4691-4991-BFFF-A68958CCC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2" y="2456795"/>
            <a:ext cx="844867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endParaRPr lang="en-US" sz="2800" b="1" dirty="0" smtClean="0"/>
          </a:p>
          <a:p>
            <a:endParaRPr lang="en-US" sz="2800" b="1" dirty="0"/>
          </a:p>
          <a:p>
            <a:r>
              <a:rPr lang="en-US" sz="2800" b="1" dirty="0" smtClean="0"/>
              <a:t>                                                 </a:t>
            </a:r>
          </a:p>
          <a:p>
            <a:r>
              <a:rPr lang="en-US" sz="2800" b="1" dirty="0" smtClean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7999E2-ED33-8EC6-0312-C073883DC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19200" y="867026"/>
            <a:ext cx="9664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vi-VN" sz="2800" b="1" dirty="0">
                <a:latin typeface="Times New Roman" pitchFamily="18" charset="0"/>
                <a:cs typeface="Times New Roman" pitchFamily="18" charset="0"/>
              </a:rPr>
              <a:t>: Hoạt động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hiểu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nhiên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6300" y="2265921"/>
            <a:ext cx="104902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PHIẾU HỌC TẬP SỐ 2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1: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 (tritium),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C,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40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K, …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chúng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(1)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Đốt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cháy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than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củi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(carbon)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nấu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chín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huỷ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Tia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? Cho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đặc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từng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4: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Chu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kì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Lấy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ví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dụ</a:t>
            </a:r>
            <a:r>
              <a:rPr lang="en-US" sz="2400" dirty="0"/>
              <a:t>?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5200" y="1434924"/>
            <a:ext cx="1005046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sinh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thảo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luận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nhóm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trả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phiếu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tập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 </a:t>
            </a:r>
            <a:r>
              <a:rPr lang="en-US" sz="28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phút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55762" y="1434924"/>
            <a:ext cx="93599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2" descr="question mark what Sticker by Aminal Stickers">
            <a:extLst>
              <a:ext uri="{FF2B5EF4-FFF2-40B4-BE49-F238E27FC236}">
                <a16:creationId xmlns="" xmlns:a16="http://schemas.microsoft.com/office/drawing/2014/main" id="{B9966659-1BF8-0D6F-BEAF-A8A1822A1E8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1105" y="-51423"/>
            <a:ext cx="1383005" cy="1383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42673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80011" y="1224793"/>
            <a:ext cx="9880600" cy="1384995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/>
              <a:t>Câu</a:t>
            </a:r>
            <a:r>
              <a:rPr lang="en-US" sz="2800" b="1" dirty="0"/>
              <a:t> 1: </a:t>
            </a:r>
            <a:r>
              <a:rPr lang="en-US" sz="2800" dirty="0" err="1"/>
              <a:t>Tính</a:t>
            </a:r>
            <a:r>
              <a:rPr lang="en-US" sz="2800" dirty="0"/>
              <a:t> </a:t>
            </a:r>
            <a:r>
              <a:rPr lang="en-US" sz="2800" dirty="0" err="1"/>
              <a:t>phóng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khả</a:t>
            </a:r>
            <a:r>
              <a:rPr lang="en-US" sz="2800" dirty="0"/>
              <a:t> </a:t>
            </a:r>
            <a:r>
              <a:rPr lang="en-US" sz="2800" dirty="0" err="1"/>
              <a:t>năng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rã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, </a:t>
            </a:r>
            <a:r>
              <a:rPr lang="en-US" sz="2800" dirty="0" err="1"/>
              <a:t>tạo</a:t>
            </a:r>
            <a:r>
              <a:rPr lang="en-US" sz="2800" dirty="0"/>
              <a:t> </a:t>
            </a:r>
            <a:r>
              <a:rPr lang="en-US" sz="2800" dirty="0" err="1"/>
              <a:t>thành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</a:t>
            </a:r>
            <a:r>
              <a:rPr lang="en-US" sz="2800" dirty="0" err="1"/>
              <a:t>của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tố</a:t>
            </a:r>
            <a:r>
              <a:rPr lang="en-US" sz="2800" dirty="0"/>
              <a:t> </a:t>
            </a:r>
            <a:r>
              <a:rPr lang="en-US" sz="2800" dirty="0" err="1"/>
              <a:t>khác</a:t>
            </a:r>
            <a:r>
              <a:rPr lang="en-US" sz="2800" dirty="0"/>
              <a:t>, </a:t>
            </a:r>
            <a:r>
              <a:rPr lang="en-US" sz="2800" dirty="0" err="1"/>
              <a:t>đồng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bức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nhìn</a:t>
            </a:r>
            <a:r>
              <a:rPr lang="en-US" sz="2800" dirty="0"/>
              <a:t> </a:t>
            </a:r>
            <a:r>
              <a:rPr lang="en-US" sz="2800" dirty="0" err="1"/>
              <a:t>thấy</a:t>
            </a:r>
            <a:r>
              <a:rPr lang="en-US" sz="2800" dirty="0"/>
              <a:t>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407401A4-38F7-4038-8A7A-D00D90B47748}"/>
              </a:ext>
            </a:extLst>
          </p:cNvPr>
          <p:cNvCxnSpPr/>
          <p:nvPr/>
        </p:nvCxnSpPr>
        <p:spPr>
          <a:xfrm flipV="1">
            <a:off x="1972622" y="885825"/>
            <a:ext cx="8695379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2E6D620-B5F9-46EC-8FC9-2C2AE61B5E1B}"/>
              </a:ext>
            </a:extLst>
          </p:cNvPr>
          <p:cNvSpPr txBox="1"/>
          <p:nvPr/>
        </p:nvSpPr>
        <p:spPr>
          <a:xfrm>
            <a:off x="2618465" y="301051"/>
            <a:ext cx="63640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TRẢ LỜI PHIẾU HỌC TẬP SỐ 2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7B6253B-EBD5-4A19-102A-E8180AE6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380011" y="2806576"/>
            <a:ext cx="9880600" cy="353943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/>
              <a:t>Câu</a:t>
            </a:r>
            <a:r>
              <a:rPr lang="en-US" sz="2800" b="1" dirty="0"/>
              <a:t> 2: </a:t>
            </a:r>
            <a:endParaRPr lang="en-US" sz="2800" dirty="0"/>
          </a:p>
          <a:p>
            <a:pPr algn="just"/>
            <a:r>
              <a:rPr lang="en-US" sz="2800" dirty="0" smtClean="0"/>
              <a:t>(1) </a:t>
            </a:r>
            <a:r>
              <a:rPr lang="en-US" sz="2800" dirty="0" err="1" smtClean="0"/>
              <a:t>Đốt</a:t>
            </a:r>
            <a:r>
              <a:rPr lang="en-US" sz="2800" dirty="0" smtClean="0"/>
              <a:t> </a:t>
            </a:r>
            <a:r>
              <a:rPr lang="en-US" sz="2800" dirty="0" err="1"/>
              <a:t>cháy</a:t>
            </a:r>
            <a:r>
              <a:rPr lang="en-US" sz="2800" dirty="0"/>
              <a:t> than </a:t>
            </a:r>
            <a:r>
              <a:rPr lang="en-US" sz="2800" dirty="0" err="1"/>
              <a:t>củi</a:t>
            </a:r>
            <a:r>
              <a:rPr lang="en-US" sz="2800" dirty="0"/>
              <a:t>, </a:t>
            </a:r>
            <a:r>
              <a:rPr lang="en-US" sz="2800" dirty="0" err="1"/>
              <a:t>xảy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 </a:t>
            </a:r>
            <a:r>
              <a:rPr lang="en-US" sz="2800" dirty="0" err="1"/>
              <a:t>hóa</a:t>
            </a:r>
            <a:r>
              <a:rPr lang="en-US" sz="2800" dirty="0"/>
              <a:t> </a:t>
            </a:r>
            <a:r>
              <a:rPr lang="en-US" sz="2800" dirty="0" err="1"/>
              <a:t>học</a:t>
            </a:r>
            <a:r>
              <a:rPr lang="en-US" sz="2800" dirty="0"/>
              <a:t> </a:t>
            </a:r>
            <a:r>
              <a:rPr lang="en-US" sz="2800" dirty="0" err="1"/>
              <a:t>như</a:t>
            </a:r>
            <a:r>
              <a:rPr lang="en-US" sz="2800" dirty="0"/>
              <a:t> </a:t>
            </a:r>
            <a:r>
              <a:rPr lang="en-US" sz="2800" dirty="0" err="1"/>
              <a:t>sau</a:t>
            </a:r>
            <a:r>
              <a:rPr lang="en-US" sz="2800" dirty="0"/>
              <a:t>: </a:t>
            </a:r>
            <a:endParaRPr lang="en-US" sz="2800" dirty="0" smtClean="0"/>
          </a:p>
          <a:p>
            <a:pPr algn="just"/>
            <a:r>
              <a:rPr lang="en-US" sz="2800" dirty="0" smtClean="0"/>
              <a:t>C </a:t>
            </a:r>
            <a:r>
              <a:rPr lang="en-US" sz="2800" dirty="0"/>
              <a:t>+ O</a:t>
            </a:r>
            <a:r>
              <a:rPr lang="en-US" sz="2800" baseline="-25000" dirty="0"/>
              <a:t>2</a:t>
            </a:r>
            <a:r>
              <a:rPr lang="en-US" sz="2800" dirty="0"/>
              <a:t>  CO</a:t>
            </a:r>
            <a:r>
              <a:rPr lang="en-US" sz="2800" baseline="-25000" dirty="0"/>
              <a:t>2</a:t>
            </a:r>
            <a:r>
              <a:rPr lang="en-US" sz="2800" dirty="0"/>
              <a:t>, </a:t>
            </a:r>
            <a:r>
              <a:rPr lang="en-US" sz="2800" dirty="0" err="1"/>
              <a:t>đồng</a:t>
            </a:r>
            <a:r>
              <a:rPr lang="en-US" sz="2800" dirty="0"/>
              <a:t> </a:t>
            </a:r>
            <a:r>
              <a:rPr lang="en-US" sz="2800" dirty="0" err="1"/>
              <a:t>thời</a:t>
            </a:r>
            <a:r>
              <a:rPr lang="en-US" sz="2800" dirty="0"/>
              <a:t> </a:t>
            </a:r>
            <a:r>
              <a:rPr lang="en-US" sz="2800" dirty="0" err="1"/>
              <a:t>toả</a:t>
            </a:r>
            <a:r>
              <a:rPr lang="en-US" sz="2800" dirty="0"/>
              <a:t> </a:t>
            </a:r>
            <a:r>
              <a:rPr lang="en-US" sz="2800" dirty="0" err="1"/>
              <a:t>ra</a:t>
            </a:r>
            <a:r>
              <a:rPr lang="en-US" sz="2800" dirty="0"/>
              <a:t> </a:t>
            </a:r>
            <a:r>
              <a:rPr lang="en-US" sz="2800" dirty="0" err="1"/>
              <a:t>nhiệt</a:t>
            </a:r>
            <a:r>
              <a:rPr lang="en-US" sz="2800" dirty="0"/>
              <a:t> </a:t>
            </a:r>
            <a:r>
              <a:rPr lang="en-US" sz="2800" dirty="0" err="1"/>
              <a:t>lượng</a:t>
            </a:r>
            <a:r>
              <a:rPr lang="en-US" sz="2800" dirty="0"/>
              <a:t>. </a:t>
            </a:r>
            <a:r>
              <a:rPr lang="en-US" sz="2800" dirty="0" err="1"/>
              <a:t>Quá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từ</a:t>
            </a:r>
            <a:r>
              <a:rPr lang="en-US" sz="2800" dirty="0"/>
              <a:t> C </a:t>
            </a:r>
            <a:r>
              <a:rPr lang="en-US" sz="2800" dirty="0" err="1"/>
              <a:t>thành</a:t>
            </a:r>
            <a:r>
              <a:rPr lang="en-US" sz="2800" dirty="0"/>
              <a:t> CO</a:t>
            </a:r>
            <a:r>
              <a:rPr lang="en-US" sz="2800" baseline="-25000" dirty="0"/>
              <a:t>2</a:t>
            </a:r>
            <a:r>
              <a:rPr lang="en-US" sz="2800" dirty="0"/>
              <a:t>,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làm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nguyên</a:t>
            </a:r>
            <a:r>
              <a:rPr lang="en-US" sz="2800" dirty="0"/>
              <a:t> </a:t>
            </a:r>
            <a:r>
              <a:rPr lang="en-US" sz="2800" dirty="0" err="1"/>
              <a:t>tử</a:t>
            </a:r>
            <a:r>
              <a:rPr lang="en-US" sz="2800" dirty="0"/>
              <a:t> carbon, </a:t>
            </a:r>
            <a:r>
              <a:rPr lang="en-US" sz="2800" dirty="0" err="1"/>
              <a:t>nên</a:t>
            </a:r>
            <a:r>
              <a:rPr lang="en-US" sz="2800" dirty="0"/>
              <a:t> </a:t>
            </a:r>
            <a:r>
              <a:rPr lang="en-US" sz="2800" dirty="0" err="1"/>
              <a:t>không</a:t>
            </a:r>
            <a:r>
              <a:rPr lang="en-US" sz="2800" dirty="0"/>
              <a:t>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quá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phóng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.</a:t>
            </a:r>
          </a:p>
          <a:p>
            <a:pPr algn="just"/>
            <a:r>
              <a:rPr lang="en-US" sz="2800" dirty="0"/>
              <a:t>(2) </a:t>
            </a:r>
            <a:r>
              <a:rPr lang="en-US" sz="2800" dirty="0" err="1"/>
              <a:t>Đồng</a:t>
            </a:r>
            <a:r>
              <a:rPr lang="en-US" sz="2800" dirty="0"/>
              <a:t> </a:t>
            </a:r>
            <a:r>
              <a:rPr lang="en-US" sz="2800" dirty="0" err="1"/>
              <a:t>vị</a:t>
            </a:r>
            <a:r>
              <a:rPr lang="en-US" sz="2800" dirty="0"/>
              <a:t> </a:t>
            </a:r>
            <a:r>
              <a:rPr lang="en-US" sz="2800" baseline="30000" dirty="0"/>
              <a:t>14</a:t>
            </a:r>
            <a:r>
              <a:rPr lang="en-US" sz="2800" dirty="0"/>
              <a:t>C </a:t>
            </a:r>
            <a:r>
              <a:rPr lang="en-US" sz="2800" dirty="0" err="1"/>
              <a:t>phân</a:t>
            </a:r>
            <a:r>
              <a:rPr lang="en-US" sz="2800" dirty="0"/>
              <a:t> </a:t>
            </a:r>
            <a:r>
              <a:rPr lang="en-US" sz="2800" dirty="0" err="1"/>
              <a:t>huỷ</a:t>
            </a:r>
            <a:r>
              <a:rPr lang="en-US" sz="2800" dirty="0"/>
              <a:t> </a:t>
            </a:r>
            <a:r>
              <a:rPr lang="en-US" sz="2800" dirty="0" err="1"/>
              <a:t>theo</a:t>
            </a:r>
            <a:r>
              <a:rPr lang="en-US" sz="2800" dirty="0"/>
              <a:t> </a:t>
            </a:r>
            <a:r>
              <a:rPr lang="en-US" sz="2800" dirty="0" err="1"/>
              <a:t>phản</a:t>
            </a:r>
            <a:r>
              <a:rPr lang="en-US" sz="2800" dirty="0"/>
              <a:t> </a:t>
            </a:r>
            <a:r>
              <a:rPr lang="en-US" sz="2800" dirty="0" err="1"/>
              <a:t>ứng</a:t>
            </a:r>
            <a:r>
              <a:rPr lang="en-US" sz="2800" dirty="0"/>
              <a:t>: , </a:t>
            </a:r>
            <a:r>
              <a:rPr lang="en-US" sz="2800" dirty="0" err="1"/>
              <a:t>có</a:t>
            </a:r>
            <a:r>
              <a:rPr lang="en-US" sz="2800" dirty="0"/>
              <a:t> </a:t>
            </a:r>
            <a:r>
              <a:rPr lang="en-US" sz="2800" dirty="0" err="1"/>
              <a:t>sự</a:t>
            </a:r>
            <a:r>
              <a:rPr lang="en-US" sz="2800" dirty="0"/>
              <a:t> </a:t>
            </a:r>
            <a:r>
              <a:rPr lang="en-US" sz="2800" dirty="0" err="1"/>
              <a:t>biến</a:t>
            </a:r>
            <a:r>
              <a:rPr lang="en-US" sz="2800" dirty="0"/>
              <a:t> </a:t>
            </a:r>
            <a:r>
              <a:rPr lang="en-US" sz="2800" dirty="0" err="1"/>
              <a:t>đổi</a:t>
            </a:r>
            <a:r>
              <a:rPr lang="en-US" sz="2800" dirty="0"/>
              <a:t> </a:t>
            </a:r>
            <a:r>
              <a:rPr lang="en-US" sz="2800" dirty="0" err="1"/>
              <a:t>hạt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carbon </a:t>
            </a:r>
            <a:r>
              <a:rPr lang="en-US" sz="2800" dirty="0" err="1"/>
              <a:t>thành</a:t>
            </a:r>
            <a:r>
              <a:rPr lang="en-US" sz="2800" dirty="0"/>
              <a:t> nitrogen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phát</a:t>
            </a:r>
            <a:r>
              <a:rPr lang="en-US" sz="2800" dirty="0"/>
              <a:t> </a:t>
            </a:r>
            <a:r>
              <a:rPr lang="en-US" sz="2800" dirty="0" err="1"/>
              <a:t>bức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β, </a:t>
            </a:r>
            <a:r>
              <a:rPr lang="en-US" sz="2800" dirty="0" err="1"/>
              <a:t>là</a:t>
            </a:r>
            <a:r>
              <a:rPr lang="en-US" sz="2800" dirty="0"/>
              <a:t> </a:t>
            </a:r>
            <a:r>
              <a:rPr lang="en-US" sz="2800" dirty="0" err="1"/>
              <a:t>quá</a:t>
            </a:r>
            <a:r>
              <a:rPr lang="en-US" sz="2800" dirty="0"/>
              <a:t> </a:t>
            </a:r>
            <a:r>
              <a:rPr lang="en-US" sz="2800" dirty="0" err="1"/>
              <a:t>trình</a:t>
            </a:r>
            <a:r>
              <a:rPr lang="en-US" sz="2800" dirty="0"/>
              <a:t> </a:t>
            </a:r>
            <a:r>
              <a:rPr lang="en-US" sz="2800" dirty="0" err="1"/>
              <a:t>phóng</a:t>
            </a:r>
            <a:r>
              <a:rPr lang="en-US" sz="2800" dirty="0"/>
              <a:t> </a:t>
            </a:r>
            <a:r>
              <a:rPr lang="en-US" sz="2800" dirty="0" err="1"/>
              <a:t>xạ</a:t>
            </a:r>
            <a:r>
              <a:rPr lang="en-US" sz="2800" dirty="0"/>
              <a:t> </a:t>
            </a:r>
            <a:r>
              <a:rPr lang="en-US" sz="2800" dirty="0" err="1"/>
              <a:t>tự</a:t>
            </a:r>
            <a:r>
              <a:rPr lang="en-US" sz="2800" dirty="0"/>
              <a:t> </a:t>
            </a:r>
            <a:r>
              <a:rPr lang="en-US" sz="2800" dirty="0" err="1"/>
              <a:t>nhiên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7336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29211" y="860042"/>
            <a:ext cx="9880600" cy="341632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Câu</a:t>
            </a:r>
            <a:r>
              <a:rPr lang="en-US" sz="2400" b="1" dirty="0"/>
              <a:t> 3: </a:t>
            </a:r>
            <a:endParaRPr lang="en-US" sz="2400" dirty="0"/>
          </a:p>
          <a:p>
            <a:r>
              <a:rPr lang="en-US" sz="2400" dirty="0"/>
              <a:t>Tia </a:t>
            </a:r>
            <a:r>
              <a:rPr lang="en-US" sz="2400" dirty="0" err="1"/>
              <a:t>phóng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bao</a:t>
            </a:r>
            <a:r>
              <a:rPr lang="en-US" sz="2400" dirty="0"/>
              <a:t> </a:t>
            </a:r>
            <a:r>
              <a:rPr lang="en-US" sz="2400" dirty="0" err="1"/>
              <a:t>gồm</a:t>
            </a:r>
            <a:r>
              <a:rPr lang="en-US" sz="2400" dirty="0"/>
              <a:t> alpha α, beta (β)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bức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gamma (γ).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Hạt</a:t>
            </a:r>
            <a:r>
              <a:rPr lang="en-US" sz="2400" dirty="0"/>
              <a:t> α ( )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hạt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helium </a:t>
            </a:r>
            <a:r>
              <a:rPr lang="en-US" sz="2400" dirty="0" err="1"/>
              <a:t>gồm</a:t>
            </a:r>
            <a:r>
              <a:rPr lang="en-US" sz="2400" dirty="0"/>
              <a:t> 2 proton, 2 neutron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electron.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Hạt</a:t>
            </a:r>
            <a:r>
              <a:rPr lang="en-US" sz="2400" dirty="0"/>
              <a:t> β ( )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điện</a:t>
            </a:r>
            <a:r>
              <a:rPr lang="en-US" sz="2400" dirty="0"/>
              <a:t> </a:t>
            </a:r>
            <a:r>
              <a:rPr lang="en-US" sz="2400" dirty="0" err="1"/>
              <a:t>tích</a:t>
            </a:r>
            <a:r>
              <a:rPr lang="en-US" sz="2400" dirty="0"/>
              <a:t> – 1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khối</a:t>
            </a:r>
            <a:r>
              <a:rPr lang="en-US" sz="2400" dirty="0"/>
              <a:t> </a:t>
            </a:r>
            <a:r>
              <a:rPr lang="en-US" sz="2400" dirty="0" err="1"/>
              <a:t>bằng</a:t>
            </a:r>
            <a:r>
              <a:rPr lang="en-US" sz="2400" dirty="0"/>
              <a:t> 0.</a:t>
            </a:r>
          </a:p>
          <a:p>
            <a:r>
              <a:rPr lang="en-US" sz="2400" dirty="0"/>
              <a:t>- </a:t>
            </a:r>
            <a:r>
              <a:rPr lang="en-US" sz="2400" dirty="0" err="1"/>
              <a:t>Bức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γ </a:t>
            </a:r>
            <a:r>
              <a:rPr lang="en-US" sz="2400" dirty="0" err="1"/>
              <a:t>dòng</a:t>
            </a:r>
            <a:r>
              <a:rPr lang="en-US" sz="2400" dirty="0"/>
              <a:t> photon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cao</a:t>
            </a:r>
            <a:r>
              <a:rPr lang="en-US" sz="2400" dirty="0"/>
              <a:t> ( ), 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làm</a:t>
            </a:r>
            <a:r>
              <a:rPr lang="en-US" sz="2400" dirty="0"/>
              <a:t> </a:t>
            </a:r>
            <a:r>
              <a:rPr lang="en-US" sz="2400" dirty="0" err="1"/>
              <a:t>thay</a:t>
            </a:r>
            <a:r>
              <a:rPr lang="en-US" sz="2400" dirty="0"/>
              <a:t> </a:t>
            </a:r>
            <a:r>
              <a:rPr lang="en-US" sz="2400" dirty="0" err="1"/>
              <a:t>đổi</a:t>
            </a:r>
            <a:r>
              <a:rPr lang="en-US" sz="2400" dirty="0"/>
              <a:t> </a:t>
            </a:r>
            <a:r>
              <a:rPr lang="en-US" sz="2400" dirty="0" err="1"/>
              <a:t>hạt</a:t>
            </a:r>
            <a:r>
              <a:rPr lang="en-US" sz="2400" dirty="0"/>
              <a:t> </a:t>
            </a:r>
            <a:r>
              <a:rPr lang="en-US" sz="2400" dirty="0" err="1"/>
              <a:t>nhân</a:t>
            </a:r>
            <a:r>
              <a:rPr lang="en-US" sz="2400" dirty="0"/>
              <a:t> </a:t>
            </a:r>
            <a:r>
              <a:rPr lang="en-US" sz="2400" dirty="0" err="1"/>
              <a:t>trước</a:t>
            </a:r>
            <a:r>
              <a:rPr lang="en-US" sz="2400" dirty="0"/>
              <a:t>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phát</a:t>
            </a:r>
            <a:r>
              <a:rPr lang="en-US" sz="2400" dirty="0"/>
              <a:t> </a:t>
            </a:r>
            <a:r>
              <a:rPr lang="en-US" sz="2400" dirty="0" err="1"/>
              <a:t>bức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</a:t>
            </a:r>
            <a:r>
              <a:rPr lang="en-US" sz="2400" dirty="0" err="1"/>
              <a:t>đâm</a:t>
            </a:r>
            <a:r>
              <a:rPr lang="en-US" sz="2400" dirty="0"/>
              <a:t> </a:t>
            </a:r>
            <a:r>
              <a:rPr lang="en-US" sz="2400" dirty="0" err="1"/>
              <a:t>xuyên</a:t>
            </a:r>
            <a:r>
              <a:rPr lang="en-US" sz="2400" dirty="0"/>
              <a:t>: γ &gt; β &gt; α    </a:t>
            </a:r>
          </a:p>
          <a:p>
            <a:r>
              <a:rPr lang="en-US" sz="2400" dirty="0" err="1"/>
              <a:t>Khả</a:t>
            </a:r>
            <a:r>
              <a:rPr lang="en-US" sz="2400" dirty="0"/>
              <a:t> </a:t>
            </a:r>
            <a:r>
              <a:rPr lang="en-US" sz="2400" dirty="0" err="1"/>
              <a:t>năng</a:t>
            </a:r>
            <a:r>
              <a:rPr lang="en-US" sz="2400" dirty="0"/>
              <a:t> ion </a:t>
            </a:r>
            <a:r>
              <a:rPr lang="en-US" sz="2400" dirty="0" err="1"/>
              <a:t>hóa</a:t>
            </a:r>
            <a:r>
              <a:rPr lang="en-US" sz="2400" dirty="0"/>
              <a:t> : α &gt; β &gt; γ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407401A4-38F7-4038-8A7A-D00D90B47748}"/>
              </a:ext>
            </a:extLst>
          </p:cNvPr>
          <p:cNvCxnSpPr/>
          <p:nvPr/>
        </p:nvCxnSpPr>
        <p:spPr>
          <a:xfrm flipV="1">
            <a:off x="1972622" y="885825"/>
            <a:ext cx="8695379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7B6253B-EBD5-4A19-102A-E8180AE6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10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227611" y="4643334"/>
            <a:ext cx="9982200" cy="156966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Câu</a:t>
            </a:r>
            <a:r>
              <a:rPr lang="en-US" sz="2400" b="1" dirty="0"/>
              <a:t> 4: </a:t>
            </a:r>
            <a:r>
              <a:rPr lang="en-US" sz="2400" dirty="0"/>
              <a:t>Chu </a:t>
            </a:r>
            <a:r>
              <a:rPr lang="en-US" sz="2400" dirty="0" err="1"/>
              <a:t>kì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rã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dirty="0" err="1"/>
              <a:t>phóng</a:t>
            </a:r>
            <a:r>
              <a:rPr lang="en-US" sz="2400" dirty="0"/>
              <a:t> </a:t>
            </a:r>
            <a:r>
              <a:rPr lang="en-US" sz="2400" dirty="0" err="1"/>
              <a:t>xạ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 </a:t>
            </a:r>
            <a:r>
              <a:rPr lang="en-US" sz="2400" dirty="0" err="1"/>
              <a:t>thời</a:t>
            </a:r>
            <a:r>
              <a:rPr lang="en-US" sz="2400" dirty="0"/>
              <a:t> </a:t>
            </a:r>
            <a:r>
              <a:rPr lang="en-US" sz="2400" dirty="0" err="1"/>
              <a:t>gian</a:t>
            </a:r>
            <a:r>
              <a:rPr lang="en-US" sz="2400" dirty="0"/>
              <a:t> </a:t>
            </a:r>
            <a:r>
              <a:rPr lang="en-US" sz="2400" dirty="0" err="1"/>
              <a:t>để</a:t>
            </a:r>
            <a:r>
              <a:rPr lang="en-US" sz="2400" dirty="0"/>
              <a:t> </a:t>
            </a:r>
            <a:r>
              <a:rPr lang="en-US" sz="2400" dirty="0" err="1"/>
              <a:t>phân</a:t>
            </a:r>
            <a:r>
              <a:rPr lang="en-US" sz="2400" dirty="0"/>
              <a:t> </a:t>
            </a:r>
            <a:r>
              <a:rPr lang="en-US" sz="2400" dirty="0" err="1"/>
              <a:t>rã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nửa</a:t>
            </a:r>
            <a:r>
              <a:rPr lang="en-US" sz="2400" dirty="0"/>
              <a:t> </a:t>
            </a:r>
            <a:r>
              <a:rPr lang="en-US" sz="2400" dirty="0" err="1"/>
              <a:t>số</a:t>
            </a:r>
            <a:r>
              <a:rPr lang="en-US" sz="2400" dirty="0"/>
              <a:t> </a:t>
            </a:r>
            <a:r>
              <a:rPr lang="en-US" sz="2400" dirty="0" err="1"/>
              <a:t>nguyên</a:t>
            </a:r>
            <a:r>
              <a:rPr lang="en-US" sz="2400" dirty="0"/>
              <a:t> </a:t>
            </a:r>
            <a:r>
              <a:rPr lang="en-US" sz="2400" dirty="0" err="1"/>
              <a:t>tử</a:t>
            </a:r>
            <a:r>
              <a:rPr lang="en-US" sz="2400" dirty="0"/>
              <a:t> ban </a:t>
            </a:r>
            <a:r>
              <a:rPr lang="en-US" sz="2400" dirty="0" err="1"/>
              <a:t>đầu</a:t>
            </a:r>
            <a:r>
              <a:rPr lang="en-US" sz="2400" dirty="0"/>
              <a:t>( hay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nửa</a:t>
            </a:r>
            <a:r>
              <a:rPr lang="en-US" sz="2400" dirty="0"/>
              <a:t> </a:t>
            </a:r>
            <a:r>
              <a:rPr lang="en-US" sz="2400" dirty="0" err="1"/>
              <a:t>lượng</a:t>
            </a:r>
            <a:r>
              <a:rPr lang="en-US" sz="2400" dirty="0"/>
              <a:t> </a:t>
            </a:r>
            <a:r>
              <a:rPr lang="en-US" sz="2400" dirty="0" err="1"/>
              <a:t>chất</a:t>
            </a:r>
            <a:r>
              <a:rPr lang="en-US" sz="2400" dirty="0"/>
              <a:t> ban </a:t>
            </a:r>
            <a:r>
              <a:rPr lang="en-US" sz="2400" dirty="0" err="1"/>
              <a:t>đầu</a:t>
            </a:r>
            <a:r>
              <a:rPr lang="en-US" sz="2400" dirty="0"/>
              <a:t>). </a:t>
            </a:r>
          </a:p>
          <a:p>
            <a:r>
              <a:rPr lang="en-US" sz="2400" dirty="0" err="1"/>
              <a:t>Ví</a:t>
            </a:r>
            <a:r>
              <a:rPr lang="en-US" sz="2400" dirty="0"/>
              <a:t> </a:t>
            </a:r>
            <a:r>
              <a:rPr lang="en-US" sz="2400" dirty="0" err="1"/>
              <a:t>dụ</a:t>
            </a:r>
            <a:r>
              <a:rPr lang="en-US" sz="2400" dirty="0"/>
              <a:t>: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baseline="30000" dirty="0"/>
              <a:t>14</a:t>
            </a:r>
            <a:r>
              <a:rPr lang="en-US" sz="2400" dirty="0"/>
              <a:t>C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chu</a:t>
            </a:r>
            <a:r>
              <a:rPr lang="en-US" sz="2400" dirty="0"/>
              <a:t> </a:t>
            </a:r>
            <a:r>
              <a:rPr lang="en-US" sz="2400" dirty="0" err="1"/>
              <a:t>kì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rã</a:t>
            </a:r>
            <a:r>
              <a:rPr lang="en-US" sz="2400" dirty="0"/>
              <a:t> 5730 </a:t>
            </a:r>
            <a:r>
              <a:rPr lang="en-US" sz="2400" dirty="0" err="1"/>
              <a:t>năm</a:t>
            </a:r>
            <a:endParaRPr lang="en-US" sz="2400" dirty="0"/>
          </a:p>
          <a:p>
            <a:r>
              <a:rPr lang="en-US" sz="2400" dirty="0"/>
              <a:t>         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vị</a:t>
            </a:r>
            <a:r>
              <a:rPr lang="en-US" sz="2400" dirty="0"/>
              <a:t> </a:t>
            </a:r>
            <a:r>
              <a:rPr lang="en-US" sz="2400" baseline="30000" dirty="0"/>
              <a:t>238</a:t>
            </a:r>
            <a:r>
              <a:rPr lang="en-US" sz="2400" dirty="0"/>
              <a:t>U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chu</a:t>
            </a:r>
            <a:r>
              <a:rPr lang="en-US" sz="2400" dirty="0"/>
              <a:t> </a:t>
            </a:r>
            <a:r>
              <a:rPr lang="en-US" sz="2400" dirty="0" err="1"/>
              <a:t>kì</a:t>
            </a:r>
            <a:r>
              <a:rPr lang="en-US" sz="2400" dirty="0"/>
              <a:t> </a:t>
            </a:r>
            <a:r>
              <a:rPr lang="en-US" sz="2400" dirty="0" err="1"/>
              <a:t>bán</a:t>
            </a:r>
            <a:r>
              <a:rPr lang="en-US" sz="2400" dirty="0"/>
              <a:t> </a:t>
            </a:r>
            <a:r>
              <a:rPr lang="en-US" sz="2400" dirty="0" err="1"/>
              <a:t>rã</a:t>
            </a:r>
            <a:r>
              <a:rPr lang="en-US" sz="2400" dirty="0"/>
              <a:t> 4,5 </a:t>
            </a:r>
            <a:r>
              <a:rPr lang="en-US" sz="2400" dirty="0" err="1"/>
              <a:t>tỉ</a:t>
            </a:r>
            <a:r>
              <a:rPr lang="en-US" sz="2400" dirty="0"/>
              <a:t> </a:t>
            </a:r>
            <a:r>
              <a:rPr lang="en-US" sz="2400" dirty="0" err="1"/>
              <a:t>năm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39826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88428" y="162233"/>
            <a:ext cx="4084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Kiến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thức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trọng</a:t>
            </a:r>
            <a:r>
              <a:rPr lang="en-US" sz="32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tâm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70000" y="1080286"/>
            <a:ext cx="9840271" cy="1384995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kèm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bức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nhìn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thấy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17CB077-08B1-FC2B-0F98-A671906FD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269999" y="2900483"/>
            <a:ext cx="9840271" cy="3108543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Tia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gồm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bức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+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α (alpha)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helium ( ).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	+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β (beta)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–1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0 (  hay ).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  + Tia γ (gamma)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photon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 ).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Tốc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biễu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diễn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kì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hoặc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kì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hủy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). Chu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kì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càng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dài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càng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583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C08F59B-DF23-4B54-9451-E5CCED6F2AFB}"/>
              </a:ext>
            </a:extLst>
          </p:cNvPr>
          <p:cNvCxnSpPr>
            <a:cxnSpLocks/>
          </p:cNvCxnSpPr>
          <p:nvPr/>
        </p:nvCxnSpPr>
        <p:spPr>
          <a:xfrm flipV="1">
            <a:off x="1972622" y="885825"/>
            <a:ext cx="8695379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0822816-79DD-443D-9992-5C18078E3D90}"/>
              </a:ext>
            </a:extLst>
          </p:cNvPr>
          <p:cNvSpPr/>
          <p:nvPr/>
        </p:nvSpPr>
        <p:spPr>
          <a:xfrm>
            <a:off x="762000" y="1110493"/>
            <a:ext cx="10325100" cy="5262979"/>
          </a:xfrm>
          <a:prstGeom prst="rect">
            <a:avLst/>
          </a:prstGeom>
          <a:ln w="28575">
            <a:solidFill>
              <a:srgbClr val="FF0000"/>
            </a:solidFill>
            <a:prstDash val="lgDash"/>
          </a:ln>
        </p:spPr>
        <p:txBody>
          <a:bodyPr wrap="square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PHIẾU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HỌC TẬP SỐ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3</a:t>
            </a:r>
          </a:p>
          <a:p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1: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1933,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Frédéric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Phê-đê-ríc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Iréne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Joliot-Curie (I-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rê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Giô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-li-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ốt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Qui-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bắn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27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α,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β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Si: </a:t>
            </a:r>
          </a:p>
          <a:p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rút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200" b="1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bắn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neutron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thấp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baseline="30000" dirty="0">
                <a:latin typeface="Times New Roman" pitchFamily="18" charset="0"/>
                <a:cs typeface="Times New Roman" pitchFamily="18" charset="0"/>
              </a:rPr>
              <a:t>235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sẽ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xảy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lượng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       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lượng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ảnh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so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sánh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mảnh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xem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ngược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4: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giống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0352DF7-2179-0275-80D3-B48117C0E3D0}"/>
              </a:ext>
            </a:extLst>
          </p:cNvPr>
          <p:cNvSpPr txBox="1"/>
          <p:nvPr/>
        </p:nvSpPr>
        <p:spPr>
          <a:xfrm>
            <a:off x="2603500" y="301051"/>
            <a:ext cx="7790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 smtClean="0"/>
              <a:t> </a:t>
            </a:r>
            <a:r>
              <a:rPr lang="vi-VN" sz="3200" b="1" dirty="0"/>
              <a:t>Hoạt động </a:t>
            </a:r>
            <a:r>
              <a:rPr lang="en-US" sz="3200" b="1" dirty="0" err="1"/>
              <a:t>tìm</a:t>
            </a:r>
            <a:r>
              <a:rPr lang="en-US" sz="3200" b="1" dirty="0"/>
              <a:t> </a:t>
            </a:r>
            <a:r>
              <a:rPr lang="en-US" sz="3200" b="1" dirty="0" err="1"/>
              <a:t>hiểu</a:t>
            </a:r>
            <a:r>
              <a:rPr lang="en-US" sz="3200" b="1" dirty="0"/>
              <a:t> </a:t>
            </a:r>
            <a:r>
              <a:rPr lang="en-US" sz="3200" b="1" dirty="0" err="1"/>
              <a:t>phóng</a:t>
            </a:r>
            <a:r>
              <a:rPr lang="en-US" sz="3200" b="1" dirty="0"/>
              <a:t> </a:t>
            </a:r>
            <a:r>
              <a:rPr lang="en-US" sz="3200" b="1" dirty="0" err="1"/>
              <a:t>xạ</a:t>
            </a:r>
            <a:r>
              <a:rPr lang="en-US" sz="3200" b="1" dirty="0"/>
              <a:t> </a:t>
            </a:r>
            <a:r>
              <a:rPr lang="en-US" sz="3200" b="1" dirty="0" err="1"/>
              <a:t>nhân</a:t>
            </a:r>
            <a:r>
              <a:rPr lang="en-US" sz="3200" b="1" dirty="0"/>
              <a:t> </a:t>
            </a:r>
            <a:r>
              <a:rPr lang="en-US" sz="3200" b="1" dirty="0" err="1"/>
              <a:t>tạo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62ABC8E-F341-C691-3EDE-A5D41803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514436"/>
              </p:ext>
            </p:extLst>
          </p:nvPr>
        </p:nvGraphicFramePr>
        <p:xfrm>
          <a:off x="1972622" y="3619159"/>
          <a:ext cx="2832099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7" name="Equation" r:id="rId3" imgW="2679700" imgH="254000" progId="Equation.DSMT4">
                  <p:embed/>
                </p:oleObj>
              </mc:Choice>
              <mc:Fallback>
                <p:oleObj name="Equation" r:id="rId3" imgW="2679700" imgH="2540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622" y="3619159"/>
                        <a:ext cx="2832099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9136488"/>
              </p:ext>
            </p:extLst>
          </p:nvPr>
        </p:nvGraphicFramePr>
        <p:xfrm>
          <a:off x="1972621" y="4089400"/>
          <a:ext cx="2933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28" name="Equation" r:id="rId5" imgW="2692400" imgH="254000" progId="Equation.DSMT4">
                  <p:embed/>
                </p:oleObj>
              </mc:Choice>
              <mc:Fallback>
                <p:oleObj name="Equation" r:id="rId5" imgW="26924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621" y="4089400"/>
                        <a:ext cx="2933700" cy="393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3911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407401A4-38F7-4038-8A7A-D00D90B47748}"/>
              </a:ext>
            </a:extLst>
          </p:cNvPr>
          <p:cNvCxnSpPr/>
          <p:nvPr/>
        </p:nvCxnSpPr>
        <p:spPr>
          <a:xfrm flipV="1">
            <a:off x="1972622" y="885825"/>
            <a:ext cx="8695379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2E6D620-B5F9-46EC-8FC9-2C2AE61B5E1B}"/>
              </a:ext>
            </a:extLst>
          </p:cNvPr>
          <p:cNvSpPr txBox="1"/>
          <p:nvPr/>
        </p:nvSpPr>
        <p:spPr>
          <a:xfrm>
            <a:off x="2527300" y="301051"/>
            <a:ext cx="778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</a:rPr>
              <a:t>Hoạt động </a:t>
            </a:r>
            <a:r>
              <a:rPr lang="en-US" sz="3200" b="1" dirty="0" err="1">
                <a:solidFill>
                  <a:srgbClr val="FF0000"/>
                </a:solidFill>
              </a:rPr>
              <a:t>tìm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hiểu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phóng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xạ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nhân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tạo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000" y="1466647"/>
            <a:ext cx="1029541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TRẢ LỜI PHIẾU HỌC TẬP SỐ 3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 1: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bắn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27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Al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α,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β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Si: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                                          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              </a:t>
            </a:r>
          </a:p>
          <a:p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Vậy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Cách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chế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bắn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α)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kém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gọi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bức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giống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21C9236-494B-5052-D313-64227867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79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9034478"/>
              </p:ext>
            </p:extLst>
          </p:nvPr>
        </p:nvGraphicFramePr>
        <p:xfrm>
          <a:off x="1972622" y="3146612"/>
          <a:ext cx="2286000" cy="42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4" name="Equation" r:id="rId3" imgW="1497950" imgH="253890" progId="Equation.DSMT4">
                  <p:embed/>
                </p:oleObj>
              </mc:Choice>
              <mc:Fallback>
                <p:oleObj name="Equation" r:id="rId3" imgW="1497950" imgH="253890" progId="Equation.DSMT4">
                  <p:embed/>
                  <p:pic>
                    <p:nvPicPr>
                      <p:cNvPr id="0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622" y="3146612"/>
                        <a:ext cx="2286000" cy="422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3412203"/>
              </p:ext>
            </p:extLst>
          </p:nvPr>
        </p:nvGraphicFramePr>
        <p:xfrm>
          <a:off x="5155452" y="3052482"/>
          <a:ext cx="1881095" cy="4611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85" name="Equation" r:id="rId5" imgW="1015559" imgH="253890" progId="Equation.DSMT4">
                  <p:embed/>
                </p:oleObj>
              </mc:Choice>
              <mc:Fallback>
                <p:oleObj name="Equation" r:id="rId5" imgW="1015559" imgH="253890" progId="Equation.DSMT4">
                  <p:embed/>
                  <p:pic>
                    <p:nvPicPr>
                      <p:cNvPr id="0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5452" y="3052482"/>
                        <a:ext cx="1881095" cy="4611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8432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407401A4-38F7-4038-8A7A-D00D90B47748}"/>
              </a:ext>
            </a:extLst>
          </p:cNvPr>
          <p:cNvCxnSpPr/>
          <p:nvPr/>
        </p:nvCxnSpPr>
        <p:spPr>
          <a:xfrm flipV="1">
            <a:off x="1972622" y="885825"/>
            <a:ext cx="8695379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2E6D620-B5F9-46EC-8FC9-2C2AE61B5E1B}"/>
              </a:ext>
            </a:extLst>
          </p:cNvPr>
          <p:cNvSpPr txBox="1"/>
          <p:nvPr/>
        </p:nvSpPr>
        <p:spPr>
          <a:xfrm>
            <a:off x="2527300" y="301051"/>
            <a:ext cx="778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</a:rPr>
              <a:t>Hoạt động </a:t>
            </a:r>
            <a:r>
              <a:rPr lang="en-US" sz="3200" b="1" dirty="0" err="1">
                <a:solidFill>
                  <a:srgbClr val="FF0000"/>
                </a:solidFill>
              </a:rPr>
              <a:t>tìm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hiểu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phóng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xạ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nhân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tạo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300" y="1238047"/>
            <a:ext cx="1029541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2: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mảnh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mẹ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ban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đầu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mẹ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mạnh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…</a:t>
            </a:r>
          </a:p>
          <a:p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21C9236-494B-5052-D313-64227867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14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208065"/>
              </p:ext>
            </p:extLst>
          </p:nvPr>
        </p:nvGraphicFramePr>
        <p:xfrm>
          <a:off x="2338381" y="2771688"/>
          <a:ext cx="4519619" cy="50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4" name="Equation" r:id="rId3" imgW="2590800" imgH="254000" progId="Equation.DSMT4">
                  <p:embed/>
                </p:oleObj>
              </mc:Choice>
              <mc:Fallback>
                <p:oleObj name="Equation" r:id="rId3" imgW="25908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1" y="2771688"/>
                        <a:ext cx="4519619" cy="502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5989243"/>
              </p:ext>
            </p:extLst>
          </p:nvPr>
        </p:nvGraphicFramePr>
        <p:xfrm>
          <a:off x="2338381" y="3556000"/>
          <a:ext cx="4430719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5" name="Equation" r:id="rId5" imgW="2616200" imgH="254000" progId="Equation.DSMT4">
                  <p:embed/>
                </p:oleObj>
              </mc:Choice>
              <mc:Fallback>
                <p:oleObj name="Equation" r:id="rId5" imgW="2616200" imgH="2540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1" y="3556000"/>
                        <a:ext cx="4430719" cy="495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917161"/>
              </p:ext>
            </p:extLst>
          </p:nvPr>
        </p:nvGraphicFramePr>
        <p:xfrm>
          <a:off x="2338381" y="4267200"/>
          <a:ext cx="4457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26" name="Equation" r:id="rId7" imgW="2413000" imgH="254000" progId="Equation.DSMT4">
                  <p:embed/>
                </p:oleObj>
              </mc:Choice>
              <mc:Fallback>
                <p:oleObj name="Equation" r:id="rId7" imgW="24130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381" y="4267200"/>
                        <a:ext cx="4457700" cy="533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939801" y="4937036"/>
            <a:ext cx="101049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mảnh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nhỏ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đối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nhẹ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nặng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55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407401A4-38F7-4038-8A7A-D00D90B47748}"/>
              </a:ext>
            </a:extLst>
          </p:cNvPr>
          <p:cNvCxnSpPr/>
          <p:nvPr/>
        </p:nvCxnSpPr>
        <p:spPr>
          <a:xfrm flipV="1">
            <a:off x="1972622" y="885825"/>
            <a:ext cx="8695379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2E6D620-B5F9-46EC-8FC9-2C2AE61B5E1B}"/>
              </a:ext>
            </a:extLst>
          </p:cNvPr>
          <p:cNvSpPr txBox="1"/>
          <p:nvPr/>
        </p:nvSpPr>
        <p:spPr>
          <a:xfrm>
            <a:off x="2527300" y="301051"/>
            <a:ext cx="778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</a:rPr>
              <a:t>Hoạt động </a:t>
            </a:r>
            <a:r>
              <a:rPr lang="en-US" sz="3200" b="1" dirty="0" err="1">
                <a:solidFill>
                  <a:srgbClr val="FF0000"/>
                </a:solidFill>
              </a:rPr>
              <a:t>tìm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hiểu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phóng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xạ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nhân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tạo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9000" y="1466647"/>
            <a:ext cx="102954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4: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giống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tia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Điểm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nhau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21C9236-494B-5052-D313-64227867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01426"/>
              </p:ext>
            </p:extLst>
          </p:nvPr>
        </p:nvGraphicFramePr>
        <p:xfrm>
          <a:off x="1143000" y="3282529"/>
          <a:ext cx="9905999" cy="21022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952505"/>
                <a:gridCol w="4953494"/>
              </a:tblGrid>
              <a:tr h="7007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Phóng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xạ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tự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nhiên</a:t>
                      </a:r>
                      <a:endParaRPr lang="en-US" sz="2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240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Phóng xạ nhân tạo</a:t>
                      </a:r>
                      <a:endParaRPr lang="en-US" sz="240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  <a:tr h="140151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Phóng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xạ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tự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nhiên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là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hiện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tượng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các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nguyên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tố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tự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tia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phóng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xạ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tác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động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ngoài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180340" algn="l"/>
                        </a:tabLst>
                      </a:pP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Phóng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xạ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nhân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tạo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là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quá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trình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biến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đổi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nhân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không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tự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phát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,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gây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ra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bởi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tác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động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ngoài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lên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hạt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 </a:t>
                      </a:r>
                      <a:r>
                        <a:rPr lang="en-US" sz="2400" dirty="0" err="1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nhân</a:t>
                      </a:r>
                      <a:r>
                        <a:rPr lang="en-US" sz="24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.</a:t>
                      </a:r>
                      <a:endParaRPr lang="en-US" sz="24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863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35300" y="1063465"/>
            <a:ext cx="5130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err="1">
                <a:solidFill>
                  <a:srgbClr val="FF0000"/>
                </a:solidFill>
              </a:rPr>
              <a:t>Kiến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thức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trọng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tâm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90917" y="1869269"/>
            <a:ext cx="9915878" cy="1384995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giữa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(α, β, neutron,…)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5AF9C43-552B-2D77-DEF3-5A33D9E1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52E6D620-B5F9-46EC-8FC9-2C2AE61B5E1B}"/>
              </a:ext>
            </a:extLst>
          </p:cNvPr>
          <p:cNvSpPr txBox="1"/>
          <p:nvPr/>
        </p:nvSpPr>
        <p:spPr>
          <a:xfrm>
            <a:off x="2527300" y="301051"/>
            <a:ext cx="7785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b="1" dirty="0">
                <a:solidFill>
                  <a:srgbClr val="FF0000"/>
                </a:solidFill>
              </a:rPr>
              <a:t>Hoạt động </a:t>
            </a:r>
            <a:r>
              <a:rPr lang="en-US" sz="3200" b="1" dirty="0" err="1">
                <a:solidFill>
                  <a:srgbClr val="FF0000"/>
                </a:solidFill>
              </a:rPr>
              <a:t>tìm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hiểu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phóng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xạ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nhân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tạo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90917" y="4867887"/>
            <a:ext cx="9915878" cy="1384995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chia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nặng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mảnh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nhẹ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neutron).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90917" y="3520156"/>
            <a:ext cx="9915878" cy="95410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hay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tổng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hợp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nặng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hơn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33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5">
            <a:extLst>
              <a:ext uri="{FF2B5EF4-FFF2-40B4-BE49-F238E27FC236}">
                <a16:creationId xmlns="" xmlns:a16="http://schemas.microsoft.com/office/drawing/2014/main" id="{7FF06603-4798-43A4-9E7C-4CDF8261F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6" y="33014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B3422892-C436-4CE8-8BA5-74846B16F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533" y="1521805"/>
            <a:ext cx="10085867" cy="48320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/>
              <a:t>PHIẾU HỌC TẬP SỐ </a:t>
            </a:r>
            <a:r>
              <a:rPr lang="en-US" sz="2800" b="1" dirty="0" smtClean="0"/>
              <a:t>4</a:t>
            </a:r>
          </a:p>
          <a:p>
            <a:pPr algn="ctr"/>
            <a:endParaRPr lang="en-US" sz="2800" dirty="0"/>
          </a:p>
          <a:p>
            <a:pPr algn="just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1: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hiểu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nhận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xét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vai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trò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lĩnh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…</a:t>
            </a:r>
          </a:p>
          <a:p>
            <a:pPr algn="just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tuổi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hoá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75 000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nhưng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tuổi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aseline="30000" dirty="0">
                <a:latin typeface="Times New Roman" pitchFamily="18" charset="0"/>
                <a:cs typeface="Times New Roman" pitchFamily="18" charset="0"/>
              </a:rPr>
              <a:t>238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U.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nêu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tiễn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em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F8DC6B9-C093-4D6B-8BC5-88EB4B479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431" y="567695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7B283821-57C8-4361-AD1B-9B47D77B9F57}"/>
              </a:ext>
            </a:extLst>
          </p:cNvPr>
          <p:cNvCxnSpPr>
            <a:cxnSpLocks/>
          </p:cNvCxnSpPr>
          <p:nvPr/>
        </p:nvCxnSpPr>
        <p:spPr>
          <a:xfrm flipV="1">
            <a:off x="1242533" y="885825"/>
            <a:ext cx="8695380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EDE6BB0D-2F7A-4A6C-9FDD-D3BB224C753E}"/>
              </a:ext>
            </a:extLst>
          </p:cNvPr>
          <p:cNvSpPr txBox="1"/>
          <p:nvPr/>
        </p:nvSpPr>
        <p:spPr>
          <a:xfrm>
            <a:off x="1790701" y="312678"/>
            <a:ext cx="87930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/>
              <a:t>Hoạt động </a:t>
            </a:r>
            <a:r>
              <a:rPr lang="en-US" sz="3200" b="1" dirty="0" err="1"/>
              <a:t>tìm</a:t>
            </a:r>
            <a:r>
              <a:rPr lang="en-US" sz="3200" b="1" dirty="0"/>
              <a:t> </a:t>
            </a:r>
            <a:r>
              <a:rPr lang="en-US" sz="3200" b="1" dirty="0" err="1"/>
              <a:t>hiểu</a:t>
            </a:r>
            <a:r>
              <a:rPr lang="en-US" sz="3200" b="1" dirty="0"/>
              <a:t> </a:t>
            </a:r>
            <a:r>
              <a:rPr lang="en-US" sz="3200" b="1" dirty="0" err="1"/>
              <a:t>ứng</a:t>
            </a:r>
            <a:r>
              <a:rPr lang="en-US" sz="3200" b="1" dirty="0"/>
              <a:t> </a:t>
            </a:r>
            <a:r>
              <a:rPr lang="en-US" sz="3200" b="1" dirty="0" err="1"/>
              <a:t>dụng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đồng</a:t>
            </a:r>
            <a:r>
              <a:rPr lang="en-US" sz="3200" b="1" dirty="0"/>
              <a:t> </a:t>
            </a:r>
            <a:r>
              <a:rPr lang="en-US" sz="3200" b="1" dirty="0" err="1"/>
              <a:t>vị</a:t>
            </a:r>
            <a:r>
              <a:rPr lang="en-US" sz="3200" b="1" dirty="0"/>
              <a:t> </a:t>
            </a:r>
            <a:r>
              <a:rPr lang="en-US" sz="3200" b="1" dirty="0" err="1"/>
              <a:t>phóng</a:t>
            </a:r>
            <a:r>
              <a:rPr lang="en-US" sz="3200" b="1" dirty="0"/>
              <a:t> </a:t>
            </a:r>
            <a:r>
              <a:rPr lang="en-US" sz="3200" b="1" dirty="0" err="1"/>
              <a:t>xạ</a:t>
            </a:r>
            <a:r>
              <a:rPr lang="en-US" sz="3200" b="1" dirty="0"/>
              <a:t> </a:t>
            </a:r>
            <a:r>
              <a:rPr lang="en-US" sz="3200" b="1" dirty="0" err="1"/>
              <a:t>và</a:t>
            </a:r>
            <a:r>
              <a:rPr lang="en-US" sz="3200" b="1" dirty="0"/>
              <a:t> </a:t>
            </a:r>
            <a:r>
              <a:rPr lang="en-US" sz="3200" b="1" dirty="0" err="1"/>
              <a:t>phản</a:t>
            </a:r>
            <a:r>
              <a:rPr lang="en-US" sz="3200" b="1" dirty="0"/>
              <a:t> </a:t>
            </a:r>
            <a:r>
              <a:rPr lang="en-US" sz="3200" b="1" dirty="0" err="1"/>
              <a:t>ứng</a:t>
            </a:r>
            <a:r>
              <a:rPr lang="en-US" sz="3200" b="1" dirty="0"/>
              <a:t> </a:t>
            </a:r>
            <a:r>
              <a:rPr lang="en-US" sz="3200" b="1" dirty="0" err="1"/>
              <a:t>hạt</a:t>
            </a:r>
            <a:r>
              <a:rPr lang="en-US" sz="3200" b="1" dirty="0"/>
              <a:t> </a:t>
            </a:r>
            <a:r>
              <a:rPr lang="en-US" sz="3200" b="1" dirty="0" err="1"/>
              <a:t>nhân</a:t>
            </a:r>
            <a:endParaRPr 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18C20BB-839C-D9D4-4E15-38586EA1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2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5">
            <a:extLst>
              <a:ext uri="{FF2B5EF4-FFF2-40B4-BE49-F238E27FC236}">
                <a16:creationId xmlns="" xmlns:a16="http://schemas.microsoft.com/office/drawing/2014/main" id="{7FF06603-4798-43A4-9E7C-4CDF8261F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6" y="330148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="" xmlns:a16="http://schemas.microsoft.com/office/drawing/2014/main" xmlns:a14="http://schemas.microsoft.com/office/drawing/2010/main" xmlns:mc="http://schemas.openxmlformats.org/markup-compatibility/2006" id="{B3422892-C436-4CE8-8BA5-74846B16F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065" y="1480211"/>
            <a:ext cx="10085867" cy="18158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/>
              <a:t>TRẢ LỜI PHIẾU HỌC TẬP SỐ 4</a:t>
            </a:r>
            <a:endParaRPr lang="en-US" sz="2800" dirty="0"/>
          </a:p>
          <a:p>
            <a:pPr algn="just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1: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nhiều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lĩnh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vực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dược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phẩm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kĩ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thuật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…</a:t>
            </a:r>
            <a:endParaRPr lang="en-US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F8DC6B9-C093-4D6B-8BC5-88EB4B479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4431" y="567695"/>
            <a:ext cx="2231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="" xmlns:a16="http://schemas.microsoft.com/office/drawing/2014/main" id="{7B283821-57C8-4361-AD1B-9B47D77B9F57}"/>
              </a:ext>
            </a:extLst>
          </p:cNvPr>
          <p:cNvCxnSpPr>
            <a:cxnSpLocks/>
          </p:cNvCxnSpPr>
          <p:nvPr/>
        </p:nvCxnSpPr>
        <p:spPr>
          <a:xfrm flipV="1">
            <a:off x="1242533" y="885825"/>
            <a:ext cx="8695380" cy="7620"/>
          </a:xfrm>
          <a:prstGeom prst="line">
            <a:avLst/>
          </a:prstGeom>
          <a:ln w="127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EDE6BB0D-2F7A-4A6C-9FDD-D3BB224C753E}"/>
              </a:ext>
            </a:extLst>
          </p:cNvPr>
          <p:cNvSpPr txBox="1"/>
          <p:nvPr/>
        </p:nvSpPr>
        <p:spPr>
          <a:xfrm>
            <a:off x="1790701" y="312678"/>
            <a:ext cx="87930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/>
              <a:t>Hoạt động </a:t>
            </a:r>
            <a:r>
              <a:rPr lang="en-US" sz="3200" b="1" dirty="0" err="1"/>
              <a:t>tìm</a:t>
            </a:r>
            <a:r>
              <a:rPr lang="en-US" sz="3200" b="1" dirty="0"/>
              <a:t> </a:t>
            </a:r>
            <a:r>
              <a:rPr lang="en-US" sz="3200" b="1" dirty="0" err="1"/>
              <a:t>hiểu</a:t>
            </a:r>
            <a:r>
              <a:rPr lang="en-US" sz="3200" b="1" dirty="0"/>
              <a:t> </a:t>
            </a:r>
            <a:r>
              <a:rPr lang="en-US" sz="3200" b="1" dirty="0" err="1"/>
              <a:t>ứng</a:t>
            </a:r>
            <a:r>
              <a:rPr lang="en-US" sz="3200" b="1" dirty="0"/>
              <a:t> </a:t>
            </a:r>
            <a:r>
              <a:rPr lang="en-US" sz="3200" b="1" dirty="0" err="1"/>
              <a:t>dụng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đồng</a:t>
            </a:r>
            <a:r>
              <a:rPr lang="en-US" sz="3200" b="1" dirty="0"/>
              <a:t> </a:t>
            </a:r>
            <a:r>
              <a:rPr lang="en-US" sz="3200" b="1" dirty="0" err="1"/>
              <a:t>vị</a:t>
            </a:r>
            <a:r>
              <a:rPr lang="en-US" sz="3200" b="1" dirty="0"/>
              <a:t> </a:t>
            </a:r>
            <a:r>
              <a:rPr lang="en-US" sz="3200" b="1" dirty="0" err="1"/>
              <a:t>phóng</a:t>
            </a:r>
            <a:r>
              <a:rPr lang="en-US" sz="3200" b="1" dirty="0"/>
              <a:t> </a:t>
            </a:r>
            <a:r>
              <a:rPr lang="en-US" sz="3200" b="1" dirty="0" err="1"/>
              <a:t>xạ</a:t>
            </a:r>
            <a:r>
              <a:rPr lang="en-US" sz="3200" b="1" dirty="0"/>
              <a:t> </a:t>
            </a:r>
            <a:r>
              <a:rPr lang="en-US" sz="3200" b="1" dirty="0" err="1"/>
              <a:t>và</a:t>
            </a:r>
            <a:r>
              <a:rPr lang="en-US" sz="3200" b="1" dirty="0"/>
              <a:t> </a:t>
            </a:r>
            <a:r>
              <a:rPr lang="en-US" sz="3200" b="1" dirty="0" err="1"/>
              <a:t>phản</a:t>
            </a:r>
            <a:r>
              <a:rPr lang="en-US" sz="3200" b="1" dirty="0"/>
              <a:t> </a:t>
            </a:r>
            <a:r>
              <a:rPr lang="en-US" sz="3200" b="1" dirty="0" err="1"/>
              <a:t>ứng</a:t>
            </a:r>
            <a:r>
              <a:rPr lang="en-US" sz="3200" b="1" dirty="0"/>
              <a:t> </a:t>
            </a:r>
            <a:r>
              <a:rPr lang="en-US" sz="3200" b="1" dirty="0" err="1"/>
              <a:t>hạt</a:t>
            </a:r>
            <a:r>
              <a:rPr lang="en-US" sz="3200" b="1" dirty="0"/>
              <a:t> </a:t>
            </a:r>
            <a:r>
              <a:rPr lang="en-US" sz="3200" b="1" dirty="0" err="1"/>
              <a:t>nhân</a:t>
            </a:r>
            <a:endParaRPr 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18C20BB-839C-D9D4-4E15-38586EA1F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1005514" y="3296093"/>
            <a:ext cx="9957833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2: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5730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tuổi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75 000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Tuổi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hàng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thay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238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[4,5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238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huỷ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khoảng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58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just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53066" y="5273618"/>
            <a:ext cx="100858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3: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cung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cấp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lĩnh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vực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tế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131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I,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P,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51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Cr,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60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Co,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153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Sm,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177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Lu, 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192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Ir, …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chẩn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đoán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bệnh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275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3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35299" y="1442294"/>
            <a:ext cx="5130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err="1">
                <a:solidFill>
                  <a:srgbClr val="FF0000"/>
                </a:solidFill>
              </a:rPr>
              <a:t>Kiến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thức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trọng</a:t>
            </a:r>
            <a:r>
              <a:rPr lang="en-US" sz="2800" b="1" i="1" dirty="0">
                <a:solidFill>
                  <a:srgbClr val="FF0000"/>
                </a:solidFill>
              </a:rPr>
              <a:t> </a:t>
            </a:r>
            <a:r>
              <a:rPr lang="en-US" sz="2800" b="1" i="1" dirty="0" err="1">
                <a:solidFill>
                  <a:srgbClr val="FF0000"/>
                </a:solidFill>
              </a:rPr>
              <a:t>tâm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2999" y="2419104"/>
            <a:ext cx="9915878" cy="2246769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 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chụp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y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ung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thư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tuyến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giáp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khoa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 ),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lớp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 ),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).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5AF9C43-552B-2D77-DEF3-5A33D9E16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19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C4176E72-2D4A-4B9E-A583-20BFDD8AD7D0}"/>
              </a:ext>
            </a:extLst>
          </p:cNvPr>
          <p:cNvSpPr/>
          <p:nvPr/>
        </p:nvSpPr>
        <p:spPr>
          <a:xfrm>
            <a:off x="1009961" y="199817"/>
            <a:ext cx="731520" cy="73152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EDE6BB0D-2F7A-4A6C-9FDD-D3BB224C753E}"/>
              </a:ext>
            </a:extLst>
          </p:cNvPr>
          <p:cNvSpPr txBox="1"/>
          <p:nvPr/>
        </p:nvSpPr>
        <p:spPr>
          <a:xfrm>
            <a:off x="1917700" y="199817"/>
            <a:ext cx="92136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/>
              <a:t>Hoạt động </a:t>
            </a:r>
            <a:r>
              <a:rPr lang="en-US" sz="3200" b="1" dirty="0" err="1"/>
              <a:t>tìm</a:t>
            </a:r>
            <a:r>
              <a:rPr lang="en-US" sz="3200" b="1" dirty="0"/>
              <a:t> </a:t>
            </a:r>
            <a:r>
              <a:rPr lang="en-US" sz="3200" b="1" dirty="0" err="1"/>
              <a:t>hiểu</a:t>
            </a:r>
            <a:r>
              <a:rPr lang="en-US" sz="3200" b="1" dirty="0"/>
              <a:t> </a:t>
            </a:r>
            <a:r>
              <a:rPr lang="en-US" sz="3200" b="1" dirty="0" err="1"/>
              <a:t>ứng</a:t>
            </a:r>
            <a:r>
              <a:rPr lang="en-US" sz="3200" b="1" dirty="0"/>
              <a:t> </a:t>
            </a:r>
            <a:r>
              <a:rPr lang="en-US" sz="3200" b="1" dirty="0" err="1"/>
              <a:t>dụng</a:t>
            </a:r>
            <a:r>
              <a:rPr lang="en-US" sz="3200" b="1" dirty="0"/>
              <a:t> </a:t>
            </a:r>
            <a:r>
              <a:rPr lang="en-US" sz="3200" b="1" dirty="0" err="1"/>
              <a:t>của</a:t>
            </a:r>
            <a:r>
              <a:rPr lang="en-US" sz="3200" b="1" dirty="0"/>
              <a:t> </a:t>
            </a:r>
            <a:r>
              <a:rPr lang="en-US" sz="3200" b="1" dirty="0" err="1"/>
              <a:t>đồng</a:t>
            </a:r>
            <a:r>
              <a:rPr lang="en-US" sz="3200" b="1" dirty="0"/>
              <a:t> </a:t>
            </a:r>
            <a:r>
              <a:rPr lang="en-US" sz="3200" b="1" dirty="0" err="1"/>
              <a:t>vị</a:t>
            </a:r>
            <a:r>
              <a:rPr lang="en-US" sz="3200" b="1" dirty="0"/>
              <a:t> </a:t>
            </a:r>
            <a:r>
              <a:rPr lang="en-US" sz="3200" b="1" dirty="0" err="1"/>
              <a:t>phóng</a:t>
            </a:r>
            <a:r>
              <a:rPr lang="en-US" sz="3200" b="1" dirty="0"/>
              <a:t> </a:t>
            </a:r>
            <a:r>
              <a:rPr lang="en-US" sz="3200" b="1" dirty="0" err="1"/>
              <a:t>xạ</a:t>
            </a:r>
            <a:r>
              <a:rPr lang="en-US" sz="3200" b="1" dirty="0"/>
              <a:t> </a:t>
            </a:r>
            <a:r>
              <a:rPr lang="en-US" sz="3200" b="1" dirty="0" err="1"/>
              <a:t>và</a:t>
            </a:r>
            <a:r>
              <a:rPr lang="en-US" sz="3200" b="1" dirty="0"/>
              <a:t> </a:t>
            </a:r>
            <a:r>
              <a:rPr lang="en-US" sz="3200" b="1" dirty="0" err="1"/>
              <a:t>phản</a:t>
            </a:r>
            <a:r>
              <a:rPr lang="en-US" sz="3200" b="1" dirty="0"/>
              <a:t> </a:t>
            </a:r>
            <a:r>
              <a:rPr lang="en-US" sz="3200" b="1" dirty="0" err="1"/>
              <a:t>ứng</a:t>
            </a:r>
            <a:r>
              <a:rPr lang="en-US" sz="3200" b="1" dirty="0"/>
              <a:t> </a:t>
            </a:r>
            <a:r>
              <a:rPr lang="en-US" sz="3200" b="1" dirty="0" err="1"/>
              <a:t>hạt</a:t>
            </a:r>
            <a:r>
              <a:rPr lang="en-US" sz="3200" b="1" dirty="0"/>
              <a:t> </a:t>
            </a:r>
            <a:r>
              <a:rPr lang="en-US" sz="3200" b="1" dirty="0" err="1"/>
              <a:t>nhân</a:t>
            </a:r>
            <a:endParaRPr lang="en-US" sz="32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15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0C4E418-F513-44A6-BE8F-B793F6E70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9247" y="2749721"/>
            <a:ext cx="6142420" cy="977621"/>
          </a:xfrm>
        </p:spPr>
        <p:txBody>
          <a:bodyPr>
            <a:normAutofit fontScale="92500"/>
          </a:bodyPr>
          <a:lstStyle/>
          <a:p>
            <a:pPr algn="ctr"/>
            <a:r>
              <a:rPr lang="en-US" sz="4000" b="1" cap="none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TRÒ CHƠI </a:t>
            </a:r>
            <a:r>
              <a:rPr lang="en-US" sz="4000" b="1" cap="none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AI NHANH TAY</a:t>
            </a:r>
            <a:endParaRPr lang="en-US" sz="4000" b="1" cap="none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D0B0D412-E1A7-4056-91B7-A021BCD1500D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0838" y="959987"/>
            <a:ext cx="2138516" cy="166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FFEC1C8-3CF6-4138-BE63-C1169EBFEC7A}"/>
              </a:ext>
            </a:extLst>
          </p:cNvPr>
          <p:cNvSpPr/>
          <p:nvPr/>
        </p:nvSpPr>
        <p:spPr>
          <a:xfrm>
            <a:off x="3160178" y="185267"/>
            <a:ext cx="41601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>
                <a:ln w="22225">
                  <a:solidFill>
                    <a:srgbClr val="DE478E"/>
                  </a:solidFill>
                  <a:prstDash val="solid"/>
                </a:ln>
                <a:solidFill>
                  <a:srgbClr val="DE478E">
                    <a:lumMod val="40000"/>
                    <a:lumOff val="60000"/>
                  </a:srgbClr>
                </a:solidFill>
                <a:latin typeface="Gill Sans MT" panose="020B0502020104020203"/>
              </a:rPr>
              <a:t>LUYỆN TẬP</a:t>
            </a:r>
            <a:endParaRPr kumimoji="0" lang="en-US" sz="5400" b="1" i="0" u="none" strike="noStrike" kern="1200" cap="none" spc="0" normalizeH="0" baseline="0" noProof="0" dirty="0">
              <a:ln w="22225">
                <a:solidFill>
                  <a:srgbClr val="DE478E"/>
                </a:solidFill>
                <a:prstDash val="solid"/>
              </a:ln>
              <a:solidFill>
                <a:srgbClr val="DE478E">
                  <a:lumMod val="40000"/>
                  <a:lumOff val="60000"/>
                </a:srgbClr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0" name="Picture 4" descr="question mark what Sticker by Aminal Stickers">
            <a:extLst>
              <a:ext uri="{FF2B5EF4-FFF2-40B4-BE49-F238E27FC236}">
                <a16:creationId xmlns="" xmlns:a16="http://schemas.microsoft.com/office/drawing/2014/main" id="{FC884C4A-AAE2-46BE-9717-19C06135CA04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605" y="3577406"/>
            <a:ext cx="2007316" cy="2007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peech Bubble: Oval 5">
            <a:extLst>
              <a:ext uri="{FF2B5EF4-FFF2-40B4-BE49-F238E27FC236}">
                <a16:creationId xmlns="" xmlns:a16="http://schemas.microsoft.com/office/drawing/2014/main" id="{33A47BC8-E9FC-48FE-8A5E-B65990E9900F}"/>
              </a:ext>
            </a:extLst>
          </p:cNvPr>
          <p:cNvSpPr/>
          <p:nvPr/>
        </p:nvSpPr>
        <p:spPr>
          <a:xfrm>
            <a:off x="7429921" y="1644650"/>
            <a:ext cx="5285415" cy="3115609"/>
          </a:xfrm>
          <a:prstGeom prst="wedgeEllipseCallout">
            <a:avLst>
              <a:gd name="adj1" fmla="val -63524"/>
              <a:gd name="adj2" fmla="val 657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</a:rPr>
              <a:t>Chia </a:t>
            </a:r>
            <a:r>
              <a:rPr lang="en-US" sz="2400" b="1" dirty="0" err="1">
                <a:solidFill>
                  <a:prstClr val="white"/>
                </a:solidFill>
              </a:rPr>
              <a:t>lớp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thành</a:t>
            </a:r>
            <a:r>
              <a:rPr lang="en-US" sz="2400" b="1" dirty="0">
                <a:solidFill>
                  <a:prstClr val="white"/>
                </a:solidFill>
              </a:rPr>
              <a:t> 4 </a:t>
            </a:r>
            <a:r>
              <a:rPr lang="en-US" sz="2400" b="1" dirty="0" err="1">
                <a:solidFill>
                  <a:prstClr val="white"/>
                </a:solidFill>
              </a:rPr>
              <a:t>nhóm</a:t>
            </a:r>
            <a:r>
              <a:rPr lang="en-US" sz="2400" b="1" dirty="0">
                <a:solidFill>
                  <a:prstClr val="white"/>
                </a:solidFill>
              </a:rPr>
              <a:t>; </a:t>
            </a:r>
            <a:r>
              <a:rPr lang="en-US" sz="2400" b="1" dirty="0" err="1">
                <a:solidFill>
                  <a:prstClr val="white"/>
                </a:solidFill>
              </a:rPr>
              <a:t>nhóm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nào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giơ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tay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nhanh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nhất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thì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được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quyền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>
                <a:solidFill>
                  <a:prstClr val="white"/>
                </a:solidFill>
              </a:rPr>
              <a:t>trả</a:t>
            </a:r>
            <a:r>
              <a:rPr lang="en-US" sz="2400" b="1" dirty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lời</a:t>
            </a:r>
            <a:r>
              <a:rPr lang="en-US" sz="2400" b="1" dirty="0" smtClean="0">
                <a:solidFill>
                  <a:prstClr val="white"/>
                </a:solidFill>
              </a:rPr>
              <a:t>; </a:t>
            </a:r>
            <a:r>
              <a:rPr lang="en-US" sz="2400" b="1" dirty="0" err="1" smtClean="0">
                <a:solidFill>
                  <a:prstClr val="white"/>
                </a:solidFill>
              </a:rPr>
              <a:t>mỗi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câu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trả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lời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đúng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được</a:t>
            </a:r>
            <a:r>
              <a:rPr lang="en-US" sz="2400" b="1" dirty="0" smtClean="0">
                <a:solidFill>
                  <a:prstClr val="white"/>
                </a:solidFill>
              </a:rPr>
              <a:t> 10đ. </a:t>
            </a:r>
            <a:r>
              <a:rPr lang="en-US" sz="2400" b="1" dirty="0" err="1" smtClean="0">
                <a:solidFill>
                  <a:prstClr val="white"/>
                </a:solidFill>
              </a:rPr>
              <a:t>Nếu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trả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lời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sai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thì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nhóm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khác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tiếp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tục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được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quyền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trả</a:t>
            </a:r>
            <a:r>
              <a:rPr lang="en-US" sz="2400" b="1" dirty="0" smtClean="0">
                <a:solidFill>
                  <a:prstClr val="white"/>
                </a:solidFill>
              </a:rPr>
              <a:t> </a:t>
            </a:r>
            <a:r>
              <a:rPr lang="en-US" sz="2400" b="1" dirty="0" err="1" smtClean="0">
                <a:solidFill>
                  <a:prstClr val="white"/>
                </a:solidFill>
              </a:rPr>
              <a:t>lời</a:t>
            </a:r>
            <a:r>
              <a:rPr lang="en-US" sz="2400" b="1" dirty="0" smtClean="0">
                <a:solidFill>
                  <a:prstClr val="whit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562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500"/>
                            </p:stCondLst>
                            <p:childTnLst>
                              <p:par>
                                <p:cTn id="24" presetID="6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2950" y="782092"/>
            <a:ext cx="1076324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1.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tia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ngoài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B.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vững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bị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đổi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gây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bởi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tác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ngoài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tia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D.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Hóa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tia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1000125" y="1260101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211917" y="5644630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HOẠT ĐỘNG LUYỆN TẬP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2950" y="4655151"/>
            <a:ext cx="107632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42950" y="4339983"/>
            <a:ext cx="1063662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2.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tuân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B.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tuân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luật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bảo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không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D.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loại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85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animBg="1"/>
      <p:bldP spid="10" grpId="0" animBg="1"/>
      <p:bldP spid="11" grpId="0" animBg="1"/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14374" y="2947147"/>
            <a:ext cx="107632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 smtClean="0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A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.                         .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   B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    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C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.                    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    D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376082" y="2515024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6041650" y="5346748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HOẠT ĐỘNG LUYỆN TẬP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5694219"/>
              </p:ext>
            </p:extLst>
          </p:nvPr>
        </p:nvGraphicFramePr>
        <p:xfrm>
          <a:off x="1746437" y="3413581"/>
          <a:ext cx="2251821" cy="44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7" name="Equation" r:id="rId3" imgW="1257300" imgH="241300" progId="Equation.DSMT4">
                  <p:embed/>
                </p:oleObj>
              </mc:Choice>
              <mc:Fallback>
                <p:oleObj name="Equation" r:id="rId3" imgW="12573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437" y="3413581"/>
                        <a:ext cx="2251821" cy="445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2480998"/>
              </p:ext>
            </p:extLst>
          </p:nvPr>
        </p:nvGraphicFramePr>
        <p:xfrm>
          <a:off x="6279778" y="3413581"/>
          <a:ext cx="3146612" cy="421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8" name="Equation" r:id="rId5" imgW="1511300" imgH="241300" progId="Equation.DSMT4">
                  <p:embed/>
                </p:oleObj>
              </mc:Choice>
              <mc:Fallback>
                <p:oleObj name="Equation" r:id="rId5" imgW="1511300" imgH="241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9778" y="3413581"/>
                        <a:ext cx="3146612" cy="4213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817974"/>
              </p:ext>
            </p:extLst>
          </p:nvPr>
        </p:nvGraphicFramePr>
        <p:xfrm>
          <a:off x="1734670" y="3832411"/>
          <a:ext cx="2326342" cy="41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39" name="Equation" r:id="rId7" imgW="1257300" imgH="241300" progId="Equation.DSMT4">
                  <p:embed/>
                </p:oleObj>
              </mc:Choice>
              <mc:Fallback>
                <p:oleObj name="Equation" r:id="rId7" imgW="12573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4670" y="3832411"/>
                        <a:ext cx="2326342" cy="4168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0859717"/>
              </p:ext>
            </p:extLst>
          </p:nvPr>
        </p:nvGraphicFramePr>
        <p:xfrm>
          <a:off x="6438900" y="3827649"/>
          <a:ext cx="2514599" cy="427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0" name="Equation" r:id="rId9" imgW="1574800" imgH="241300" progId="Equation.DSMT4">
                  <p:embed/>
                </p:oleObj>
              </mc:Choice>
              <mc:Fallback>
                <p:oleObj name="Equation" r:id="rId9" imgW="1574800" imgH="2413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8900" y="3827649"/>
                        <a:ext cx="2514599" cy="427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Oval 13"/>
          <p:cNvSpPr/>
          <p:nvPr/>
        </p:nvSpPr>
        <p:spPr>
          <a:xfrm>
            <a:off x="1223681" y="3474093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291607"/>
              </p:ext>
            </p:extLst>
          </p:nvPr>
        </p:nvGraphicFramePr>
        <p:xfrm>
          <a:off x="2084292" y="5428095"/>
          <a:ext cx="2124637" cy="41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1" name="Equation" r:id="rId11" imgW="1257300" imgH="241300" progId="Equation.DSMT4">
                  <p:embed/>
                </p:oleObj>
              </mc:Choice>
              <mc:Fallback>
                <p:oleObj name="Equation" r:id="rId11" imgW="1257300" imgH="2413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4292" y="5428095"/>
                        <a:ext cx="2124637" cy="4168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206700"/>
              </p:ext>
            </p:extLst>
          </p:nvPr>
        </p:nvGraphicFramePr>
        <p:xfrm>
          <a:off x="2017058" y="4957474"/>
          <a:ext cx="2380130" cy="3899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2" name="Equation" r:id="rId13" imgW="1257300" imgH="241300" progId="Equation.DSMT4">
                  <p:embed/>
                </p:oleObj>
              </mc:Choice>
              <mc:Fallback>
                <p:oleObj name="Equation" r:id="rId13" imgW="1257300" imgH="241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7058" y="4957474"/>
                        <a:ext cx="2380130" cy="3899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074871"/>
              </p:ext>
            </p:extLst>
          </p:nvPr>
        </p:nvGraphicFramePr>
        <p:xfrm>
          <a:off x="6635562" y="4944026"/>
          <a:ext cx="2433917" cy="41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3" name="Equation" r:id="rId14" imgW="1473200" imgH="241300" progId="Equation.DSMT4">
                  <p:embed/>
                </p:oleObj>
              </mc:Choice>
              <mc:Fallback>
                <p:oleObj name="Equation" r:id="rId14" imgW="1473200" imgH="2413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562" y="4944026"/>
                        <a:ext cx="2433917" cy="4168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822935"/>
              </p:ext>
            </p:extLst>
          </p:nvPr>
        </p:nvGraphicFramePr>
        <p:xfrm>
          <a:off x="6750424" y="5413806"/>
          <a:ext cx="2460812" cy="431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4" name="Equation" r:id="rId16" imgW="1409088" imgH="241195" progId="Equation.DSMT4">
                  <p:embed/>
                </p:oleObj>
              </mc:Choice>
              <mc:Fallback>
                <p:oleObj name="Equation" r:id="rId16" imgW="1409088" imgH="24119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424" y="5413806"/>
                        <a:ext cx="2460812" cy="4311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981634" y="735854"/>
            <a:ext cx="931881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3.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α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helium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(    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B.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β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–1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0.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Tia γ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dòng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photon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cao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D.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α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tích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dấu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1633" y="4459959"/>
            <a:ext cx="953844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5.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A.                       	                     B.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	C. 	                                                D.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Rectangle 218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607926"/>
              </p:ext>
            </p:extLst>
          </p:nvPr>
        </p:nvGraphicFramePr>
        <p:xfrm>
          <a:off x="7133107" y="1247919"/>
          <a:ext cx="65274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" name="Equation" r:id="rId18" imgW="291973" imgH="241195" progId="Equation.DSMT4">
                  <p:embed/>
                </p:oleObj>
              </mc:Choice>
              <mc:Fallback>
                <p:oleObj name="Equation" r:id="rId18" imgW="291973" imgH="241195" progId="Equation.DSMT4">
                  <p:embed/>
                  <p:pic>
                    <p:nvPicPr>
                      <p:cNvPr id="0" name="Object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3107" y="1247919"/>
                        <a:ext cx="652740" cy="433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95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 animBg="1"/>
      <p:bldP spid="23" grpId="0" build="allAtOnce"/>
      <p:bldP spid="2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1557617" y="2156940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520077" y="5512453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HOẠT ĐỘNG LUYỆN TẬP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18906" y="1022900"/>
            <a:ext cx="100018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6.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hai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(1) .	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     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2) .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(1)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B.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(2)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xảy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kèm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(1)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(2)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D.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(2)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615383"/>
              </p:ext>
            </p:extLst>
          </p:nvPr>
        </p:nvGraphicFramePr>
        <p:xfrm>
          <a:off x="1882587" y="1425388"/>
          <a:ext cx="2729754" cy="416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7" name="Equation" r:id="rId3" imgW="1651000" imgH="241300" progId="Equation.DSMT4">
                  <p:embed/>
                </p:oleObj>
              </mc:Choice>
              <mc:Fallback>
                <p:oleObj name="Equation" r:id="rId3" imgW="16510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2587" y="1425388"/>
                        <a:ext cx="2729754" cy="4168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7903168"/>
              </p:ext>
            </p:extLst>
          </p:nvPr>
        </p:nvGraphicFramePr>
        <p:xfrm>
          <a:off x="7252447" y="1385046"/>
          <a:ext cx="1743635" cy="336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8" name="Equation" r:id="rId5" imgW="1002865" imgH="241195" progId="Equation.DSMT4">
                  <p:embed/>
                </p:oleObj>
              </mc:Choice>
              <mc:Fallback>
                <p:oleObj name="Equation" r:id="rId5" imgW="1002865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2447" y="1385046"/>
                        <a:ext cx="1743635" cy="3361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1101818" y="3720663"/>
            <a:ext cx="969252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7.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sai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carbon-14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cổ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vật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B.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uranium-238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dùng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định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gian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mẫu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D.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từ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nguồn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năng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hiệu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95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2" grpId="0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3036793" y="1566922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5285254" y="3320890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HOẠT ĐỘNG LUYỆN TẬP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947176" y="782092"/>
            <a:ext cx="100018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8.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                              . X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A.                         B.                         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D.              </a:t>
            </a:r>
            <a:r>
              <a:rPr lang="en-US" sz="2400" dirty="0"/>
              <a:t>.</a:t>
            </a:r>
          </a:p>
          <a:p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27555" y="2160805"/>
            <a:ext cx="1025282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9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Neutron.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		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Proton.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Electron.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		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helium.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069480"/>
              </p:ext>
            </p:extLst>
          </p:nvPr>
        </p:nvGraphicFramePr>
        <p:xfrm>
          <a:off x="5439614" y="890416"/>
          <a:ext cx="2353236" cy="430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8" name="Equation" r:id="rId3" imgW="1117600" imgH="241300" progId="Equation.DSMT4">
                  <p:embed/>
                </p:oleObj>
              </mc:Choice>
              <mc:Fallback>
                <p:oleObj name="Equation" r:id="rId3" imgW="11176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614" y="890416"/>
                        <a:ext cx="2353236" cy="43038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642208"/>
              </p:ext>
            </p:extLst>
          </p:nvPr>
        </p:nvGraphicFramePr>
        <p:xfrm>
          <a:off x="1520077" y="1545438"/>
          <a:ext cx="658907" cy="457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19" name="Equation" r:id="rId5" imgW="291973" imgH="241195" progId="Equation.DSMT4">
                  <p:embed/>
                </p:oleObj>
              </mc:Choice>
              <mc:Fallback>
                <p:oleObj name="Equation" r:id="rId5" imgW="291973" imgH="241195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0077" y="1545438"/>
                        <a:ext cx="658907" cy="4572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0" y="228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r>
              <a:rPr kumimoji="0" lang="en-US" sz="11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78169"/>
              </p:ext>
            </p:extLst>
          </p:nvPr>
        </p:nvGraphicFramePr>
        <p:xfrm>
          <a:off x="3711388" y="1419460"/>
          <a:ext cx="632011" cy="55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0" name="Equation" r:id="rId7" imgW="215713" imgH="241091" progId="Equation.DSMT4">
                  <p:embed/>
                </p:oleObj>
              </mc:Choice>
              <mc:Fallback>
                <p:oleObj name="Equation" r:id="rId7" imgW="215713" imgH="24109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1388" y="1419460"/>
                        <a:ext cx="632011" cy="5521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4447734"/>
              </p:ext>
            </p:extLst>
          </p:nvPr>
        </p:nvGraphicFramePr>
        <p:xfrm>
          <a:off x="6389592" y="1411942"/>
          <a:ext cx="670114" cy="578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1" name="Equation" r:id="rId9" imgW="190417" imgH="241195" progId="Equation.DSMT4">
                  <p:embed/>
                </p:oleObj>
              </mc:Choice>
              <mc:Fallback>
                <p:oleObj name="Equation" r:id="rId9" imgW="190417" imgH="241195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9592" y="1411942"/>
                        <a:ext cx="670114" cy="5782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16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841715"/>
              </p:ext>
            </p:extLst>
          </p:nvPr>
        </p:nvGraphicFramePr>
        <p:xfrm>
          <a:off x="8310284" y="1506750"/>
          <a:ext cx="623046" cy="545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2" name="Equation" r:id="rId11" imgW="177646" imgH="241091" progId="Equation.DSMT4">
                  <p:embed/>
                </p:oleObj>
              </mc:Choice>
              <mc:Fallback>
                <p:oleObj name="Equation" r:id="rId11" imgW="177646" imgH="241091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284" y="1506750"/>
                        <a:ext cx="623046" cy="5459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5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9530447"/>
              </p:ext>
            </p:extLst>
          </p:nvPr>
        </p:nvGraphicFramePr>
        <p:xfrm>
          <a:off x="5948082" y="2160805"/>
          <a:ext cx="564778" cy="470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3" name="Equation" r:id="rId13" imgW="380835" imgH="241195" progId="Equation.DSMT4">
                  <p:embed/>
                </p:oleObj>
              </mc:Choice>
              <mc:Fallback>
                <p:oleObj name="Equation" r:id="rId13" imgW="380835" imgH="241195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082" y="2160805"/>
                        <a:ext cx="564778" cy="4706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3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0611256"/>
              </p:ext>
            </p:extLst>
          </p:nvPr>
        </p:nvGraphicFramePr>
        <p:xfrm>
          <a:off x="8417858" y="2146517"/>
          <a:ext cx="591671" cy="46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4" name="Equation" r:id="rId15" imgW="380835" imgH="241195" progId="Equation.DSMT4">
                  <p:embed/>
                </p:oleObj>
              </mc:Choice>
              <mc:Fallback>
                <p:oleObj name="Equation" r:id="rId15" imgW="380835" imgH="241195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7858" y="2146517"/>
                        <a:ext cx="591671" cy="4661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56"/>
          <p:cNvSpPr>
            <a:spLocks noChangeArrowheads="1"/>
          </p:cNvSpPr>
          <p:nvPr/>
        </p:nvSpPr>
        <p:spPr bwMode="auto">
          <a:xfrm>
            <a:off x="947175" y="3966465"/>
            <a:ext cx="9835125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10.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             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Chlorine (Z=17).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Argon (Z=18).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C.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Bromine (Z=35).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huỳnh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(Z=16).</a:t>
            </a:r>
          </a:p>
        </p:txBody>
      </p:sp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0660827"/>
              </p:ext>
            </p:extLst>
          </p:nvPr>
        </p:nvGraphicFramePr>
        <p:xfrm>
          <a:off x="5542429" y="3966465"/>
          <a:ext cx="1836832" cy="417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25" name="Equation" r:id="rId17" imgW="1040948" imgH="241195" progId="Equation.DSMT4">
                  <p:embed/>
                </p:oleObj>
              </mc:Choice>
              <mc:Fallback>
                <p:oleObj name="Equation" r:id="rId17" imgW="1040948" imgH="241195" progId="Equation.DSMT4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2429" y="3966465"/>
                        <a:ext cx="1836832" cy="41760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Oval 28"/>
          <p:cNvSpPr/>
          <p:nvPr/>
        </p:nvSpPr>
        <p:spPr>
          <a:xfrm>
            <a:off x="5439614" y="4751295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37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2" grpId="0"/>
      <p:bldP spid="9" grpId="0"/>
      <p:bldP spid="9" grpId="1"/>
      <p:bldP spid="37" grpId="0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1255992" y="3084293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8474167" y="6213206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HOẠT ĐỘNG LUYỆN TẬP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206500" y="1185544"/>
            <a:ext cx="9918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11.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Cho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                           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A.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khối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X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62</a:t>
            </a:r>
            <a:r>
              <a:rPr lang="en-US" sz="2400" dirty="0" smtClean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         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B.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Điện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tích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hạt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nhân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của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X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27.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C.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Phản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ứng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trên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phản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ứng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nhiệt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hạch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tabLst>
                <a:tab pos="179388" algn="l"/>
              </a:tabLst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D.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Số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hạt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neutron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trong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hạt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nhân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X </a:t>
            </a:r>
            <a:r>
              <a:rPr lang="en-US" sz="2400" dirty="0" err="1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là</a:t>
            </a: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34.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381956"/>
              </p:ext>
            </p:extLst>
          </p:nvPr>
        </p:nvGraphicFramePr>
        <p:xfrm>
          <a:off x="5948081" y="1185544"/>
          <a:ext cx="1930400" cy="469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6" name="Equation" r:id="rId3" imgW="1054100" imgH="241300" progId="Equation.DSMT4">
                  <p:embed/>
                </p:oleObj>
              </mc:Choice>
              <mc:Fallback>
                <p:oleObj name="Equation" r:id="rId3" imgW="10541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8081" y="1185544"/>
                        <a:ext cx="1930400" cy="4691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994217"/>
              </p:ext>
            </p:extLst>
          </p:nvPr>
        </p:nvGraphicFramePr>
        <p:xfrm>
          <a:off x="9053232" y="3610957"/>
          <a:ext cx="2933700" cy="4654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67" name="Equation" r:id="rId5" imgW="1816100" imgH="241300" progId="Equation.DSMT4">
                  <p:embed/>
                </p:oleObj>
              </mc:Choice>
              <mc:Fallback>
                <p:oleObj name="Equation" r:id="rId5" imgW="1816100" imgH="2413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3232" y="3610957"/>
                        <a:ext cx="2933700" cy="46540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255992" y="3610957"/>
            <a:ext cx="10440708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Câu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12.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Cho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các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phát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biểu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dưới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đây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về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phản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ứng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hạt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nhân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sau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(2) X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(3)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cơ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181.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neutron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81.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(5)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mang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X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50.</a:t>
            </a:r>
          </a:p>
          <a:p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đúng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		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			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18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444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/>
          <p:cNvSpPr/>
          <p:nvPr/>
        </p:nvSpPr>
        <p:spPr>
          <a:xfrm>
            <a:off x="2919131" y="2301163"/>
            <a:ext cx="514351" cy="4095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HOẠT ĐỘNG LUYỆN TẬP</a:t>
            </a:r>
            <a:endParaRPr 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136650" y="1141078"/>
            <a:ext cx="99187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15.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tạo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bền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 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giải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α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β.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α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β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quá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lần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A.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8; 6.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B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. 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6; 4.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    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6; 8.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            D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8; 4.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255992" y="5088284"/>
            <a:ext cx="1044070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18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892114"/>
              </p:ext>
            </p:extLst>
          </p:nvPr>
        </p:nvGraphicFramePr>
        <p:xfrm>
          <a:off x="4356848" y="1141078"/>
          <a:ext cx="712694" cy="4424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8" name="Equation" r:id="rId3" imgW="368300" imgH="241300" progId="Equation.DSMT4">
                  <p:embed/>
                </p:oleObj>
              </mc:Choice>
              <mc:Fallback>
                <p:oleObj name="Equation" r:id="rId3" imgW="368300" imgH="2413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848" y="1141078"/>
                        <a:ext cx="712694" cy="4424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0750635"/>
              </p:ext>
            </p:extLst>
          </p:nvPr>
        </p:nvGraphicFramePr>
        <p:xfrm>
          <a:off x="7417639" y="1141078"/>
          <a:ext cx="771619" cy="470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89" name="Equation" r:id="rId5" imgW="355446" imgH="241195" progId="Equation.DSMT4">
                  <p:embed/>
                </p:oleObj>
              </mc:Choice>
              <mc:Fallback>
                <p:oleObj name="Equation" r:id="rId5" imgW="355446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7639" y="1141078"/>
                        <a:ext cx="771619" cy="4706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010403"/>
              </p:ext>
            </p:extLst>
          </p:nvPr>
        </p:nvGraphicFramePr>
        <p:xfrm>
          <a:off x="9483912" y="1589648"/>
          <a:ext cx="79375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0" name="Equation" r:id="rId7" imgW="368300" imgH="241300" progId="Equation.DSMT4">
                  <p:embed/>
                </p:oleObj>
              </mc:Choice>
              <mc:Fallback>
                <p:oleObj name="Equation" r:id="rId7" imgW="368300" imgH="241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3912" y="1589648"/>
                        <a:ext cx="79375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882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tòi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rộng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255992" y="5088284"/>
            <a:ext cx="1044070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18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376082" y="826170"/>
            <a:ext cx="10134600" cy="51891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PHIẾU HỌC TẬP SỐ 6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Nam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theo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hiểu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trả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lời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câu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hỏi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dưới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u="sng" dirty="0">
                <a:latin typeface="Times New Roman" pitchFamily="18" charset="0"/>
                <a:cs typeface="Times New Roman" pitchFamily="18" charset="0"/>
                <a:hlinkClick r:id="rId2"/>
              </a:rPr>
              <a:t>https://vietnamnet.vn/nhung-dieu-chua-biet-ve-lo-hat-nhan-da-lat-86255.html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Hình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8.1.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Lạt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Hình ảnh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082" y="2748226"/>
            <a:ext cx="45720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4564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tòi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rộng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255992" y="5088284"/>
            <a:ext cx="1044070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18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55992" y="1054770"/>
            <a:ext cx="10134600" cy="476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1) Ở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Nam,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mấy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đang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động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chính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nào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nhẹ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nặng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kê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những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uranium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tồn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tự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uranium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kiểm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soát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chặt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chẽ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thế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algn="just">
              <a:lnSpc>
                <a:spcPct val="115000"/>
              </a:lnSpc>
              <a:spcAft>
                <a:spcPts val="0"/>
              </a:spcAft>
              <a:tabLst>
                <a:tab pos="180340" algn="l"/>
              </a:tabLst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5)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Dựa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đoạn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tin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sau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trích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bài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báo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hãy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viết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phương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nhắc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“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U-238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thanh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liệu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bắt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neutron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chậm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trở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U-239,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lượt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U-239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tiếp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β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thành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mới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một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khác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tố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Plutonium,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Pu-239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”.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02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35C3E750-48AB-47B8-A55C-67C1CBF42DD9}"/>
              </a:ext>
            </a:extLst>
          </p:cNvPr>
          <p:cNvSpPr/>
          <p:nvPr/>
        </p:nvSpPr>
        <p:spPr>
          <a:xfrm>
            <a:off x="1376082" y="142012"/>
            <a:ext cx="9144000" cy="64008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err="1" smtClean="0">
                <a:latin typeface="Times New Roman" pitchFamily="18" charset="0"/>
                <a:cs typeface="Times New Roman" pitchFamily="18" charset="0"/>
              </a:rPr>
              <a:t>Vận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tìm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tòi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mở</a:t>
            </a:r>
            <a:r>
              <a:rPr lang="en-US" sz="3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b="1" dirty="0" err="1">
                <a:latin typeface="Times New Roman" pitchFamily="18" charset="0"/>
                <a:cs typeface="Times New Roman" pitchFamily="18" charset="0"/>
              </a:rPr>
              <a:t>rộng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255992" y="5088284"/>
            <a:ext cx="10440708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300" b="0" i="0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endParaRPr kumimoji="0" lang="en-US" sz="1800" b="0" i="0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255992" y="1054770"/>
            <a:ext cx="1013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TRẢ LỜI PHIẾU HỌC TẬP SỐ 6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1. Ở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Nam,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hiện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01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lò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ở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5992" y="1901089"/>
            <a:ext cx="1013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cứu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về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phản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ứng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trong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y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học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dược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chất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phóng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xạ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công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nghiệp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,…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toàn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mục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đích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hòa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bình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55992" y="2732086"/>
            <a:ext cx="1013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nhẹ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thông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thường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protium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H-1,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nặng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chứa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đồng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vị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deuterium H-2.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Điều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này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dẫn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tới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khối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lượng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phân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của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nhẹ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chỉ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gần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18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amu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còn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nước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nặng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gần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bằng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20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amu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55992" y="3945893"/>
            <a:ext cx="1013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dirty="0" smtClean="0"/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Chủ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yếu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U-235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U-238.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Vì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việc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giàu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uranium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có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thể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sử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dụng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bom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nguyên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tử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thiệt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hại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chiến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tranh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hạt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nhân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gây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là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khổng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lồ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6082" y="5093576"/>
            <a:ext cx="10134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en-US" sz="2400" dirty="0" smtClean="0"/>
              <a:t> 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phương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phản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</a:t>
            </a:r>
            <a:r>
              <a:rPr lang="en-US" sz="2400" dirty="0" err="1"/>
              <a:t>sau</a:t>
            </a:r>
            <a:r>
              <a:rPr lang="en-US" sz="2400" dirty="0"/>
              <a:t>:</a:t>
            </a:r>
          </a:p>
          <a:p>
            <a:r>
              <a:rPr lang="en-US" sz="2400" dirty="0"/>
              <a:t>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485494"/>
              </p:ext>
            </p:extLst>
          </p:nvPr>
        </p:nvGraphicFramePr>
        <p:xfrm>
          <a:off x="1819834" y="5688106"/>
          <a:ext cx="4128248" cy="766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0" name="Equation" r:id="rId3" imgW="1574800" imgH="482600" progId="Equation.DSMT4">
                  <p:embed/>
                </p:oleObj>
              </mc:Choice>
              <mc:Fallback>
                <p:oleObj name="Equation" r:id="rId3" imgW="1574800" imgH="482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9834" y="5688106"/>
                        <a:ext cx="4128248" cy="76648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0772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" grpId="0"/>
      <p:bldP spid="13" grpId="0"/>
      <p:bldP spid="14" grpId="0"/>
      <p:bldP spid="1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24487" y="1271750"/>
            <a:ext cx="10124660" cy="192052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BÀI TẬP VỀ NHÀ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  <a:tabLst>
                <a:tab pos="180340" algn="l"/>
                <a:tab pos="540385" algn="l"/>
              </a:tabLst>
            </a:pPr>
            <a:r>
              <a:rPr lang="en-US" sz="3600" noProof="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ÔN TẬP LẠI KIẾN THỨC, BÀI TẬP TRONG ĐỀ CƯƠNG</a:t>
            </a:r>
            <a:endParaRPr kumimoji="0" lang="vi-VN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3B2EB90-BDBE-6C31-1539-D1BB12F2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674BA-2DE0-4D90-8561-25BA31F62F1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17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WordArt 2" descr="Narrow vertical"/>
          <p:cNvSpPr>
            <a:spLocks noChangeArrowheads="1" noChangeShapeType="1" noTextEdit="1"/>
          </p:cNvSpPr>
          <p:nvPr/>
        </p:nvSpPr>
        <p:spPr bwMode="auto">
          <a:xfrm>
            <a:off x="101600" y="-228600"/>
            <a:ext cx="11252200" cy="1600200"/>
          </a:xfrm>
          <a:prstGeom prst="rect">
            <a:avLst/>
          </a:prstGeom>
        </p:spPr>
        <p:txBody>
          <a:bodyPr wrap="none" fromWordArt="1">
            <a:prstTxWarp prst="textCurveUp">
              <a:avLst>
                <a:gd name="adj" fmla="val 40356"/>
              </a:avLst>
            </a:prstTxWarp>
          </a:bodyPr>
          <a:lstStyle/>
          <a:p>
            <a:pPr algn="ctr"/>
            <a:r>
              <a:rPr lang="vi-VN" sz="3600" kern="10"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rial"/>
                <a:cs typeface="Arial"/>
              </a:rPr>
              <a:t>Tiết học chúng ta đến đây kết thúc</a:t>
            </a:r>
            <a:endParaRPr lang="en-US" sz="3600" kern="10">
              <a:ln w="12700">
                <a:solidFill>
                  <a:srgbClr val="000000"/>
                </a:solidFill>
                <a:round/>
                <a:headEnd/>
                <a:tailEnd/>
              </a:ln>
              <a:pattFill prst="dashHorz">
                <a:fgClr>
                  <a:srgbClr val="808080"/>
                </a:fgClr>
                <a:bgClr>
                  <a:srgbClr val="FFFF00"/>
                </a:bgClr>
              </a:pattFill>
              <a:effectLst>
                <a:outerShdw dist="45791" dir="2021404" algn="ctr" rotWithShape="0">
                  <a:srgbClr val="808080">
                    <a:alpha val="79999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64515" name="WordArt 3"/>
          <p:cNvSpPr>
            <a:spLocks noChangeArrowheads="1" noChangeShapeType="1" noTextEdit="1"/>
          </p:cNvSpPr>
          <p:nvPr/>
        </p:nvSpPr>
        <p:spPr bwMode="auto">
          <a:xfrm>
            <a:off x="203200" y="1371600"/>
            <a:ext cx="117856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"/>
                <a:cs typeface="Arial"/>
              </a:rPr>
              <a:t>Chúc các thầy cô giáo mạnh khỏe</a:t>
            </a:r>
            <a:endParaRPr lang="en-US" sz="3600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"/>
              <a:cs typeface="Arial"/>
            </a:endParaRPr>
          </a:p>
        </p:txBody>
      </p:sp>
      <p:sp>
        <p:nvSpPr>
          <p:cNvPr id="64516" name="WordArt 4"/>
          <p:cNvSpPr>
            <a:spLocks noChangeArrowheads="1" noChangeShapeType="1" noTextEdit="1"/>
          </p:cNvSpPr>
          <p:nvPr/>
        </p:nvSpPr>
        <p:spPr bwMode="auto">
          <a:xfrm>
            <a:off x="1727200" y="2667000"/>
            <a:ext cx="8331200" cy="1295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36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Arial"/>
                <a:cs typeface="Arial"/>
              </a:rPr>
              <a:t>Các em học tập tốt.</a:t>
            </a:r>
            <a:endParaRPr lang="en-US" sz="3600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Arial"/>
              <a:cs typeface="Arial"/>
            </a:endParaRPr>
          </a:p>
        </p:txBody>
      </p:sp>
      <p:pic>
        <p:nvPicPr>
          <p:cNvPr id="64517" name="Picture 5" descr="teacher_kids_waving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581400"/>
            <a:ext cx="85344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8" name="Picture 6" descr="th_Angel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15950" y="2590800"/>
            <a:ext cx="2946401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19" name="Picture 7" descr="th_Angel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410700" y="2590800"/>
            <a:ext cx="30480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0" name="Picture 8" descr="magician_tapping_hat_hg_clr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747987">
            <a:off x="766234" y="5116514"/>
            <a:ext cx="1468967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21" name="Picture 9" descr="magician_waving_wand_hg_clr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18676">
            <a:off x="9093200" y="4886326"/>
            <a:ext cx="1684867" cy="181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89291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5" grpId="0" animBg="1"/>
      <p:bldP spid="64516" grpId="0" animBg="1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roplet" id="{8984A317-299A-4E50-B45D-BFC9EDE2337A}" vid="{DEB094D4-7FD8-4F86-93D5-B0F1341EF58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1791</TotalTime>
  <Words>3037</Words>
  <Application>Microsoft Office PowerPoint</Application>
  <PresentationFormat>Custom</PresentationFormat>
  <Paragraphs>313</Paragraphs>
  <Slides>31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Gallery</vt:lpstr>
      <vt:lpstr>Droplet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TV_STEM</Manager>
  <Company>TV_STEM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TV_STEM</dc:title>
  <dc:subject>TV_STEM</dc:subject>
  <dc:creator>TV_STEM</dc:creator>
  <cp:keywords>TV_STEM</cp:keywords>
  <dc:description>TV_STEM</dc:description>
  <cp:lastModifiedBy>ismail - [2010]</cp:lastModifiedBy>
  <cp:revision>247</cp:revision>
  <cp:lastPrinted>2021-03-30T12:38:47Z</cp:lastPrinted>
  <dcterms:created xsi:type="dcterms:W3CDTF">2021-03-28T06:31:44Z</dcterms:created>
  <dcterms:modified xsi:type="dcterms:W3CDTF">2022-09-14T03:31:46Z</dcterms:modified>
  <cp:category>TV_STEM</cp:category>
</cp:coreProperties>
</file>